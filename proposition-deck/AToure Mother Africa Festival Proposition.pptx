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21b68c1-5b4a-bd0c-ca97-356339d7c2ab}">
          <p14:sldIdLst>
            <p14:sldId id="256"/>
          </p14:sldIdLst>
        </p14:section>
        <p14:section name="Où en est le festival" id="{17af34d1-8217-3b1f-3151-3501175e82d4}">
          <p14:sldIdLst>
            <p14:sldId id="257"/>
            <p14:sldId id="258"/>
          </p14:sldIdLst>
        </p14:section>
        <p14:section name="La réponse AToure" id="{1bf574f5-c8cb-1163-0005-ff36fd896088}">
          <p14:sldIdLst>
            <p14:sldId id="259"/>
            <p14:sldId id="260"/>
          </p14:sldIdLst>
        </p14:section>
        <p14:section name="Visibilité" id="{9d0abc83-5e36-5bba-aadf-43bf07e0beb5}">
          <p14:sldIdLst>
            <p14:sldId id="261"/>
            <p14:sldId id="262"/>
          </p14:sldIdLst>
        </p14:section>
        <p14:section name="Le rapport de visibilité" id="{c8898bf5-8182-9361-e22d-50f4ef1a7508}">
          <p14:sldIdLst>
            <p14:sldId id="263"/>
          </p14:sldIdLst>
        </p14:section>
        <p14:section name="La proposition" id="{5b8b42f8-08ed-3c53-6c4b-21a41cab6018}">
          <p14:sldIdLst>
            <p14:sldId id="264"/>
          </p14:sldIdLst>
        </p14:section>
        <p14:section name="Références" id="{098d596c-659e-8bec-1d76-12bada8525d5}">
          <p14:sldIdLst>
            <p14:sldId id="265"/>
          </p14:sldIdLst>
        </p14:section>
        <p14:section name="La demande" id="{1b334c9e-497f-e0d8-330c-0ab17249245f}">
          <p14:sldIdLst>
            <p14:sldId id="266"/>
          </p14:sldIdLst>
        </p14:section>
        <p14:section name="Annexe" id="{3a9ebee9-b1a9-8cbc-a860-f452a8189297}">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Remerciez l’équipe de Mother Africa pour son temps. Cette proposition porte sur une seule chose : rendre mesurable la visibilité que les créateurs apportent au festival, pour que le festival puisse la montrer à ses sponsors. Tout ce qui figure sur la diapositive suivante vient des affiches et de la communication du festival : demandez à l’équipe de corriger ce qui serait inexact.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ce qui figure à gauche vient de la presse et des annonces du festival : demandez à l’équipe de corriger ce qui serait inexact. 15 000 et 40 % sont les chiffres rapportés pour la première édition, en décembre 2022. 20 000 est ce que les organisateurs attendent pour la 5e édition, pas un résultat. Le chiffre de plus d’un milliard de FCFA correspond au poids du festival comme instrument de sponsoring. La partie droite décrit ce dont tout festival a besoin dès qu’il vend son audience à des sponsors : à présenter comme l’étape suivante, pas comme une liste de manques. Sources : Africa Radio, Music In Africa, Abidjan.net, Liferadio, France 24, Pulse et allAfrica.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édition anniversaire avec une tête d’affiche de la taille de Davido, c’est le moment où les sponsors regardent le plus : c’est l’année pour commencer à mesurer. Regardez n’importe quelle photo du festival : des téléphones levés partout. Ce contenu existe déjà, mais personne ne le dirige et personne ne le compte. Le modèle de revenus est la chaîne du bas : plus de créateurs apportent plus de visibilité, la visibilité atteint les objectifs des marques, et les objectifs atteints ramènent l’argent des sponsors et des investisseurs pour 2027. AToure fournit les créateurs et la preuve à chaque maillon.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colonnes : ce que le festival apporte, en orange, et ce qu’AToure réalise, en or. La part du festival est volontairement réduite : l’accès pour les créateurs, sa charte de marque et ses messages clés, les liens de billetterie et un contact à la production. Tout le reste revient à AToure : les créateurs, leur gestion sur le terrain en tant qu’opérateur, et le rapport qui rend la visibilité mesurable.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partie que l’équipe du festival n’a jamais à gérer. AToure repère et vérifie, fixe les livrables par écrit, briefe, fait accréditer chaque créateur pour les deux soirs et valide les contenus avant publication. Après le festival, chaque créateur est vérifié par rapport au brief sous 48 heures, et les statistiques sont collectées par enregistrement d’écran. Un seul contact chez AToure, et un suivi partagé que l’équipe peut consulter à tout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visibilité arrive en trois vagues. La montée en puissance dure environ cinq semaines et n’a qu’un objectif : vendre des billets. Les deux soirs du festival visent l’attention en direct, pour que ceux qui ne sont pas là regrettent de ne pas y être. L’après festival garde Mother Africa dans les fils d’actualité jusqu’en janvier et donne aux sponsors du contenu à montrer. Si le festival prévoit une annonce pour 2027, c’est là qu’elle trouve sa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sponsors paient pour de la visibilité, et les créateurs sont l’un des meilleurs moyens de la leur offrir. Les mentions sponsors entrent dans chaque brief, les créateurs sont guidés vers chaque activation et chaque bannière de scène pendant les deux soirs, et chaque partenaire a sa propre page dans le rapport. Le modèle de revenus est la même chaîne que plus haut, vue du côté du sponsor : plus de créateurs apportent plus de visibilité, la visibilité atteint les objectifs des marques, et les objectifs atteints ramènent l’argent des sponsors pour 2027. Toute valeur média est une estimation, présentée comme telle.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dates fixes. Un point hebdomadaire d’une page pendant la montée en puissance, pour concentrer l’effort sur les créateurs qui performent. Un point 48 heures après le festival : qui a publié, où, et selon quel brief. Le rapport complet au 14e jour, le 11 janvier 2027, en PDF pour la direction et les sponsors, avec une version web. La page de droite est un exemple de mise en page : ses chiffres sont fictifs, pour montrer le format, et ne sont pas une prévision pour le festival.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un essai, pas un engagement long. Une édition : AToure gère les créateurs et livre un rapport complet à date fixe. L’essai est ce qui ouvre la discussion sur 2027. Il n’y a volontairement aucun prix sur cette diapositive : le périmètre et les honoraires se fixent une fois que le festival dit oui.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n’est pas une capacité nouvelle. À Abidjan, AToure a monté l’opération IShowSpeed à partir de zéro. Au Maroc, elle a livré la révélation de la mascotte de la CAN avec la CAF et la Fédération Royale Marocaine de Football. La tournée Ashton Hall a couvert cinq pays, gérée de bout en 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Concluez ici. Pour être prêts le 27 décembre, le travail commence le lundi 2 novembre. Quatre étapes : valider le périmètre et les objectifs cette semaine, approuver la sélection de créateurs avant le 13 novembre, créateurs engagés et briefés avant le 20 novembre, premiers contenus en ligne à partir du 23 novembre. N’allez pas plus loin que cette diapositive : laissez la demande faire son effet, et laissez l’équipe de Mother Africa répondre.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2 de l’exemple de rapport, pour montrer le détail derrière les chiffres clés : chaque créateur avec ses posts, vues, interactions et clics billetterie, d’où venait le public, et ce que chaque partenaire a reçu. Les chiffres sont fictifs et correspondent à la page 1 ; ce ne sont pas des prévisions. Le rapport complet liste aussi chaque publication avec son lien et son horaire, et se termine par des recommandations pour l’édition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1000</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6949440" cy="1600200"/>
          </a:xfrm>
          <a:prstGeom prst="rect">
            <a:avLst/>
          </a:prstGeom>
          <a:noFill/>
          <a:ln/>
        </p:spPr>
        <p:txBody>
          <a:bodyPr wrap="square" rtlCol="0"/>
          <a:lstStyle>
            <a:lvl1pPr algn="l" indent="0" marL="0">
              <a:lnSpc>
                <a:spcPct val="95000"/>
              </a:lnSpc>
              <a:buNone/>
              <a:defRPr lang="en-US" sz="5000" dirty="0">
                <a:solidFill>
                  <a:schemeClr val="bg1"/>
                </a:solidFill>
              </a:defRPr>
            </a:lvl1pPr>
          </a:lstStyle>
          <a:p>
            <a:pPr algn="l" indent="0" marL="0">
              <a:lnSpc>
                <a:spcPct val="95000"/>
              </a:lnSpc>
              <a:buNone/>
            </a:pPr>
            <a:endParaRPr lang="en-US" sz="5000" dirty="0"/>
          </a:p>
        </p:txBody>
      </p:sp>
      <p:sp>
        <p:nvSpPr>
          <p:cNvPr id="3" name="Text 0"/>
          <p:cNvSpPr/>
          <p:nvPr>
            <p:ph idx="101" type="body" hasCustomPrompt="1"/>
          </p:nvPr>
        </p:nvSpPr>
        <p:spPr>
          <a:xfrm>
            <a:off x="548640" y="4206240"/>
            <a:ext cx="5760720" cy="1371600"/>
          </a:xfrm>
          <a:prstGeom prst="rect">
            <a:avLst/>
          </a:prstGeom>
          <a:noFill/>
          <a:ln/>
        </p:spPr>
        <p:txBody>
          <a:bodyPr wrap="square" rtlCol="0"/>
          <a:lstStyle>
            <a:lvl1pPr algn="l" indent="0" marL="0">
              <a:lnSpc>
                <a:spcPct val="115000"/>
              </a:lnSpc>
              <a:buNone/>
              <a:defRPr lang="en-US" sz="1600" dirty="0">
                <a:solidFill>
                  <a:schemeClr val="accent5"/>
                </a:solidFill>
              </a:defRPr>
            </a:lvl1pPr>
          </a:lstStyle>
          <a:p>
            <a:pPr algn="l" indent="0" marL="0">
              <a:lnSpc>
                <a:spcPct val="115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rtlCol="0"/>
          <a:lstStyle>
            <a:lvl1pPr algn="l" indent="0" marL="0">
              <a:buNone/>
              <a:defRPr lang="en-US" sz="1100" b="1" spc="300" kern="0" dirty="0">
                <a:solidFill>
                  <a:schemeClr val="accent3"/>
                </a:solidFill>
              </a:defRPr>
            </a:lvl1pPr>
          </a:lstStyle>
          <a:p>
            <a:pPr algn="l" indent="0" marL="0">
              <a:buNone/>
            </a:pPr>
            <a:endParaRPr lang="en-US" sz="1100" dirty="0"/>
          </a:p>
        </p:txBody>
      </p:sp>
      <p:sp>
        <p:nvSpPr>
          <p:cNvPr id="3" name="Text 0"/>
          <p:cNvSpPr/>
          <p:nvPr>
            <p:ph idx="101" type="title" hasCustomPrompt="1"/>
          </p:nvPr>
        </p:nvSpPr>
        <p:spPr>
          <a:xfrm>
            <a:off x="548640" y="676656"/>
            <a:ext cx="11094415" cy="777240"/>
          </a:xfrm>
          <a:prstGeom prst="rect">
            <a:avLst/>
          </a:prstGeom>
          <a:noFill/>
          <a:ln/>
        </p:spPr>
        <p:txBody>
          <a:bodyPr wrap="square" rtlCol="0"/>
          <a:lstStyle>
            <a:lvl1pPr algn="l" indent="0" marL="0">
              <a:buNone/>
              <a:defRPr lang="en-US" sz="3800" dirty="0">
                <a:solidFill>
                  <a:schemeClr val="tx1"/>
                </a:solidFill>
              </a:defRPr>
            </a:lvl1pPr>
          </a:lstStyle>
          <a:p>
            <a:pPr algn="l" indent="0" marL="0">
              <a:buNone/>
            </a:pPr>
            <a:endParaRPr lang="en-US" sz="3800" dirty="0"/>
          </a:p>
        </p:txBody>
      </p:sp>
      <p:sp>
        <p:nvSpPr>
          <p:cNvPr id="4" name="Text 0"/>
          <p:cNvSpPr/>
          <p:nvPr/>
        </p:nvSpPr>
        <p:spPr>
          <a:xfrm>
            <a:off x="548640" y="6437376"/>
            <a:ext cx="8229600" cy="237744"/>
          </a:xfrm>
          <a:prstGeom prst="rect">
            <a:avLst/>
          </a:prstGeom>
          <a:noFill/>
          <a:ln/>
        </p:spPr>
        <p:txBody>
          <a:bodyPr wrap="square" lIns="0" tIns="0" rIns="0" bIns="0" rtlCol="0" anchor="ctr"/>
          <a:lstStyle/>
          <a:p>
            <a:pPr indent="0" marL="0">
              <a:buNone/>
            </a:pPr>
            <a:r>
              <a:rPr lang="en-US" sz="1000" dirty="0">
                <a:solidFill>
                  <a:schemeClr val="tx2"/>
                </a:solidFill>
              </a:rPr>
              <a:t>AToure Management &amp; Consulting</a:t>
            </a:r>
            <a:endParaRPr lang="en-US"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48640" y="676656"/>
            <a:ext cx="11094415" cy="77724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
        <p:nvSpPr>
          <p:cNvPr id="4" name="Text 0"/>
          <p:cNvSpPr/>
          <p:nvPr/>
        </p:nvSpPr>
        <p:spPr>
          <a:xfrm>
            <a:off x="548640" y="6437376"/>
            <a:ext cx="8229600" cy="237744"/>
          </a:xfrm>
          <a:prstGeom prst="rect">
            <a:avLst/>
          </a:prstGeom>
          <a:noFill/>
          <a:ln/>
        </p:spPr>
        <p:txBody>
          <a:bodyPr wrap="square" lIns="0" tIns="0" rIns="0" bIns="0" rtlCol="0" anchor="ctr"/>
          <a:lstStyle/>
          <a:p>
            <a:pPr indent="0" marL="0">
              <a:buNone/>
            </a:pPr>
            <a:r>
              <a:rPr lang="en-US" sz="1000" dirty="0">
                <a:solidFill>
                  <a:schemeClr val="accent4"/>
                </a:solidFill>
              </a:rPr>
              <a:t>AToure Management &amp; Consulting</a:t>
            </a:r>
            <a:endParaRPr lang="en-US"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PLI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715000" y="411480"/>
            <a:ext cx="5928055"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715000" y="676656"/>
            <a:ext cx="5928055" cy="77724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
        <p:nvSpPr>
          <p:cNvPr id="4" name="Text 0"/>
          <p:cNvSpPr/>
          <p:nvPr/>
        </p:nvSpPr>
        <p:spPr>
          <a:xfrm>
            <a:off x="5715000" y="6437376"/>
            <a:ext cx="5287975" cy="237744"/>
          </a:xfrm>
          <a:prstGeom prst="rect">
            <a:avLst/>
          </a:prstGeom>
          <a:noFill/>
          <a:ln/>
        </p:spPr>
        <p:txBody>
          <a:bodyPr wrap="square" lIns="0" tIns="0" rIns="0" bIns="0" rtlCol="0" anchor="ctr"/>
          <a:lstStyle/>
          <a:p>
            <a:pPr indent="0" marL="0">
              <a:buNone/>
            </a:pPr>
            <a:r>
              <a:rPr lang="en-US" sz="1000" dirty="0">
                <a:solidFill>
                  <a:schemeClr val="accent4"/>
                </a:solidFill>
              </a:rPr>
              <a:t>AToure Management &amp; Consulting</a:t>
            </a:r>
            <a:endParaRPr lang="en-US"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257800"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48640" y="676656"/>
            <a:ext cx="5257800" cy="118872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HOTO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48640" y="676656"/>
            <a:ext cx="11094415" cy="77724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3749040"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48640" y="676656"/>
            <a:ext cx="3749040" cy="132588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6" Type="http://schemas.openxmlformats.org/officeDocument/2006/relationships/slide" Target="slide12.xml"/><Relationship Id="rId8" Type="http://schemas.openxmlformats.org/officeDocument/2006/relationships/slide" Target="slide12.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7" Type="http://schemas.openxmlformats.org/officeDocument/2006/relationships/image" Target="../media/image-8-2.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png"/><Relationship Id="rId4" Type="http://schemas.openxmlformats.org/officeDocument/2006/relationships/slideLayout" Target="../slideLayouts/slideLayout6.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slide" Target="slide8.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8362372" y="1472184"/>
            <a:ext cx="3134380" cy="4206240"/>
          </a:xfrm>
          <a:prstGeom prst="rect">
            <a:avLst/>
          </a:prstGeom>
          <a:ln w="15875">
            <a:solidFill>
              <a:schemeClr val="accent1"/>
            </a:solidFill>
            <a:prstDash val="solid"/>
          </a:ln>
        </p:spPr>
      </p:sp>
      <p:pic>
        <p:nvPicPr>
          <p:cNvPr id="4" name="Photo poster2026" descr="Affiche Mother Africa Festival 2026 : Davido, 27 et 28 décembre, Marcory Zone 4, Abidjan, 5e édition anniversaire">    </p:cNvPr>
          <p:cNvPicPr>
            <a:picLocks noChangeAspect="1"/>
          </p:cNvPicPr>
          <p:nvPr/>
        </p:nvPicPr>
        <p:blipFill>
          <a:blip r:embed="rId2"/>
          <a:stretch>
            <a:fillRect/>
          </a:stretch>
        </p:blipFill>
        <p:spPr>
          <a:xfrm>
            <a:off x="8508676" y="1325880"/>
            <a:ext cx="3134380" cy="4206240"/>
          </a:xfrm>
          <a:prstGeom prst="rect">
            <a:avLst/>
          </a:prstGeom>
        </p:spPr>
      </p:pic>
      <p:sp>
        <p:nvSpPr>
          <p:cNvPr id="5" name="Text 0"/>
          <p:cNvSpPr/>
          <p:nvPr>
            <p:ph idx="100" type="title" hasCustomPrompt="1"/>
          </p:nvPr>
        </p:nvSpPr>
        <p:spPr>
          <a:xfrm>
            <a:off x="548640" y="2377440"/>
            <a:ext cx="6949440" cy="1600200"/>
          </a:xfrm>
          <a:prstGeom prst="rect">
            <a:avLst/>
          </a:prstGeom>
          <a:noFill/>
          <a:ln/>
        </p:spPr>
        <p:txBody>
          <a:bodyPr wrap="square" lIns="0" tIns="0" rIns="0" bIns="0" rtlCol="0" anchor="t"/>
          <a:lstStyle/>
          <a:p>
            <a:pPr algn="l" indent="0" marL="0">
              <a:lnSpc>
                <a:spcPct val="95000"/>
              </a:lnSpc>
              <a:buNone/>
            </a:pPr>
            <a:r>
              <a:rPr lang="fr-FR" altLang="en-US" sz="5000" dirty="0">
                <a:solidFill>
                  <a:schemeClr val="bg1"/>
                </a:solidFill>
              </a:rPr>
              <a:t>Maximiser la visibilité de Mother Africa</a:t>
            </a:r>
            <a:endParaRPr lang="fr-FR" sz="5000" dirty="0"/>
          </a:p>
        </p:txBody>
      </p:sp>
      <p:sp>
        <p:nvSpPr>
          <p:cNvPr id="6" name="Text 0"/>
          <p:cNvSpPr/>
          <p:nvPr>
            <p:ph idx="101" type="body" hasCustomPrompt="1"/>
          </p:nvPr>
        </p:nvSpPr>
        <p:spPr>
          <a:xfrm>
            <a:off x="548640" y="4206240"/>
            <a:ext cx="5760720" cy="1371600"/>
          </a:xfrm>
          <a:prstGeom prst="rect">
            <a:avLst/>
          </a:prstGeom>
          <a:noFill/>
          <a:ln/>
        </p:spPr>
        <p:txBody>
          <a:bodyPr wrap="square" lIns="0" tIns="0" rIns="0" bIns="0" rtlCol="0" anchor="t"/>
          <a:lstStyle/>
          <a:p>
            <a:pPr algn="l" indent="0" marL="0">
              <a:lnSpc>
                <a:spcPct val="115000"/>
              </a:lnSpc>
              <a:buNone/>
            </a:pPr>
            <a:r>
              <a:rPr lang="fr-FR" altLang="en-US" sz="1600" dirty="0">
                <a:solidFill>
                  <a:schemeClr val="accent5"/>
                </a:solidFill>
              </a:rPr>
              <a:t>Une proposition pour la 5e édition de Mother Africa Festival : accès aux talents, gestion des créateurs sur le terrain et un rapport de visibilité.</a:t>
            </a:r>
            <a:endParaRPr lang="fr-FR" sz="1600" dirty="0"/>
          </a:p>
          <a:p>
            <a:pPr algn="l" indent="0" marL="0">
              <a:lnSpc>
                <a:spcPct val="115000"/>
              </a:lnSpc>
              <a:buNone/>
            </a:pPr>
            <a:r>
              <a:rPr lang="fr-FR" altLang="en-US" sz="1600" dirty="0">
                <a:solidFill>
                  <a:schemeClr val="accent5"/>
                </a:solidFill>
              </a:rPr>
              <a:t>27 et 28 décembre 2026, Marcory Zone 4, Abidjan.</a:t>
            </a:r>
            <a:endParaRPr lang="fr-FR" sz="1600" dirty="0"/>
          </a:p>
        </p:txBody>
      </p:sp>
      <p:sp>
        <p:nvSpPr>
          <p:cNvPr id="8" name="Text 3"/>
          <p:cNvSpPr txBox="1"/>
          <p:nvPr/>
        </p:nvSpPr>
        <p:spPr>
          <a:xfrm>
            <a:off x="548640" y="411480"/>
            <a:ext cx="3657600" cy="237744"/>
          </a:xfrm>
          <a:prstGeom prst="rect">
            <a:avLst/>
          </a:prstGeom>
          <a:noFill/>
          <a:ln/>
        </p:spPr>
        <p:txBody>
          <a:bodyPr wrap="square" lIns="0" tIns="0" rIns="0" bIns="0" rtlCol="0" anchor="t"/>
          <a:lstStyle/>
          <a:p>
            <a:pPr indent="0" marL="0">
              <a:buNone/>
            </a:pPr>
            <a:r>
              <a:rPr lang="fr-FR" altLang="en-US" sz="1000" dirty="0">
                <a:solidFill>
                  <a:schemeClr val="accent5"/>
                </a:solidFill>
              </a:rPr>
              <a:t>atoureconsulting.com</a:t>
            </a:r>
            <a:endParaRPr lang="fr-FR" sz="1000" dirty="0"/>
          </a:p>
        </p:txBody>
      </p:sp>
      <p:pic>
        <p:nvPicPr>
          <p:cNvPr id="9" name="Image 2" descr="AToure Management &amp; Consulting">    </p:cNvPr>
          <p:cNvPicPr>
            <a:picLocks noChangeAspect="1"/>
          </p:cNvPicPr>
          <p:nvPr/>
        </p:nvPicPr>
        <p:blipFill>
          <a:blip r:embed="rId3"/>
          <a:stretch>
            <a:fillRect/>
          </a:stretch>
        </p:blipFill>
        <p:spPr>
          <a:xfrm>
            <a:off x="548640" y="1371600"/>
            <a:ext cx="2377440" cy="380390"/>
          </a:xfrm>
          <a:prstGeom prst="rect">
            <a:avLst/>
          </a:prstGeom>
        </p:spPr>
      </p:pic>
      <p:sp>
        <p:nvSpPr>
          <p:cNvPr id="10" name="Text 4"/>
          <p:cNvSpPr txBox="1"/>
          <p:nvPr/>
        </p:nvSpPr>
        <p:spPr>
          <a:xfrm>
            <a:off x="3017520" y="1261872"/>
            <a:ext cx="365760" cy="365760"/>
          </a:xfrm>
          <a:prstGeom prst="rect">
            <a:avLst/>
          </a:prstGeom>
          <a:noFill/>
          <a:ln/>
        </p:spPr>
        <p:txBody>
          <a:bodyPr wrap="square" lIns="0" tIns="0" rIns="0" bIns="0" rtlCol="0" anchor="ctr"/>
          <a:lstStyle/>
          <a:p>
            <a:pPr algn="ctr" indent="0" marL="0">
              <a:buNone/>
            </a:pPr>
            <a:r>
              <a:rPr lang="fr-FR" altLang="en-US" sz="2000" dirty="0">
                <a:solidFill>
                  <a:schemeClr val="accent1"/>
                </a:solidFill>
              </a:rPr>
              <a:t>×</a:t>
            </a:r>
            <a:endParaRPr lang="fr-FR" sz="2000" dirty="0"/>
          </a:p>
        </p:txBody>
      </p:sp>
      <p:pic>
        <p:nvPicPr>
          <p:cNvPr id="11" name="Image 3" descr="Mother Africa Festival">    </p:cNvPr>
          <p:cNvPicPr>
            <a:picLocks noChangeAspect="1"/>
          </p:cNvPicPr>
          <p:nvPr/>
        </p:nvPicPr>
        <p:blipFill>
          <a:blip r:embed="rId4"/>
          <a:stretch>
            <a:fillRect/>
          </a:stretch>
        </p:blipFill>
        <p:spPr>
          <a:xfrm>
            <a:off x="3474720" y="1005840"/>
            <a:ext cx="1224254" cy="868680"/>
          </a:xfrm>
          <a:prstGeom prst="rect">
            <a:avLst/>
          </a:prstGeom>
        </p:spPr>
      </p:pic>
      <p:sp>
        <p:nvSpPr>
          <p:cNvPr id="12" name="Shape 5"/>
          <p:cNvSpPr/>
          <p:nvPr/>
        </p:nvSpPr>
        <p:spPr>
          <a:xfrm>
            <a:off x="548640" y="5760720"/>
            <a:ext cx="1463040" cy="0"/>
          </a:xfrm>
          <a:prstGeom prst="line">
            <a:avLst/>
          </a:prstGeom>
          <a:noFill/>
          <a:ln w="25400">
            <a:solidFill>
              <a:schemeClr val="accent2"/>
            </a:solidFill>
            <a:prstDash val="solid"/>
          </a:ln>
        </p:spPr>
      </p:sp>
      <p:sp>
        <p:nvSpPr>
          <p:cNvPr id="13" name="Text 6"/>
          <p:cNvSpPr txBox="1"/>
          <p:nvPr/>
        </p:nvSpPr>
        <p:spPr>
          <a:xfrm>
            <a:off x="548640" y="5897880"/>
            <a:ext cx="6400800" cy="274320"/>
          </a:xfrm>
          <a:prstGeom prst="rect">
            <a:avLst/>
          </a:prstGeom>
          <a:noFill/>
          <a:ln/>
        </p:spPr>
        <p:txBody>
          <a:bodyPr wrap="square" lIns="0" tIns="0" rIns="0" bIns="0" rtlCol="0" anchor="t"/>
          <a:lstStyle/>
          <a:p>
            <a:pPr indent="0" marL="0">
              <a:buNone/>
            </a:pPr>
            <a:r>
              <a:rPr lang="fr-FR" altLang="en-US" sz="1200" dirty="0">
                <a:solidFill>
                  <a:schemeClr val="accent4"/>
                </a:solidFill>
              </a:rPr>
              <a:t>Préparé par Baba Touré, Directeur  ·  30.10.2026</a:t>
            </a:r>
            <a:endParaRPr lang="fr-F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3"/>
                </a:solidFill>
              </a:rPr>
              <a:t>OÙ EN EST LE FESTIVAL</a:t>
            </a:r>
            <a:endParaRPr lang="fr-FR"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tx1"/>
                </a:solidFill>
              </a:rPr>
              <a:t>Après quatre éditions, ce qui fonctionne déjà</a:t>
            </a:r>
            <a:endParaRPr lang="fr-FR"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3"/>
                </a:solidFill>
              </a:rPr>
              <a:t>×</a:t>
            </a:r>
            <a:endParaRPr lang="fr-FR"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783080"/>
            <a:ext cx="3086100" cy="1097280"/>
          </a:xfrm>
          <a:prstGeom prst="rect">
            <a:avLst/>
          </a:prstGeom>
          <a:solidFill>
            <a:schemeClr val="bg1"/>
          </a:solidFill>
          <a:ln w="9525">
            <a:solidFill>
              <a:schemeClr val="tx2">
                <a:alpha val="28000"/>
              </a:schemeClr>
            </a:solidFill>
            <a:prstDash val="solid"/>
          </a:ln>
        </p:spPr>
      </p:sp>
      <p:sp>
        <p:nvSpPr>
          <p:cNvPr id="9" name="Shape 4"/>
          <p:cNvSpPr/>
          <p:nvPr/>
        </p:nvSpPr>
        <p:spPr>
          <a:xfrm>
            <a:off x="548640" y="1783080"/>
            <a:ext cx="3086100" cy="45720"/>
          </a:xfrm>
          <a:prstGeom prst="rect">
            <a:avLst/>
          </a:prstGeom>
          <a:solidFill>
            <a:schemeClr val="accent1"/>
          </a:solidFill>
          <a:ln/>
        </p:spPr>
      </p:sp>
      <p:sp>
        <p:nvSpPr>
          <p:cNvPr id="10" name="Text 5"/>
          <p:cNvSpPr txBox="1"/>
          <p:nvPr/>
        </p:nvSpPr>
        <p:spPr>
          <a:xfrm>
            <a:off x="777240" y="1929384"/>
            <a:ext cx="2628900" cy="457200"/>
          </a:xfrm>
          <a:prstGeom prst="rect">
            <a:avLst/>
          </a:prstGeom>
          <a:noFill/>
          <a:ln/>
        </p:spPr>
        <p:txBody>
          <a:bodyPr wrap="square" lIns="0" tIns="0" rIns="0" bIns="0" rtlCol="0" anchor="t"/>
          <a:lstStyle/>
          <a:p>
            <a:pPr indent="0" marL="0">
              <a:buNone/>
            </a:pPr>
            <a:r>
              <a:rPr lang="fr-FR" altLang="en-US" sz="2800" b="1" dirty="0">
                <a:solidFill>
                  <a:schemeClr val="accent3"/>
                </a:solidFill>
              </a:rPr>
              <a:t>15 000+</a:t>
            </a:r>
            <a:endParaRPr lang="fr-FR" sz="2800" dirty="0"/>
          </a:p>
        </p:txBody>
      </p:sp>
      <p:sp>
        <p:nvSpPr>
          <p:cNvPr id="11" name="Text 6"/>
          <p:cNvSpPr txBox="1"/>
          <p:nvPr/>
        </p:nvSpPr>
        <p:spPr>
          <a:xfrm>
            <a:off x="777240" y="2423160"/>
            <a:ext cx="2674620" cy="384048"/>
          </a:xfrm>
          <a:prstGeom prst="rect">
            <a:avLst/>
          </a:prstGeom>
          <a:noFill/>
          <a:ln/>
        </p:spPr>
        <p:txBody>
          <a:bodyPr wrap="square" lIns="0" tIns="0" rIns="0" bIns="0" rtlCol="0" anchor="t"/>
          <a:lstStyle/>
          <a:p>
            <a:pPr indent="0" marL="0">
              <a:buNone/>
            </a:pPr>
            <a:r>
              <a:rPr lang="fr-FR" altLang="en-US" sz="1200" dirty="0">
                <a:solidFill>
                  <a:schemeClr val="tx2"/>
                </a:solidFill>
              </a:rPr>
              <a:t>Festivaliers à la première édition, décembre 2022</a:t>
            </a:r>
            <a:endParaRPr lang="fr-FR" sz="1200" dirty="0"/>
          </a:p>
        </p:txBody>
      </p:sp>
      <p:sp>
        <p:nvSpPr>
          <p:cNvPr id="12" name="Shape 7"/>
          <p:cNvSpPr/>
          <p:nvPr/>
        </p:nvSpPr>
        <p:spPr>
          <a:xfrm>
            <a:off x="3863340" y="1783080"/>
            <a:ext cx="3086100" cy="1097280"/>
          </a:xfrm>
          <a:prstGeom prst="rect">
            <a:avLst/>
          </a:prstGeom>
          <a:solidFill>
            <a:schemeClr val="bg1"/>
          </a:solidFill>
          <a:ln w="9525">
            <a:solidFill>
              <a:schemeClr val="tx2">
                <a:alpha val="28000"/>
              </a:schemeClr>
            </a:solidFill>
            <a:prstDash val="solid"/>
          </a:ln>
        </p:spPr>
      </p:sp>
      <p:sp>
        <p:nvSpPr>
          <p:cNvPr id="13" name="Shape 8"/>
          <p:cNvSpPr/>
          <p:nvPr/>
        </p:nvSpPr>
        <p:spPr>
          <a:xfrm>
            <a:off x="3863340" y="1783080"/>
            <a:ext cx="3086100" cy="45720"/>
          </a:xfrm>
          <a:prstGeom prst="rect">
            <a:avLst/>
          </a:prstGeom>
          <a:solidFill>
            <a:schemeClr val="accent1"/>
          </a:solidFill>
          <a:ln/>
        </p:spPr>
      </p:sp>
      <p:sp>
        <p:nvSpPr>
          <p:cNvPr id="14" name="Text 9"/>
          <p:cNvSpPr txBox="1"/>
          <p:nvPr/>
        </p:nvSpPr>
        <p:spPr>
          <a:xfrm>
            <a:off x="4091940" y="1929384"/>
            <a:ext cx="2628900" cy="457200"/>
          </a:xfrm>
          <a:prstGeom prst="rect">
            <a:avLst/>
          </a:prstGeom>
          <a:noFill/>
          <a:ln/>
        </p:spPr>
        <p:txBody>
          <a:bodyPr wrap="square" lIns="0" tIns="0" rIns="0" bIns="0" rtlCol="0" anchor="t"/>
          <a:lstStyle/>
          <a:p>
            <a:pPr indent="0" marL="0">
              <a:buNone/>
            </a:pPr>
            <a:r>
              <a:rPr lang="fr-FR" altLang="en-US" sz="2800" b="1" dirty="0">
                <a:solidFill>
                  <a:schemeClr val="accent3"/>
                </a:solidFill>
              </a:rPr>
              <a:t>40 %</a:t>
            </a:r>
            <a:endParaRPr lang="fr-FR" sz="2800" dirty="0"/>
          </a:p>
        </p:txBody>
      </p:sp>
      <p:sp>
        <p:nvSpPr>
          <p:cNvPr id="15" name="Text 10"/>
          <p:cNvSpPr txBox="1"/>
          <p:nvPr/>
        </p:nvSpPr>
        <p:spPr>
          <a:xfrm>
            <a:off x="4091940" y="2423160"/>
            <a:ext cx="2674620" cy="384048"/>
          </a:xfrm>
          <a:prstGeom prst="rect">
            <a:avLst/>
          </a:prstGeom>
          <a:noFill/>
          <a:ln/>
        </p:spPr>
        <p:txBody>
          <a:bodyPr wrap="square" lIns="0" tIns="0" rIns="0" bIns="0" rtlCol="0" anchor="t"/>
          <a:lstStyle/>
          <a:p>
            <a:pPr indent="0" marL="0">
              <a:buNone/>
            </a:pPr>
            <a:r>
              <a:rPr lang="fr-FR" altLang="en-US" sz="1200" dirty="0">
                <a:solidFill>
                  <a:schemeClr val="tx2"/>
                </a:solidFill>
              </a:rPr>
              <a:t>D’entre eux venaient d’autres pays, selon la presse</a:t>
            </a:r>
            <a:endParaRPr lang="fr-FR" sz="1200" dirty="0"/>
          </a:p>
        </p:txBody>
      </p:sp>
      <p:sp>
        <p:nvSpPr>
          <p:cNvPr id="16" name="Shape 11"/>
          <p:cNvSpPr/>
          <p:nvPr/>
        </p:nvSpPr>
        <p:spPr>
          <a:xfrm>
            <a:off x="548640" y="3044952"/>
            <a:ext cx="3086100" cy="1097280"/>
          </a:xfrm>
          <a:prstGeom prst="rect">
            <a:avLst/>
          </a:prstGeom>
          <a:solidFill>
            <a:schemeClr val="bg1"/>
          </a:solidFill>
          <a:ln w="9525">
            <a:solidFill>
              <a:schemeClr val="tx2">
                <a:alpha val="28000"/>
              </a:schemeClr>
            </a:solidFill>
            <a:prstDash val="solid"/>
          </a:ln>
        </p:spPr>
      </p:sp>
      <p:sp>
        <p:nvSpPr>
          <p:cNvPr id="17" name="Shape 12"/>
          <p:cNvSpPr/>
          <p:nvPr/>
        </p:nvSpPr>
        <p:spPr>
          <a:xfrm>
            <a:off x="548640" y="3044952"/>
            <a:ext cx="3086100" cy="45720"/>
          </a:xfrm>
          <a:prstGeom prst="rect">
            <a:avLst/>
          </a:prstGeom>
          <a:solidFill>
            <a:schemeClr val="accent1"/>
          </a:solidFill>
          <a:ln/>
        </p:spPr>
      </p:sp>
      <p:sp>
        <p:nvSpPr>
          <p:cNvPr id="18" name="Text 13"/>
          <p:cNvSpPr txBox="1"/>
          <p:nvPr/>
        </p:nvSpPr>
        <p:spPr>
          <a:xfrm>
            <a:off x="777240" y="3191256"/>
            <a:ext cx="2628900" cy="457200"/>
          </a:xfrm>
          <a:prstGeom prst="rect">
            <a:avLst/>
          </a:prstGeom>
          <a:noFill/>
          <a:ln/>
        </p:spPr>
        <p:txBody>
          <a:bodyPr wrap="square" lIns="0" tIns="0" rIns="0" bIns="0" rtlCol="0" anchor="t"/>
          <a:lstStyle/>
          <a:p>
            <a:pPr indent="0" marL="0">
              <a:buNone/>
            </a:pPr>
            <a:r>
              <a:rPr lang="fr-FR" altLang="en-US" sz="2800" b="1" dirty="0">
                <a:solidFill>
                  <a:schemeClr val="accent3"/>
                </a:solidFill>
              </a:rPr>
              <a:t>20 000+</a:t>
            </a:r>
            <a:endParaRPr lang="fr-FR" sz="2800" dirty="0"/>
          </a:p>
        </p:txBody>
      </p:sp>
      <p:sp>
        <p:nvSpPr>
          <p:cNvPr id="19" name="Text 14"/>
          <p:cNvSpPr txBox="1"/>
          <p:nvPr/>
        </p:nvSpPr>
        <p:spPr>
          <a:xfrm>
            <a:off x="777240" y="3685032"/>
            <a:ext cx="2674620" cy="384048"/>
          </a:xfrm>
          <a:prstGeom prst="rect">
            <a:avLst/>
          </a:prstGeom>
          <a:noFill/>
          <a:ln/>
        </p:spPr>
        <p:txBody>
          <a:bodyPr wrap="square" lIns="0" tIns="0" rIns="0" bIns="0" rtlCol="0" anchor="t"/>
          <a:lstStyle/>
          <a:p>
            <a:pPr indent="0" marL="0">
              <a:buNone/>
            </a:pPr>
            <a:r>
              <a:rPr lang="fr-FR" altLang="en-US" sz="1200" dirty="0">
                <a:solidFill>
                  <a:schemeClr val="tx2"/>
                </a:solidFill>
              </a:rPr>
              <a:t>Attendus à la 5e édition, selon les organisateurs</a:t>
            </a:r>
            <a:endParaRPr lang="fr-FR" sz="1200" dirty="0"/>
          </a:p>
        </p:txBody>
      </p:sp>
      <p:sp>
        <p:nvSpPr>
          <p:cNvPr id="20" name="Shape 15"/>
          <p:cNvSpPr/>
          <p:nvPr/>
        </p:nvSpPr>
        <p:spPr>
          <a:xfrm>
            <a:off x="3863340" y="3044952"/>
            <a:ext cx="3086100" cy="1097280"/>
          </a:xfrm>
          <a:prstGeom prst="rect">
            <a:avLst/>
          </a:prstGeom>
          <a:solidFill>
            <a:schemeClr val="tx1"/>
          </a:solidFill>
          <a:ln/>
        </p:spPr>
      </p:sp>
      <p:sp>
        <p:nvSpPr>
          <p:cNvPr id="21" name="Shape 16"/>
          <p:cNvSpPr/>
          <p:nvPr/>
        </p:nvSpPr>
        <p:spPr>
          <a:xfrm>
            <a:off x="3863340" y="3044952"/>
            <a:ext cx="3086100" cy="45720"/>
          </a:xfrm>
          <a:prstGeom prst="rect">
            <a:avLst/>
          </a:prstGeom>
          <a:solidFill>
            <a:schemeClr val="accent2"/>
          </a:solidFill>
          <a:ln/>
        </p:spPr>
      </p:sp>
      <p:sp>
        <p:nvSpPr>
          <p:cNvPr id="22" name="Text 17"/>
          <p:cNvSpPr txBox="1"/>
          <p:nvPr/>
        </p:nvSpPr>
        <p:spPr>
          <a:xfrm>
            <a:off x="4091940" y="3191256"/>
            <a:ext cx="2628900" cy="457200"/>
          </a:xfrm>
          <a:prstGeom prst="rect">
            <a:avLst/>
          </a:prstGeom>
          <a:noFill/>
          <a:ln/>
        </p:spPr>
        <p:txBody>
          <a:bodyPr wrap="square" lIns="0" tIns="0" rIns="0" bIns="0" rtlCol="0" anchor="t"/>
          <a:lstStyle/>
          <a:p>
            <a:pPr indent="0" marL="0">
              <a:buNone/>
            </a:pPr>
            <a:r>
              <a:rPr lang="fr-FR" altLang="en-US" sz="2800" b="1" dirty="0">
                <a:solidFill>
                  <a:schemeClr val="accent4"/>
                </a:solidFill>
              </a:rPr>
              <a:t>+1 Md FCFA</a:t>
            </a:r>
            <a:endParaRPr lang="fr-FR" sz="2800" dirty="0"/>
          </a:p>
        </p:txBody>
      </p:sp>
      <p:sp>
        <p:nvSpPr>
          <p:cNvPr id="23" name="Text 18"/>
          <p:cNvSpPr txBox="1"/>
          <p:nvPr/>
        </p:nvSpPr>
        <p:spPr>
          <a:xfrm>
            <a:off x="4091940" y="3685032"/>
            <a:ext cx="2674620" cy="384048"/>
          </a:xfrm>
          <a:prstGeom prst="rect">
            <a:avLst/>
          </a:prstGeom>
          <a:noFill/>
          <a:ln/>
        </p:spPr>
        <p:txBody>
          <a:bodyPr wrap="square" lIns="0" tIns="0" rIns="0" bIns="0" rtlCol="0" anchor="t"/>
          <a:lstStyle/>
          <a:p>
            <a:pPr indent="0" marL="0">
              <a:buNone/>
            </a:pPr>
            <a:r>
              <a:rPr lang="fr-FR" altLang="en-US" sz="1200" dirty="0">
                <a:solidFill>
                  <a:schemeClr val="accent5"/>
                </a:solidFill>
              </a:rPr>
              <a:t>Plus d’un milliard de FCFA : le festival comme instrument de sponsoring</a:t>
            </a:r>
            <a:endParaRPr lang="fr-FR" sz="1200" dirty="0"/>
          </a:p>
        </p:txBody>
      </p:sp>
      <p:sp>
        <p:nvSpPr>
          <p:cNvPr id="24" name="Text 19"/>
          <p:cNvSpPr txBox="1"/>
          <p:nvPr/>
        </p:nvSpPr>
        <p:spPr>
          <a:xfrm>
            <a:off x="548640" y="4370832"/>
            <a:ext cx="3657600" cy="256032"/>
          </a:xfrm>
          <a:prstGeom prst="rect">
            <a:avLst/>
          </a:prstGeom>
          <a:noFill/>
          <a:ln/>
        </p:spPr>
        <p:txBody>
          <a:bodyPr wrap="square" lIns="0" tIns="0" rIns="0" bIns="0" rtlCol="0" anchor="t"/>
          <a:lstStyle/>
          <a:p>
            <a:pPr indent="0" marL="0">
              <a:buNone/>
            </a:pPr>
            <a:r>
              <a:rPr lang="fr-FR" altLang="en-US" sz="1100" b="1" spc="300" kern="0" dirty="0">
                <a:solidFill>
                  <a:schemeClr val="accent3"/>
                </a:solidFill>
              </a:rPr>
              <a:t>L’HISTOIRE JUSQU’ICI</a:t>
            </a:r>
            <a:endParaRPr lang="fr-FR" sz="1100" dirty="0"/>
          </a:p>
        </p:txBody>
      </p:sp>
      <p:sp>
        <p:nvSpPr>
          <p:cNvPr id="25" name="Shape 20"/>
          <p:cNvSpPr/>
          <p:nvPr/>
        </p:nvSpPr>
        <p:spPr>
          <a:xfrm>
            <a:off x="548640" y="4846320"/>
            <a:ext cx="6400800" cy="0"/>
          </a:xfrm>
          <a:prstGeom prst="line">
            <a:avLst/>
          </a:prstGeom>
          <a:noFill/>
          <a:ln w="19050">
            <a:solidFill>
              <a:schemeClr val="accent1"/>
            </a:solidFill>
            <a:prstDash val="solid"/>
          </a:ln>
        </p:spPr>
      </p:sp>
      <p:sp>
        <p:nvSpPr>
          <p:cNvPr id="26" name="Shape 21"/>
          <p:cNvSpPr/>
          <p:nvPr/>
        </p:nvSpPr>
        <p:spPr>
          <a:xfrm>
            <a:off x="548640" y="4773168"/>
            <a:ext cx="146304" cy="146304"/>
          </a:xfrm>
          <a:prstGeom prst="ellipse">
            <a:avLst/>
          </a:prstGeom>
          <a:solidFill>
            <a:schemeClr val="accent1"/>
          </a:solidFill>
          <a:ln/>
        </p:spPr>
      </p:sp>
      <p:sp>
        <p:nvSpPr>
          <p:cNvPr id="27" name="Text 22"/>
          <p:cNvSpPr txBox="1"/>
          <p:nvPr/>
        </p:nvSpPr>
        <p:spPr>
          <a:xfrm>
            <a:off x="548640" y="4983480"/>
            <a:ext cx="1188720" cy="237744"/>
          </a:xfrm>
          <a:prstGeom prst="rect">
            <a:avLst/>
          </a:prstGeom>
          <a:noFill/>
          <a:ln/>
        </p:spPr>
        <p:txBody>
          <a:bodyPr wrap="square" lIns="0" tIns="0" rIns="0" bIns="0" rtlCol="0" anchor="t"/>
          <a:lstStyle/>
          <a:p>
            <a:pPr indent="0" marL="0">
              <a:buNone/>
            </a:pPr>
            <a:r>
              <a:rPr lang="fr-FR" altLang="en-US" sz="1300" b="1" dirty="0">
                <a:solidFill>
                  <a:schemeClr val="tx1"/>
                </a:solidFill>
              </a:rPr>
              <a:t>2022</a:t>
            </a:r>
            <a:endParaRPr lang="fr-FR" sz="1300" dirty="0"/>
          </a:p>
        </p:txBody>
      </p:sp>
      <p:sp>
        <p:nvSpPr>
          <p:cNvPr id="28" name="Text 23"/>
          <p:cNvSpPr txBox="1"/>
          <p:nvPr/>
        </p:nvSpPr>
        <p:spPr>
          <a:xfrm>
            <a:off x="548640" y="5248656"/>
            <a:ext cx="1188720" cy="640080"/>
          </a:xfrm>
          <a:prstGeom prst="rect">
            <a:avLst/>
          </a:prstGeom>
          <a:noFill/>
          <a:ln/>
        </p:spPr>
        <p:txBody>
          <a:bodyPr wrap="square" lIns="0" tIns="0" rIns="0" bIns="0" rtlCol="0" anchor="t"/>
          <a:lstStyle/>
          <a:p>
            <a:pPr indent="0" marL="0">
              <a:buNone/>
            </a:pPr>
            <a:r>
              <a:rPr lang="fr-FR" altLang="en-US" sz="1050" dirty="0">
                <a:solidFill>
                  <a:schemeClr val="tx2"/>
                </a:solidFill>
              </a:rPr>
              <a:t>Première édition, du 28 au 30 décembre à Abidjan</a:t>
            </a:r>
            <a:endParaRPr lang="fr-FR" sz="1050" dirty="0"/>
          </a:p>
        </p:txBody>
      </p:sp>
      <p:sp>
        <p:nvSpPr>
          <p:cNvPr id="29" name="Shape 24"/>
          <p:cNvSpPr/>
          <p:nvPr/>
        </p:nvSpPr>
        <p:spPr>
          <a:xfrm>
            <a:off x="1828800" y="4773168"/>
            <a:ext cx="146304" cy="146304"/>
          </a:xfrm>
          <a:prstGeom prst="ellipse">
            <a:avLst/>
          </a:prstGeom>
          <a:solidFill>
            <a:schemeClr val="accent1"/>
          </a:solidFill>
          <a:ln/>
        </p:spPr>
      </p:sp>
      <p:sp>
        <p:nvSpPr>
          <p:cNvPr id="30" name="Text 25"/>
          <p:cNvSpPr txBox="1"/>
          <p:nvPr/>
        </p:nvSpPr>
        <p:spPr>
          <a:xfrm>
            <a:off x="1828800" y="4983480"/>
            <a:ext cx="1188720" cy="237744"/>
          </a:xfrm>
          <a:prstGeom prst="rect">
            <a:avLst/>
          </a:prstGeom>
          <a:noFill/>
          <a:ln/>
        </p:spPr>
        <p:txBody>
          <a:bodyPr wrap="square" lIns="0" tIns="0" rIns="0" bIns="0" rtlCol="0" anchor="t"/>
          <a:lstStyle/>
          <a:p>
            <a:pPr indent="0" marL="0">
              <a:buNone/>
            </a:pPr>
            <a:r>
              <a:rPr lang="fr-FR" altLang="en-US" sz="1300" b="1" dirty="0">
                <a:solidFill>
                  <a:schemeClr val="tx1"/>
                </a:solidFill>
              </a:rPr>
              <a:t>2023</a:t>
            </a:r>
            <a:endParaRPr lang="fr-FR" sz="1300" dirty="0"/>
          </a:p>
        </p:txBody>
      </p:sp>
      <p:sp>
        <p:nvSpPr>
          <p:cNvPr id="31" name="Text 26"/>
          <p:cNvSpPr txBox="1"/>
          <p:nvPr/>
        </p:nvSpPr>
        <p:spPr>
          <a:xfrm>
            <a:off x="1828800" y="5248656"/>
            <a:ext cx="1188720" cy="640080"/>
          </a:xfrm>
          <a:prstGeom prst="rect">
            <a:avLst/>
          </a:prstGeom>
          <a:noFill/>
          <a:ln/>
        </p:spPr>
        <p:txBody>
          <a:bodyPr wrap="square" lIns="0" tIns="0" rIns="0" bIns="0" rtlCol="0" anchor="t"/>
          <a:lstStyle/>
          <a:p>
            <a:pPr indent="0" marL="0">
              <a:buNone/>
            </a:pPr>
            <a:r>
              <a:rPr lang="fr-FR" altLang="en-US" sz="1050" dirty="0">
                <a:solidFill>
                  <a:schemeClr val="tx2"/>
                </a:solidFill>
              </a:rPr>
              <a:t>2e édition : Aya Nakamura, Ayra Starr</a:t>
            </a:r>
            <a:endParaRPr lang="fr-FR" sz="1050" dirty="0"/>
          </a:p>
        </p:txBody>
      </p:sp>
      <p:sp>
        <p:nvSpPr>
          <p:cNvPr id="32" name="Shape 27"/>
          <p:cNvSpPr/>
          <p:nvPr/>
        </p:nvSpPr>
        <p:spPr>
          <a:xfrm>
            <a:off x="3108960" y="4773168"/>
            <a:ext cx="146304" cy="146304"/>
          </a:xfrm>
          <a:prstGeom prst="ellipse">
            <a:avLst/>
          </a:prstGeom>
          <a:solidFill>
            <a:schemeClr val="accent1"/>
          </a:solidFill>
          <a:ln/>
        </p:spPr>
      </p:sp>
      <p:sp>
        <p:nvSpPr>
          <p:cNvPr id="33" name="Text 28"/>
          <p:cNvSpPr txBox="1"/>
          <p:nvPr/>
        </p:nvSpPr>
        <p:spPr>
          <a:xfrm>
            <a:off x="3108960" y="4983480"/>
            <a:ext cx="1188720" cy="237744"/>
          </a:xfrm>
          <a:prstGeom prst="rect">
            <a:avLst/>
          </a:prstGeom>
          <a:noFill/>
          <a:ln/>
        </p:spPr>
        <p:txBody>
          <a:bodyPr wrap="square" lIns="0" tIns="0" rIns="0" bIns="0" rtlCol="0" anchor="t"/>
          <a:lstStyle/>
          <a:p>
            <a:pPr indent="0" marL="0">
              <a:buNone/>
            </a:pPr>
            <a:r>
              <a:rPr lang="fr-FR" altLang="en-US" sz="1300" b="1" dirty="0">
                <a:solidFill>
                  <a:schemeClr val="tx1"/>
                </a:solidFill>
              </a:rPr>
              <a:t>2024</a:t>
            </a:r>
            <a:endParaRPr lang="fr-FR" sz="1300" dirty="0"/>
          </a:p>
        </p:txBody>
      </p:sp>
      <p:sp>
        <p:nvSpPr>
          <p:cNvPr id="34" name="Text 29"/>
          <p:cNvSpPr txBox="1"/>
          <p:nvPr/>
        </p:nvSpPr>
        <p:spPr>
          <a:xfrm>
            <a:off x="3108960" y="5248656"/>
            <a:ext cx="1188720" cy="640080"/>
          </a:xfrm>
          <a:prstGeom prst="rect">
            <a:avLst/>
          </a:prstGeom>
          <a:noFill/>
          <a:ln/>
        </p:spPr>
        <p:txBody>
          <a:bodyPr wrap="square" lIns="0" tIns="0" rIns="0" bIns="0" rtlCol="0" anchor="t"/>
          <a:lstStyle/>
          <a:p>
            <a:pPr indent="0" marL="0">
              <a:buNone/>
            </a:pPr>
            <a:r>
              <a:rPr lang="fr-FR" altLang="en-US" sz="1050" dirty="0">
                <a:solidFill>
                  <a:schemeClr val="tx2"/>
                </a:solidFill>
              </a:rPr>
              <a:t>3e édition : Dadju et Tayc</a:t>
            </a:r>
            <a:endParaRPr lang="fr-FR" sz="1050" dirty="0"/>
          </a:p>
        </p:txBody>
      </p:sp>
      <p:sp>
        <p:nvSpPr>
          <p:cNvPr id="35" name="Shape 30"/>
          <p:cNvSpPr/>
          <p:nvPr/>
        </p:nvSpPr>
        <p:spPr>
          <a:xfrm>
            <a:off x="4389120" y="4773168"/>
            <a:ext cx="146304" cy="146304"/>
          </a:xfrm>
          <a:prstGeom prst="ellipse">
            <a:avLst/>
          </a:prstGeom>
          <a:solidFill>
            <a:schemeClr val="accent1"/>
          </a:solidFill>
          <a:ln/>
        </p:spPr>
      </p:sp>
      <p:sp>
        <p:nvSpPr>
          <p:cNvPr id="36" name="Text 31"/>
          <p:cNvSpPr txBox="1"/>
          <p:nvPr/>
        </p:nvSpPr>
        <p:spPr>
          <a:xfrm>
            <a:off x="4389120" y="4983480"/>
            <a:ext cx="1188720" cy="237744"/>
          </a:xfrm>
          <a:prstGeom prst="rect">
            <a:avLst/>
          </a:prstGeom>
          <a:noFill/>
          <a:ln/>
        </p:spPr>
        <p:txBody>
          <a:bodyPr wrap="square" lIns="0" tIns="0" rIns="0" bIns="0" rtlCol="0" anchor="t"/>
          <a:lstStyle/>
          <a:p>
            <a:pPr indent="0" marL="0">
              <a:buNone/>
            </a:pPr>
            <a:r>
              <a:rPr lang="fr-FR" altLang="en-US" sz="1300" b="1" dirty="0">
                <a:solidFill>
                  <a:schemeClr val="tx1"/>
                </a:solidFill>
              </a:rPr>
              <a:t>2025</a:t>
            </a:r>
            <a:endParaRPr lang="fr-FR" sz="1300" dirty="0"/>
          </a:p>
        </p:txBody>
      </p:sp>
      <p:sp>
        <p:nvSpPr>
          <p:cNvPr id="37" name="Text 32"/>
          <p:cNvSpPr txBox="1"/>
          <p:nvPr/>
        </p:nvSpPr>
        <p:spPr>
          <a:xfrm>
            <a:off x="4389120" y="5248656"/>
            <a:ext cx="1188720" cy="640080"/>
          </a:xfrm>
          <a:prstGeom prst="rect">
            <a:avLst/>
          </a:prstGeom>
          <a:noFill/>
          <a:ln/>
        </p:spPr>
        <p:txBody>
          <a:bodyPr wrap="square" lIns="0" tIns="0" rIns="0" bIns="0" rtlCol="0" anchor="t"/>
          <a:lstStyle/>
          <a:p>
            <a:pPr indent="0" marL="0">
              <a:buNone/>
            </a:pPr>
            <a:r>
              <a:rPr lang="fr-FR" altLang="en-US" sz="1050" dirty="0">
                <a:solidFill>
                  <a:schemeClr val="tx2"/>
                </a:solidFill>
              </a:rPr>
              <a:t>4e édition : Gims, Asake. Sur France 24</a:t>
            </a:r>
            <a:endParaRPr lang="fr-FR" sz="1050" dirty="0"/>
          </a:p>
        </p:txBody>
      </p:sp>
      <p:sp>
        <p:nvSpPr>
          <p:cNvPr id="38" name="Shape 33"/>
          <p:cNvSpPr/>
          <p:nvPr/>
        </p:nvSpPr>
        <p:spPr>
          <a:xfrm>
            <a:off x="5669280" y="4773168"/>
            <a:ext cx="146304" cy="146304"/>
          </a:xfrm>
          <a:prstGeom prst="ellipse">
            <a:avLst/>
          </a:prstGeom>
          <a:solidFill>
            <a:schemeClr val="accent2"/>
          </a:solidFill>
          <a:ln/>
        </p:spPr>
      </p:sp>
      <p:sp>
        <p:nvSpPr>
          <p:cNvPr id="39" name="Text 34"/>
          <p:cNvSpPr txBox="1"/>
          <p:nvPr/>
        </p:nvSpPr>
        <p:spPr>
          <a:xfrm>
            <a:off x="5669280" y="4983480"/>
            <a:ext cx="1188720" cy="237744"/>
          </a:xfrm>
          <a:prstGeom prst="rect">
            <a:avLst/>
          </a:prstGeom>
          <a:noFill/>
          <a:ln/>
        </p:spPr>
        <p:txBody>
          <a:bodyPr wrap="square" lIns="0" tIns="0" rIns="0" bIns="0" rtlCol="0" anchor="t"/>
          <a:lstStyle/>
          <a:p>
            <a:pPr indent="0" marL="0">
              <a:buNone/>
            </a:pPr>
            <a:r>
              <a:rPr lang="fr-FR" altLang="en-US" sz="1300" b="1" dirty="0">
                <a:solidFill>
                  <a:schemeClr val="accent3"/>
                </a:solidFill>
              </a:rPr>
              <a:t>2026</a:t>
            </a:r>
            <a:endParaRPr lang="fr-FR" sz="1300" dirty="0"/>
          </a:p>
        </p:txBody>
      </p:sp>
      <p:sp>
        <p:nvSpPr>
          <p:cNvPr id="40" name="Text 35"/>
          <p:cNvSpPr txBox="1"/>
          <p:nvPr/>
        </p:nvSpPr>
        <p:spPr>
          <a:xfrm>
            <a:off x="5669280" y="5248656"/>
            <a:ext cx="1188720" cy="640080"/>
          </a:xfrm>
          <a:prstGeom prst="rect">
            <a:avLst/>
          </a:prstGeom>
          <a:noFill/>
          <a:ln/>
        </p:spPr>
        <p:txBody>
          <a:bodyPr wrap="square" lIns="0" tIns="0" rIns="0" bIns="0" rtlCol="0" anchor="t"/>
          <a:lstStyle/>
          <a:p>
            <a:pPr indent="0" marL="0">
              <a:buNone/>
            </a:pPr>
            <a:r>
              <a:rPr lang="fr-FR" altLang="en-US" sz="1050" dirty="0">
                <a:solidFill>
                  <a:schemeClr val="tx2"/>
                </a:solidFill>
              </a:rPr>
              <a:t>5e édition : Davido en tête d’affiche</a:t>
            </a:r>
            <a:endParaRPr lang="fr-FR" sz="1050" dirty="0"/>
          </a:p>
        </p:txBody>
      </p:sp>
      <p:sp>
        <p:nvSpPr>
          <p:cNvPr id="41" name="Text 36"/>
          <p:cNvSpPr txBox="1"/>
          <p:nvPr/>
        </p:nvSpPr>
        <p:spPr>
          <a:xfrm>
            <a:off x="548640" y="5989320"/>
            <a:ext cx="6400800" cy="274320"/>
          </a:xfrm>
          <a:prstGeom prst="rect">
            <a:avLst/>
          </a:prstGeom>
          <a:noFill/>
          <a:ln/>
        </p:spPr>
        <p:txBody>
          <a:bodyPr wrap="square" lIns="0" tIns="0" rIns="0" bIns="0" rtlCol="0" anchor="t"/>
          <a:lstStyle/>
          <a:p>
            <a:pPr indent="0" marL="0">
              <a:buNone/>
            </a:pPr>
            <a:r>
              <a:rPr lang="fr-FR" altLang="en-US" sz="950" i="1" dirty="0">
                <a:solidFill>
                  <a:schemeClr val="tx2"/>
                </a:solidFill>
              </a:rPr>
              <a:t>Sources : Africa Radio, Music In Africa, Abidjan.net, Liferadio, France 24, Pulse, allAfrica. 20 000+ est le chiffre attendu par les organisateurs.</a:t>
            </a:r>
            <a:endParaRPr lang="fr-FR" sz="950" dirty="0"/>
          </a:p>
        </p:txBody>
      </p:sp>
      <p:sp>
        <p:nvSpPr>
          <p:cNvPr id="42" name="Shape 37"/>
          <p:cNvSpPr/>
          <p:nvPr/>
        </p:nvSpPr>
        <p:spPr>
          <a:xfrm>
            <a:off x="7178040" y="1783080"/>
            <a:ext cx="4465015" cy="4251960"/>
          </a:xfrm>
          <a:prstGeom prst="roundRect">
            <a:avLst>
              <a:gd name="adj" fmla="val 2151"/>
            </a:avLst>
          </a:prstGeom>
          <a:solidFill>
            <a:schemeClr val="tx1"/>
          </a:solidFill>
          <a:ln/>
        </p:spPr>
      </p:sp>
      <p:sp>
        <p:nvSpPr>
          <p:cNvPr id="43" name="Text 38"/>
          <p:cNvSpPr txBox="1"/>
          <p:nvPr/>
        </p:nvSpPr>
        <p:spPr>
          <a:xfrm>
            <a:off x="7452360" y="2029968"/>
            <a:ext cx="3931920" cy="256032"/>
          </a:xfrm>
          <a:prstGeom prst="rect">
            <a:avLst/>
          </a:prstGeom>
          <a:noFill/>
          <a:ln/>
        </p:spPr>
        <p:txBody>
          <a:bodyPr wrap="square" lIns="0" tIns="0" rIns="0" bIns="0" rtlCol="0" anchor="t"/>
          <a:lstStyle/>
          <a:p>
            <a:pPr indent="0" marL="0">
              <a:buNone/>
            </a:pPr>
            <a:r>
              <a:rPr lang="fr-FR" altLang="en-US" sz="1100" b="1" spc="300" kern="0" dirty="0">
                <a:solidFill>
                  <a:schemeClr val="accent1"/>
                </a:solidFill>
              </a:rPr>
              <a:t>CE QU’IL FAUT EN 2026</a:t>
            </a:r>
            <a:endParaRPr lang="fr-FR" sz="1100" dirty="0"/>
          </a:p>
        </p:txBody>
      </p:sp>
      <p:pic>
        <p:nvPicPr>
          <p:cNvPr id="44" name="Image 2" descr="preencoded.png">    </p:cNvPr>
          <p:cNvPicPr>
            <a:picLocks noChangeAspect="1"/>
          </p:cNvPicPr>
          <p:nvPr/>
        </p:nvPicPr>
        <p:blipFill>
          <a:blip r:embed="rId3"/>
          <a:stretch>
            <a:fillRect/>
          </a:stretch>
        </p:blipFill>
        <p:spPr>
          <a:xfrm>
            <a:off x="7452360" y="2532888"/>
            <a:ext cx="256032" cy="256032"/>
          </a:xfrm>
          <a:prstGeom prst="rect">
            <a:avLst/>
          </a:prstGeom>
        </p:spPr>
      </p:pic>
      <p:sp>
        <p:nvSpPr>
          <p:cNvPr id="45" name="Text 39"/>
          <p:cNvSpPr txBox="1"/>
          <p:nvPr/>
        </p:nvSpPr>
        <p:spPr>
          <a:xfrm>
            <a:off x="7863840" y="2514600"/>
            <a:ext cx="3520440" cy="457200"/>
          </a:xfrm>
          <a:prstGeom prst="rect">
            <a:avLst/>
          </a:prstGeom>
          <a:noFill/>
          <a:ln/>
        </p:spPr>
        <p:txBody>
          <a:bodyPr wrap="square" lIns="0" tIns="0" rIns="0" bIns="0" rtlCol="0" anchor="t"/>
          <a:lstStyle/>
          <a:p>
            <a:pPr indent="0" marL="0">
              <a:buNone/>
            </a:pPr>
            <a:r>
              <a:rPr lang="fr-FR" altLang="en-US" sz="1400" dirty="0">
                <a:solidFill>
                  <a:schemeClr val="bg1"/>
                </a:solidFill>
              </a:rPr>
              <a:t>Des créateurs choisis pour les publics que le festival vise en priorité</a:t>
            </a:r>
            <a:endParaRPr lang="fr-FR" sz="1400" dirty="0"/>
          </a:p>
        </p:txBody>
      </p:sp>
      <p:pic>
        <p:nvPicPr>
          <p:cNvPr id="46" name="Image 3" descr="preencoded.png">    </p:cNvPr>
          <p:cNvPicPr>
            <a:picLocks noChangeAspect="1"/>
          </p:cNvPicPr>
          <p:nvPr/>
        </p:nvPicPr>
        <p:blipFill>
          <a:blip r:embed="rId4"/>
          <a:stretch>
            <a:fillRect/>
          </a:stretch>
        </p:blipFill>
        <p:spPr>
          <a:xfrm>
            <a:off x="7452360" y="3246120"/>
            <a:ext cx="256032" cy="256032"/>
          </a:xfrm>
          <a:prstGeom prst="rect">
            <a:avLst/>
          </a:prstGeom>
        </p:spPr>
      </p:pic>
      <p:sp>
        <p:nvSpPr>
          <p:cNvPr id="47" name="Text 40"/>
          <p:cNvSpPr txBox="1"/>
          <p:nvPr/>
        </p:nvSpPr>
        <p:spPr>
          <a:xfrm>
            <a:off x="7863840" y="3227832"/>
            <a:ext cx="3520440" cy="457200"/>
          </a:xfrm>
          <a:prstGeom prst="rect">
            <a:avLst/>
          </a:prstGeom>
          <a:noFill/>
          <a:ln/>
        </p:spPr>
        <p:txBody>
          <a:bodyPr wrap="square" lIns="0" tIns="0" rIns="0" bIns="0" rtlCol="0" anchor="t"/>
          <a:lstStyle/>
          <a:p>
            <a:pPr indent="0" marL="0">
              <a:buNone/>
            </a:pPr>
            <a:r>
              <a:rPr lang="fr-FR" altLang="en-US" sz="1400" dirty="0">
                <a:solidFill>
                  <a:schemeClr val="bg1"/>
                </a:solidFill>
              </a:rPr>
              <a:t>Des livrables et des messages clés fixés pour chaque créateur</a:t>
            </a:r>
            <a:endParaRPr lang="fr-FR" sz="1400" dirty="0"/>
          </a:p>
        </p:txBody>
      </p:sp>
      <p:pic>
        <p:nvPicPr>
          <p:cNvPr id="48" name="Image 4" descr="preencoded.png">    </p:cNvPr>
          <p:cNvPicPr>
            <a:picLocks noChangeAspect="1"/>
          </p:cNvPicPr>
          <p:nvPr/>
        </p:nvPicPr>
        <p:blipFill>
          <a:blip r:embed="rId5"/>
          <a:stretch>
            <a:fillRect/>
          </a:stretch>
        </p:blipFill>
        <p:spPr>
          <a:xfrm>
            <a:off x="7452360" y="3959352"/>
            <a:ext cx="256032" cy="256032"/>
          </a:xfrm>
          <a:prstGeom prst="rect">
            <a:avLst/>
          </a:prstGeom>
        </p:spPr>
      </p:pic>
      <p:sp>
        <p:nvSpPr>
          <p:cNvPr id="49" name="Text 41"/>
          <p:cNvSpPr txBox="1"/>
          <p:nvPr/>
        </p:nvSpPr>
        <p:spPr>
          <a:xfrm>
            <a:off x="7863840" y="3941064"/>
            <a:ext cx="3520440" cy="457200"/>
          </a:xfrm>
          <a:prstGeom prst="rect">
            <a:avLst/>
          </a:prstGeom>
          <a:noFill/>
          <a:ln/>
        </p:spPr>
        <p:txBody>
          <a:bodyPr wrap="square" lIns="0" tIns="0" rIns="0" bIns="0" rtlCol="0" anchor="t"/>
          <a:lstStyle/>
          <a:p>
            <a:pPr indent="0" marL="0">
              <a:buNone/>
            </a:pPr>
            <a:r>
              <a:rPr lang="fr-FR" altLang="en-US" sz="1400" dirty="0">
                <a:solidFill>
                  <a:schemeClr val="bg1"/>
                </a:solidFill>
              </a:rPr>
              <a:t>Une vue claire de ce que publie chaque créateur, et quand</a:t>
            </a:r>
            <a:endParaRPr lang="fr-FR" sz="1400" dirty="0"/>
          </a:p>
        </p:txBody>
      </p:sp>
      <p:pic>
        <p:nvPicPr>
          <p:cNvPr id="50" name="Image 5" descr="preencoded.png">    </p:cNvPr>
          <p:cNvPicPr>
            <a:picLocks noChangeAspect="1"/>
          </p:cNvPicPr>
          <p:nvPr/>
        </p:nvPicPr>
        <p:blipFill>
          <a:blip r:embed="rId6"/>
          <a:stretch>
            <a:fillRect/>
          </a:stretch>
        </p:blipFill>
        <p:spPr>
          <a:xfrm>
            <a:off x="7452360" y="4672584"/>
            <a:ext cx="256032" cy="256032"/>
          </a:xfrm>
          <a:prstGeom prst="rect">
            <a:avLst/>
          </a:prstGeom>
        </p:spPr>
      </p:pic>
      <p:sp>
        <p:nvSpPr>
          <p:cNvPr id="51" name="Text 42"/>
          <p:cNvSpPr txBox="1"/>
          <p:nvPr/>
        </p:nvSpPr>
        <p:spPr>
          <a:xfrm>
            <a:off x="7863840" y="4654296"/>
            <a:ext cx="3520440" cy="457200"/>
          </a:xfrm>
          <a:prstGeom prst="rect">
            <a:avLst/>
          </a:prstGeom>
          <a:noFill/>
          <a:ln/>
        </p:spPr>
        <p:txBody>
          <a:bodyPr wrap="square" lIns="0" tIns="0" rIns="0" bIns="0" rtlCol="0" anchor="t"/>
          <a:lstStyle/>
          <a:p>
            <a:pPr indent="0" marL="0">
              <a:buNone/>
            </a:pPr>
            <a:r>
              <a:rPr lang="fr-FR" altLang="en-US" sz="1400" dirty="0">
                <a:solidFill>
                  <a:schemeClr val="bg1"/>
                </a:solidFill>
              </a:rPr>
              <a:t>Une visibilité sponsor prouvée, partenaire par partenaire</a:t>
            </a:r>
            <a:endParaRPr lang="fr-FR" sz="1400" dirty="0"/>
          </a:p>
        </p:txBody>
      </p:sp>
      <p:pic>
        <p:nvPicPr>
          <p:cNvPr id="52" name="Image 6" descr="preencoded.png">    </p:cNvPr>
          <p:cNvPicPr>
            <a:picLocks noChangeAspect="1"/>
          </p:cNvPicPr>
          <p:nvPr/>
        </p:nvPicPr>
        <p:blipFill>
          <a:blip r:embed="rId7"/>
          <a:stretch>
            <a:fillRect/>
          </a:stretch>
        </p:blipFill>
        <p:spPr>
          <a:xfrm>
            <a:off x="7452360" y="5385816"/>
            <a:ext cx="256032" cy="256032"/>
          </a:xfrm>
          <a:prstGeom prst="rect">
            <a:avLst/>
          </a:prstGeom>
        </p:spPr>
      </p:pic>
      <p:sp>
        <p:nvSpPr>
          <p:cNvPr id="53" name="Text 43"/>
          <p:cNvSpPr txBox="1"/>
          <p:nvPr/>
        </p:nvSpPr>
        <p:spPr>
          <a:xfrm>
            <a:off x="7863840" y="5367528"/>
            <a:ext cx="3520440" cy="457200"/>
          </a:xfrm>
          <a:prstGeom prst="rect">
            <a:avLst/>
          </a:prstGeom>
          <a:noFill/>
          <a:ln/>
        </p:spPr>
        <p:txBody>
          <a:bodyPr wrap="square" lIns="0" tIns="0" rIns="0" bIns="0" rtlCol="0" anchor="t"/>
          <a:lstStyle/>
          <a:p>
            <a:pPr indent="0" marL="0">
              <a:buNone/>
            </a:pPr>
            <a:r>
              <a:rPr lang="fr-FR" altLang="en-US" sz="1400" dirty="0">
                <a:solidFill>
                  <a:schemeClr val="bg1"/>
                </a:solidFill>
              </a:rPr>
              <a:t>Les chiffres du festival : vues, publics, diaspora, billets</a:t>
            </a:r>
            <a:endParaRPr lang="fr-FR" sz="14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6437376"/>
            <a:ext cx="8229600" cy="237744"/>
          </a:xfrm>
          <a:prstGeom prst="rect">
            <a:avLst/>
          </a:prstGeom>
          <a:noFill/>
          <a:ln/>
        </p:spPr>
        <p:txBody>
          <a:bodyPr wrap="square" lIns="0" tIns="0" rIns="0" bIns="0" rtlCol="0" anchor="ctr"/>
          <a:lstStyle/>
          <a:p>
            <a:pPr indent="0" marL="0">
              <a:buNone/>
            </a:pPr>
            <a:r>
              <a:rPr lang="fr-FR" altLang="en-US" sz="1000" dirty="0">
                <a:solidFill>
                  <a:schemeClr val="accent4"/>
                </a:solidFill>
              </a:rPr>
              <a:t>AToure Management &amp; Consulting</a:t>
            </a:r>
            <a:endParaRPr lang="fr-FR" sz="1000" dirty="0"/>
          </a:p>
        </p:txBody>
      </p:sp>
      <p:sp>
        <p:nvSpPr>
          <p:cNvPr id="4"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1"/>
                </a:solidFill>
              </a:rPr>
              <a:t>POURQUOI MAINTENANT</a:t>
            </a:r>
            <a:endParaRPr lang="fr-FR" sz="1100" dirty="0"/>
          </a:p>
        </p:txBody>
      </p:sp>
      <p:sp>
        <p:nvSpPr>
          <p:cNvPr id="5"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bg1"/>
                </a:solidFill>
              </a:rPr>
              <a:t>Poser les bases l’année de l’anniversaire</a:t>
            </a:r>
            <a:endParaRPr lang="fr-FR" sz="3800" dirty="0"/>
          </a:p>
        </p:txBody>
      </p:sp>
      <p:pic>
        <p:nvPicPr>
          <p:cNvPr id="7" name="Image 1" descr="AToure Management &amp; Consulting">    </p:cNvPr>
          <p:cNvPicPr>
            <a:picLocks noChangeAspect="1"/>
          </p:cNvPicPr>
          <p:nvPr/>
        </p:nvPicPr>
        <p:blipFill>
          <a:blip r:embed="rId2"/>
          <a:stretch>
            <a:fillRect/>
          </a:stretch>
        </p:blipFill>
        <p:spPr>
          <a:xfrm>
            <a:off x="9098280" y="301752"/>
            <a:ext cx="1417320" cy="226771"/>
          </a:xfrm>
          <a:prstGeom prst="rect">
            <a:avLst/>
          </a:prstGeom>
        </p:spPr>
      </p:pic>
      <p:sp>
        <p:nvSpPr>
          <p:cNvPr id="8" name="Text 3"/>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1"/>
                </a:solidFill>
              </a:rPr>
              <a:t>×</a:t>
            </a:r>
            <a:endParaRPr lang="fr-FR" sz="1600" dirty="0"/>
          </a:p>
        </p:txBody>
      </p:sp>
      <p:pic>
        <p:nvPicPr>
          <p:cNvPr id="9" name="Image 2" descr="Mother Africa Festival">    </p:cNvPr>
          <p:cNvPicPr>
            <a:picLocks noChangeAspect="1"/>
          </p:cNvPicPr>
          <p:nvPr/>
        </p:nvPicPr>
        <p:blipFill>
          <a:blip r:embed="rId3"/>
          <a:stretch>
            <a:fillRect/>
          </a:stretch>
        </p:blipFill>
        <p:spPr>
          <a:xfrm>
            <a:off x="10984687" y="182880"/>
            <a:ext cx="657231" cy="466344"/>
          </a:xfrm>
          <a:prstGeom prst="rect">
            <a:avLst/>
          </a:prstGeom>
        </p:spPr>
      </p:pic>
      <p:sp>
        <p:nvSpPr>
          <p:cNvPr id="10" name="Text 4"/>
          <p:cNvSpPr txBox="1"/>
          <p:nvPr/>
        </p:nvSpPr>
        <p:spPr>
          <a:xfrm>
            <a:off x="548640" y="1783080"/>
            <a:ext cx="6903720" cy="685800"/>
          </a:xfrm>
          <a:prstGeom prst="rect">
            <a:avLst/>
          </a:prstGeom>
          <a:noFill/>
          <a:ln/>
        </p:spPr>
        <p:txBody>
          <a:bodyPr wrap="square" lIns="0" tIns="0" rIns="0" bIns="0" rtlCol="0" anchor="t"/>
          <a:lstStyle/>
          <a:p>
            <a:pPr indent="0" marL="0">
              <a:lnSpc>
                <a:spcPct val="110000"/>
              </a:lnSpc>
              <a:buNone/>
            </a:pPr>
            <a:r>
              <a:rPr lang="fr-FR" altLang="en-US" sz="1500" dirty="0">
                <a:solidFill>
                  <a:schemeClr val="accent5"/>
                </a:solidFill>
              </a:rPr>
              <a:t>Cinq éditions, Davido en tête d’affiche : les sponsors vont demander ce que vaut l’audience de Mother Africa. Chaque chiffre produit aujourd’hui prépare cette réponse.</a:t>
            </a:r>
            <a:endParaRPr lang="fr-FR" sz="1500" dirty="0"/>
          </a:p>
        </p:txBody>
      </p:sp>
      <p:sp>
        <p:nvSpPr>
          <p:cNvPr id="11" name="Shape 5"/>
          <p:cNvSpPr/>
          <p:nvPr/>
        </p:nvSpPr>
        <p:spPr>
          <a:xfrm>
            <a:off x="548640" y="2651760"/>
            <a:ext cx="2179320" cy="1188720"/>
          </a:xfrm>
          <a:prstGeom prst="rect">
            <a:avLst/>
          </a:prstGeom>
          <a:solidFill>
            <a:schemeClr val="accent6"/>
          </a:solidFill>
          <a:ln/>
        </p:spPr>
      </p:sp>
      <p:sp>
        <p:nvSpPr>
          <p:cNvPr id="12" name="Shape 6"/>
          <p:cNvSpPr/>
          <p:nvPr/>
        </p:nvSpPr>
        <p:spPr>
          <a:xfrm>
            <a:off x="548640" y="2651760"/>
            <a:ext cx="2179320" cy="45720"/>
          </a:xfrm>
          <a:prstGeom prst="rect">
            <a:avLst/>
          </a:prstGeom>
          <a:solidFill>
            <a:schemeClr val="accent1"/>
          </a:solidFill>
          <a:ln/>
        </p:spPr>
      </p:sp>
      <p:sp>
        <p:nvSpPr>
          <p:cNvPr id="13" name="Text 7"/>
          <p:cNvSpPr txBox="1"/>
          <p:nvPr/>
        </p:nvSpPr>
        <p:spPr>
          <a:xfrm>
            <a:off x="731520" y="2816352"/>
            <a:ext cx="1813560" cy="457200"/>
          </a:xfrm>
          <a:prstGeom prst="rect">
            <a:avLst/>
          </a:prstGeom>
          <a:noFill/>
          <a:ln/>
        </p:spPr>
        <p:txBody>
          <a:bodyPr wrap="square" lIns="0" tIns="0" rIns="0" bIns="0" rtlCol="0" anchor="t"/>
          <a:lstStyle/>
          <a:p>
            <a:pPr indent="0" marL="0">
              <a:buNone/>
            </a:pPr>
            <a:r>
              <a:rPr lang="fr-FR" altLang="en-US" sz="2800" b="1" dirty="0">
                <a:solidFill>
                  <a:schemeClr val="accent4"/>
                </a:solidFill>
              </a:rPr>
              <a:t>5e</a:t>
            </a:r>
            <a:endParaRPr lang="fr-FR" sz="2800" dirty="0"/>
          </a:p>
        </p:txBody>
      </p:sp>
      <p:sp>
        <p:nvSpPr>
          <p:cNvPr id="14" name="Text 8"/>
          <p:cNvSpPr txBox="1"/>
          <p:nvPr/>
        </p:nvSpPr>
        <p:spPr>
          <a:xfrm>
            <a:off x="731520" y="3310128"/>
            <a:ext cx="1859280" cy="457200"/>
          </a:xfrm>
          <a:prstGeom prst="rect">
            <a:avLst/>
          </a:prstGeom>
          <a:noFill/>
          <a:ln/>
        </p:spPr>
        <p:txBody>
          <a:bodyPr wrap="square" lIns="0" tIns="0" rIns="0" bIns="0" rtlCol="0" anchor="t"/>
          <a:lstStyle/>
          <a:p>
            <a:pPr indent="0" marL="0">
              <a:buNone/>
            </a:pPr>
            <a:r>
              <a:rPr lang="fr-FR" altLang="en-US" sz="950" b="1" spc="100" kern="0" dirty="0">
                <a:solidFill>
                  <a:schemeClr val="accent5"/>
                </a:solidFill>
              </a:rPr>
              <a:t>ÉDITION ANNIVERSAIRE</a:t>
            </a:r>
            <a:endParaRPr lang="fr-FR" sz="950" dirty="0"/>
          </a:p>
        </p:txBody>
      </p:sp>
      <p:sp>
        <p:nvSpPr>
          <p:cNvPr id="15" name="Shape 9"/>
          <p:cNvSpPr/>
          <p:nvPr/>
        </p:nvSpPr>
        <p:spPr>
          <a:xfrm>
            <a:off x="2910840" y="2651760"/>
            <a:ext cx="2179320" cy="1188720"/>
          </a:xfrm>
          <a:prstGeom prst="rect">
            <a:avLst/>
          </a:prstGeom>
          <a:solidFill>
            <a:schemeClr val="accent6"/>
          </a:solidFill>
          <a:ln/>
        </p:spPr>
      </p:sp>
      <p:sp>
        <p:nvSpPr>
          <p:cNvPr id="16" name="Shape 10"/>
          <p:cNvSpPr/>
          <p:nvPr/>
        </p:nvSpPr>
        <p:spPr>
          <a:xfrm>
            <a:off x="2910840" y="2651760"/>
            <a:ext cx="2179320" cy="45720"/>
          </a:xfrm>
          <a:prstGeom prst="rect">
            <a:avLst/>
          </a:prstGeom>
          <a:solidFill>
            <a:schemeClr val="accent1"/>
          </a:solidFill>
          <a:ln/>
        </p:spPr>
      </p:sp>
      <p:sp>
        <p:nvSpPr>
          <p:cNvPr id="17" name="Text 11"/>
          <p:cNvSpPr txBox="1"/>
          <p:nvPr/>
        </p:nvSpPr>
        <p:spPr>
          <a:xfrm>
            <a:off x="3093720" y="2816352"/>
            <a:ext cx="1813560" cy="457200"/>
          </a:xfrm>
          <a:prstGeom prst="rect">
            <a:avLst/>
          </a:prstGeom>
          <a:noFill/>
          <a:ln/>
        </p:spPr>
        <p:txBody>
          <a:bodyPr wrap="square" lIns="0" tIns="0" rIns="0" bIns="0" rtlCol="0" anchor="t"/>
          <a:lstStyle/>
          <a:p>
            <a:pPr indent="0" marL="0">
              <a:buNone/>
            </a:pPr>
            <a:r>
              <a:rPr lang="fr-FR" altLang="en-US" sz="2800" b="1" dirty="0">
                <a:solidFill>
                  <a:schemeClr val="accent4"/>
                </a:solidFill>
              </a:rPr>
              <a:t>2 nuits</a:t>
            </a:r>
            <a:endParaRPr lang="fr-FR" sz="2800" dirty="0"/>
          </a:p>
        </p:txBody>
      </p:sp>
      <p:sp>
        <p:nvSpPr>
          <p:cNvPr id="18" name="Text 12"/>
          <p:cNvSpPr txBox="1"/>
          <p:nvPr/>
        </p:nvSpPr>
        <p:spPr>
          <a:xfrm>
            <a:off x="3093720" y="3310128"/>
            <a:ext cx="1859280" cy="457200"/>
          </a:xfrm>
          <a:prstGeom prst="rect">
            <a:avLst/>
          </a:prstGeom>
          <a:noFill/>
          <a:ln/>
        </p:spPr>
        <p:txBody>
          <a:bodyPr wrap="square" lIns="0" tIns="0" rIns="0" bIns="0" rtlCol="0" anchor="t"/>
          <a:lstStyle/>
          <a:p>
            <a:pPr indent="0" marL="0">
              <a:buNone/>
            </a:pPr>
            <a:r>
              <a:rPr lang="fr-FR" altLang="en-US" sz="950" b="1" spc="100" kern="0" dirty="0">
                <a:solidFill>
                  <a:schemeClr val="accent5"/>
                </a:solidFill>
              </a:rPr>
              <a:t>27 ET 28 DÉCEMBRE, MARCORY ZONE 4</a:t>
            </a:r>
            <a:endParaRPr lang="fr-FR" sz="950" dirty="0"/>
          </a:p>
        </p:txBody>
      </p:sp>
      <p:sp>
        <p:nvSpPr>
          <p:cNvPr id="19" name="Shape 13"/>
          <p:cNvSpPr/>
          <p:nvPr/>
        </p:nvSpPr>
        <p:spPr>
          <a:xfrm>
            <a:off x="5273040" y="2651760"/>
            <a:ext cx="2179320" cy="1188720"/>
          </a:xfrm>
          <a:prstGeom prst="rect">
            <a:avLst/>
          </a:prstGeom>
          <a:solidFill>
            <a:schemeClr val="accent6"/>
          </a:solidFill>
          <a:ln/>
        </p:spPr>
      </p:sp>
      <p:sp>
        <p:nvSpPr>
          <p:cNvPr id="20" name="Shape 14"/>
          <p:cNvSpPr/>
          <p:nvPr/>
        </p:nvSpPr>
        <p:spPr>
          <a:xfrm>
            <a:off x="5273040" y="2651760"/>
            <a:ext cx="2179320" cy="45720"/>
          </a:xfrm>
          <a:prstGeom prst="rect">
            <a:avLst/>
          </a:prstGeom>
          <a:solidFill>
            <a:schemeClr val="accent2"/>
          </a:solidFill>
          <a:ln/>
        </p:spPr>
      </p:sp>
      <p:sp>
        <p:nvSpPr>
          <p:cNvPr id="21" name="Text 15"/>
          <p:cNvSpPr txBox="1"/>
          <p:nvPr/>
        </p:nvSpPr>
        <p:spPr>
          <a:xfrm>
            <a:off x="5455920" y="2816352"/>
            <a:ext cx="1813560" cy="457200"/>
          </a:xfrm>
          <a:prstGeom prst="rect">
            <a:avLst/>
          </a:prstGeom>
          <a:noFill/>
          <a:ln/>
        </p:spPr>
        <p:txBody>
          <a:bodyPr wrap="square" lIns="0" tIns="0" rIns="0" bIns="0" rtlCol="0" anchor="t"/>
          <a:lstStyle/>
          <a:p>
            <a:pPr indent="0" marL="0">
              <a:buNone/>
            </a:pPr>
            <a:r>
              <a:rPr lang="fr-FR" altLang="en-US" sz="2800" b="1" dirty="0">
                <a:solidFill>
                  <a:schemeClr val="accent2"/>
                </a:solidFill>
              </a:rPr>
              <a:t>Davido</a:t>
            </a:r>
            <a:endParaRPr lang="fr-FR" sz="2800" dirty="0"/>
          </a:p>
        </p:txBody>
      </p:sp>
      <p:sp>
        <p:nvSpPr>
          <p:cNvPr id="22" name="Text 16"/>
          <p:cNvSpPr txBox="1"/>
          <p:nvPr/>
        </p:nvSpPr>
        <p:spPr>
          <a:xfrm>
            <a:off x="5455920" y="3310128"/>
            <a:ext cx="1859280" cy="457200"/>
          </a:xfrm>
          <a:prstGeom prst="rect">
            <a:avLst/>
          </a:prstGeom>
          <a:noFill/>
          <a:ln/>
        </p:spPr>
        <p:txBody>
          <a:bodyPr wrap="square" lIns="0" tIns="0" rIns="0" bIns="0" rtlCol="0" anchor="t"/>
          <a:lstStyle/>
          <a:p>
            <a:pPr indent="0" marL="0">
              <a:buNone/>
            </a:pPr>
            <a:r>
              <a:rPr lang="fr-FR" altLang="en-US" sz="950" b="1" spc="100" kern="0" dirty="0">
                <a:solidFill>
                  <a:schemeClr val="accent5"/>
                </a:solidFill>
              </a:rPr>
              <a:t>TÊTE D’AFFICHE SUIVIE EN AFRIQUE ET DANS LA DIASPORA</a:t>
            </a:r>
            <a:endParaRPr lang="fr-FR" sz="950" dirty="0"/>
          </a:p>
        </p:txBody>
      </p:sp>
      <p:sp>
        <p:nvSpPr>
          <p:cNvPr id="23" name="Shape 17"/>
          <p:cNvSpPr/>
          <p:nvPr/>
        </p:nvSpPr>
        <p:spPr>
          <a:xfrm>
            <a:off x="548640" y="4069080"/>
            <a:ext cx="6903720" cy="1737360"/>
          </a:xfrm>
          <a:prstGeom prst="roundRect">
            <a:avLst>
              <a:gd name="adj" fmla="val 4211"/>
            </a:avLst>
          </a:prstGeom>
          <a:solidFill>
            <a:schemeClr val="tx1"/>
          </a:solidFill>
          <a:ln w="22225">
            <a:solidFill>
              <a:schemeClr val="accent1"/>
            </a:solidFill>
            <a:prstDash val="solid"/>
          </a:ln>
          <a:effectLst>
            <a:outerShdw sx="100000" sy="100000" kx="0" ky="0" algn="bl" rotWithShape="0" blurRad="228600" dist="50800" dir="5400000">
              <a:srgbClr val="C8A951">
                <a:alpha val="30000"/>
              </a:srgbClr>
            </a:outerShdw>
          </a:effectLst>
        </p:spPr>
      </p:sp>
      <p:sp>
        <p:nvSpPr>
          <p:cNvPr id="24" name="Text 18"/>
          <p:cNvSpPr txBox="1"/>
          <p:nvPr/>
        </p:nvSpPr>
        <p:spPr>
          <a:xfrm>
            <a:off x="822960" y="4270248"/>
            <a:ext cx="3108960" cy="365760"/>
          </a:xfrm>
          <a:prstGeom prst="rect">
            <a:avLst/>
          </a:prstGeom>
          <a:noFill/>
          <a:ln/>
        </p:spPr>
        <p:txBody>
          <a:bodyPr wrap="square" lIns="0" tIns="0" rIns="0" bIns="0" rtlCol="0" anchor="ctr"/>
          <a:lstStyle/>
          <a:p>
            <a:pPr indent="0" marL="0">
              <a:buNone/>
            </a:pPr>
            <a:r>
              <a:rPr lang="fr-FR" altLang="en-US" sz="1700" b="1" spc="100" kern="0" dirty="0">
                <a:solidFill>
                  <a:schemeClr val="accent1"/>
                </a:solidFill>
              </a:rPr>
              <a:t>LE MODÈLE DE REVENUS</a:t>
            </a:r>
            <a:endParaRPr lang="fr-FR" sz="1700" dirty="0"/>
          </a:p>
        </p:txBody>
      </p:sp>
      <p:sp>
        <p:nvSpPr>
          <p:cNvPr id="25" name="Text 19"/>
          <p:cNvSpPr txBox="1"/>
          <p:nvPr/>
        </p:nvSpPr>
        <p:spPr>
          <a:xfrm>
            <a:off x="3291840" y="4270248"/>
            <a:ext cx="3886200" cy="365760"/>
          </a:xfrm>
          <a:prstGeom prst="rect">
            <a:avLst/>
          </a:prstGeom>
          <a:noFill/>
          <a:ln/>
        </p:spPr>
        <p:txBody>
          <a:bodyPr wrap="square" lIns="0" tIns="0" rIns="0" bIns="0" rtlCol="0" anchor="ctr"/>
          <a:lstStyle/>
          <a:p>
            <a:pPr algn="r" indent="0" marL="0">
              <a:buNone/>
            </a:pPr>
            <a:r>
              <a:rPr lang="fr-FR" altLang="en-US" sz="950" b="1" spc="200" kern="0" dirty="0">
                <a:solidFill>
                  <a:schemeClr val="bg1"/>
                </a:solidFill>
              </a:rPr>
              <a:t>D’OÙ VIENT L’ARGENT</a:t>
            </a:r>
            <a:endParaRPr lang="fr-FR" sz="950" dirty="0"/>
          </a:p>
        </p:txBody>
      </p:sp>
      <p:sp>
        <p:nvSpPr>
          <p:cNvPr id="26" name="Shape 20"/>
          <p:cNvSpPr/>
          <p:nvPr/>
        </p:nvSpPr>
        <p:spPr>
          <a:xfrm>
            <a:off x="822960" y="4846320"/>
            <a:ext cx="1288766" cy="731520"/>
          </a:xfrm>
          <a:prstGeom prst="roundRect">
            <a:avLst>
              <a:gd name="adj" fmla="val 7500"/>
            </a:avLst>
          </a:prstGeom>
          <a:solidFill>
            <a:schemeClr val="accent6"/>
          </a:solidFill>
          <a:ln w="6350">
            <a:solidFill>
              <a:schemeClr val="accent5">
                <a:alpha val="25000"/>
              </a:schemeClr>
            </a:solidFill>
            <a:prstDash val="solid"/>
          </a:ln>
        </p:spPr>
      </p:sp>
      <p:sp>
        <p:nvSpPr>
          <p:cNvPr id="27" name="Text 21"/>
          <p:cNvSpPr txBox="1"/>
          <p:nvPr/>
        </p:nvSpPr>
        <p:spPr>
          <a:xfrm>
            <a:off x="877824" y="4846320"/>
            <a:ext cx="1179038" cy="731520"/>
          </a:xfrm>
          <a:prstGeom prst="rect">
            <a:avLst/>
          </a:prstGeom>
          <a:noFill/>
          <a:ln/>
        </p:spPr>
        <p:txBody>
          <a:bodyPr wrap="square" lIns="0" tIns="0" rIns="0" bIns="0" rtlCol="0" anchor="ctr"/>
          <a:lstStyle/>
          <a:p>
            <a:pPr algn="ctr" indent="0" marL="0">
              <a:buNone/>
            </a:pPr>
            <a:r>
              <a:rPr lang="fr-FR" altLang="en-US" sz="1150" b="1" dirty="0">
                <a:solidFill>
                  <a:schemeClr val="bg1"/>
                </a:solidFill>
              </a:rPr>
              <a:t>PLUS DE CRÉATEURS</a:t>
            </a:r>
            <a:endParaRPr lang="fr-FR" sz="1150" dirty="0"/>
          </a:p>
        </p:txBody>
      </p:sp>
      <p:sp>
        <p:nvSpPr>
          <p:cNvPr id="28" name="Text 22"/>
          <p:cNvSpPr txBox="1"/>
          <p:nvPr/>
        </p:nvSpPr>
        <p:spPr>
          <a:xfrm>
            <a:off x="2111726" y="4846320"/>
            <a:ext cx="292608" cy="731520"/>
          </a:xfrm>
          <a:prstGeom prst="rect">
            <a:avLst/>
          </a:prstGeom>
          <a:noFill/>
          <a:ln/>
        </p:spPr>
        <p:txBody>
          <a:bodyPr wrap="square" lIns="0" tIns="0" rIns="0" bIns="0" rtlCol="0" anchor="ctr"/>
          <a:lstStyle/>
          <a:p>
            <a:pPr algn="ctr" indent="0" marL="0">
              <a:buNone/>
            </a:pPr>
            <a:r>
              <a:rPr lang="fr-FR" altLang="en-US" sz="1800" dirty="0">
                <a:solidFill>
                  <a:schemeClr val="accent1"/>
                </a:solidFill>
              </a:rPr>
              <a:t>→</a:t>
            </a:r>
            <a:endParaRPr lang="fr-FR" sz="1800" dirty="0"/>
          </a:p>
        </p:txBody>
      </p:sp>
      <p:sp>
        <p:nvSpPr>
          <p:cNvPr id="29" name="Shape 23"/>
          <p:cNvSpPr/>
          <p:nvPr/>
        </p:nvSpPr>
        <p:spPr>
          <a:xfrm>
            <a:off x="2404334" y="4846320"/>
            <a:ext cx="1288766" cy="731520"/>
          </a:xfrm>
          <a:prstGeom prst="roundRect">
            <a:avLst>
              <a:gd name="adj" fmla="val 7500"/>
            </a:avLst>
          </a:prstGeom>
          <a:solidFill>
            <a:schemeClr val="accent6"/>
          </a:solidFill>
          <a:ln w="6350">
            <a:solidFill>
              <a:schemeClr val="accent5">
                <a:alpha val="25000"/>
              </a:schemeClr>
            </a:solidFill>
            <a:prstDash val="solid"/>
          </a:ln>
        </p:spPr>
      </p:sp>
      <p:sp>
        <p:nvSpPr>
          <p:cNvPr id="30" name="Text 24"/>
          <p:cNvSpPr txBox="1"/>
          <p:nvPr/>
        </p:nvSpPr>
        <p:spPr>
          <a:xfrm>
            <a:off x="2459198" y="4846320"/>
            <a:ext cx="1179038" cy="731520"/>
          </a:xfrm>
          <a:prstGeom prst="rect">
            <a:avLst/>
          </a:prstGeom>
          <a:noFill/>
          <a:ln/>
        </p:spPr>
        <p:txBody>
          <a:bodyPr wrap="square" lIns="0" tIns="0" rIns="0" bIns="0" rtlCol="0" anchor="ctr"/>
          <a:lstStyle/>
          <a:p>
            <a:pPr algn="ctr" indent="0" marL="0">
              <a:buNone/>
            </a:pPr>
            <a:r>
              <a:rPr lang="fr-FR" altLang="en-US" sz="1150" b="1" dirty="0">
                <a:solidFill>
                  <a:schemeClr val="bg1"/>
                </a:solidFill>
              </a:rPr>
              <a:t>PLUS DE VISIBILITÉ</a:t>
            </a:r>
            <a:endParaRPr lang="fr-FR" sz="1150" dirty="0"/>
          </a:p>
        </p:txBody>
      </p:sp>
      <p:sp>
        <p:nvSpPr>
          <p:cNvPr id="31" name="Text 25"/>
          <p:cNvSpPr txBox="1"/>
          <p:nvPr/>
        </p:nvSpPr>
        <p:spPr>
          <a:xfrm>
            <a:off x="3693100" y="4846320"/>
            <a:ext cx="292608" cy="731520"/>
          </a:xfrm>
          <a:prstGeom prst="rect">
            <a:avLst/>
          </a:prstGeom>
          <a:noFill/>
          <a:ln/>
        </p:spPr>
        <p:txBody>
          <a:bodyPr wrap="square" lIns="0" tIns="0" rIns="0" bIns="0" rtlCol="0" anchor="ctr"/>
          <a:lstStyle/>
          <a:p>
            <a:pPr algn="ctr" indent="0" marL="0">
              <a:buNone/>
            </a:pPr>
            <a:r>
              <a:rPr lang="fr-FR" altLang="en-US" sz="1800" dirty="0">
                <a:solidFill>
                  <a:schemeClr val="accent1"/>
                </a:solidFill>
              </a:rPr>
              <a:t>→</a:t>
            </a:r>
            <a:endParaRPr lang="fr-FR" sz="1800" dirty="0"/>
          </a:p>
        </p:txBody>
      </p:sp>
      <p:sp>
        <p:nvSpPr>
          <p:cNvPr id="32" name="Shape 26"/>
          <p:cNvSpPr/>
          <p:nvPr/>
        </p:nvSpPr>
        <p:spPr>
          <a:xfrm>
            <a:off x="3985708" y="4846320"/>
            <a:ext cx="1288766" cy="731520"/>
          </a:xfrm>
          <a:prstGeom prst="roundRect">
            <a:avLst>
              <a:gd name="adj" fmla="val 7500"/>
            </a:avLst>
          </a:prstGeom>
          <a:solidFill>
            <a:schemeClr val="accent6"/>
          </a:solidFill>
          <a:ln w="6350">
            <a:solidFill>
              <a:schemeClr val="accent5">
                <a:alpha val="25000"/>
              </a:schemeClr>
            </a:solidFill>
            <a:prstDash val="solid"/>
          </a:ln>
        </p:spPr>
      </p:sp>
      <p:sp>
        <p:nvSpPr>
          <p:cNvPr id="33" name="Text 27"/>
          <p:cNvSpPr txBox="1"/>
          <p:nvPr/>
        </p:nvSpPr>
        <p:spPr>
          <a:xfrm>
            <a:off x="4040572" y="4846320"/>
            <a:ext cx="1179038" cy="731520"/>
          </a:xfrm>
          <a:prstGeom prst="rect">
            <a:avLst/>
          </a:prstGeom>
          <a:noFill/>
          <a:ln/>
        </p:spPr>
        <p:txBody>
          <a:bodyPr wrap="square" lIns="0" tIns="0" rIns="0" bIns="0" rtlCol="0" anchor="ctr"/>
          <a:lstStyle/>
          <a:p>
            <a:pPr algn="ctr" indent="0" marL="0">
              <a:buNone/>
            </a:pPr>
            <a:r>
              <a:rPr lang="fr-FR" altLang="en-US" sz="1150" b="1" dirty="0">
                <a:solidFill>
                  <a:schemeClr val="bg1"/>
                </a:solidFill>
              </a:rPr>
              <a:t>OBJECTIFS DES MARQUES ATTEINTS</a:t>
            </a:r>
            <a:endParaRPr lang="fr-FR" sz="1150" dirty="0"/>
          </a:p>
        </p:txBody>
      </p:sp>
      <p:sp>
        <p:nvSpPr>
          <p:cNvPr id="34" name="Text 28"/>
          <p:cNvSpPr txBox="1"/>
          <p:nvPr/>
        </p:nvSpPr>
        <p:spPr>
          <a:xfrm>
            <a:off x="5274474" y="4846320"/>
            <a:ext cx="292608" cy="731520"/>
          </a:xfrm>
          <a:prstGeom prst="rect">
            <a:avLst/>
          </a:prstGeom>
          <a:noFill/>
          <a:ln/>
        </p:spPr>
        <p:txBody>
          <a:bodyPr wrap="square" lIns="0" tIns="0" rIns="0" bIns="0" rtlCol="0" anchor="ctr"/>
          <a:lstStyle/>
          <a:p>
            <a:pPr algn="ctr" indent="0" marL="0">
              <a:buNone/>
            </a:pPr>
            <a:r>
              <a:rPr lang="fr-FR" altLang="en-US" sz="1800" dirty="0">
                <a:solidFill>
                  <a:schemeClr val="accent1"/>
                </a:solidFill>
              </a:rPr>
              <a:t>→</a:t>
            </a:r>
            <a:endParaRPr lang="fr-FR" sz="1800" dirty="0"/>
          </a:p>
        </p:txBody>
      </p:sp>
      <p:sp>
        <p:nvSpPr>
          <p:cNvPr id="35" name="Shape 29"/>
          <p:cNvSpPr/>
          <p:nvPr/>
        </p:nvSpPr>
        <p:spPr>
          <a:xfrm>
            <a:off x="5567082" y="4846320"/>
            <a:ext cx="1610958" cy="731520"/>
          </a:xfrm>
          <a:prstGeom prst="roundRect">
            <a:avLst>
              <a:gd name="adj" fmla="val 7500"/>
            </a:avLst>
          </a:prstGeom>
          <a:solidFill>
            <a:schemeClr val="accent1"/>
          </a:solidFill>
          <a:ln/>
        </p:spPr>
      </p:sp>
      <p:sp>
        <p:nvSpPr>
          <p:cNvPr id="36" name="Text 30"/>
          <p:cNvSpPr txBox="1"/>
          <p:nvPr/>
        </p:nvSpPr>
        <p:spPr>
          <a:xfrm>
            <a:off x="5621946" y="4846320"/>
            <a:ext cx="1501230" cy="731520"/>
          </a:xfrm>
          <a:prstGeom prst="rect">
            <a:avLst/>
          </a:prstGeom>
          <a:noFill/>
          <a:ln/>
        </p:spPr>
        <p:txBody>
          <a:bodyPr wrap="square" lIns="0" tIns="0" rIns="0" bIns="0" rtlCol="0" anchor="ctr"/>
          <a:lstStyle/>
          <a:p>
            <a:pPr algn="ctr" indent="0" marL="0">
              <a:buNone/>
            </a:pPr>
            <a:r>
              <a:rPr lang="fr-FR" altLang="en-US" sz="1150" b="1" dirty="0">
                <a:solidFill>
                  <a:schemeClr val="tx1"/>
                </a:solidFill>
              </a:rPr>
              <a:t>ARGENT DES SPONSORS ET INVESTISSEURS</a:t>
            </a:r>
            <a:endParaRPr lang="fr-FR" sz="1150" dirty="0"/>
          </a:p>
        </p:txBody>
      </p:sp>
      <p:sp>
        <p:nvSpPr>
          <p:cNvPr id="37" name="Shape 31"/>
          <p:cNvSpPr/>
          <p:nvPr/>
        </p:nvSpPr>
        <p:spPr>
          <a:xfrm>
            <a:off x="7726680" y="1783080"/>
            <a:ext cx="3916375" cy="4023360"/>
          </a:xfrm>
          <a:prstGeom prst="rect">
            <a:avLst/>
          </a:prstGeom>
          <a:solidFill>
            <a:schemeClr val="accent6"/>
          </a:solidFill>
          <a:ln/>
        </p:spPr>
      </p:sp>
      <p:sp>
        <p:nvSpPr>
          <p:cNvPr id="38" name="Shape 32"/>
          <p:cNvSpPr/>
          <p:nvPr/>
        </p:nvSpPr>
        <p:spPr>
          <a:xfrm>
            <a:off x="7726680" y="1783080"/>
            <a:ext cx="3916375" cy="54864"/>
          </a:xfrm>
          <a:prstGeom prst="rect">
            <a:avLst/>
          </a:prstGeom>
          <a:solidFill>
            <a:schemeClr val="accent1"/>
          </a:solidFill>
          <a:ln/>
        </p:spPr>
      </p:sp>
      <p:pic>
        <p:nvPicPr>
          <p:cNvPr id="39" name="Photo crowd" descr="Une foule lève ses téléphones pour filmer un artiste sur scène, la nuit">    </p:cNvPr>
          <p:cNvPicPr>
            <a:picLocks noChangeAspect="1"/>
          </p:cNvPicPr>
          <p:nvPr/>
        </p:nvPicPr>
        <p:blipFill>
          <a:blip r:embed="rId4"/>
          <a:stretch>
            <a:fillRect/>
          </a:stretch>
        </p:blipFill>
        <p:spPr>
          <a:xfrm>
            <a:off x="7955280" y="2057400"/>
            <a:ext cx="3459175" cy="1941374"/>
          </a:xfrm>
          <a:prstGeom prst="rect">
            <a:avLst/>
          </a:prstGeom>
        </p:spPr>
      </p:pic>
      <p:sp>
        <p:nvSpPr>
          <p:cNvPr id="40" name="Text 33"/>
          <p:cNvSpPr txBox="1"/>
          <p:nvPr/>
        </p:nvSpPr>
        <p:spPr>
          <a:xfrm>
            <a:off x="7955280" y="4114800"/>
            <a:ext cx="3459175" cy="731520"/>
          </a:xfrm>
          <a:prstGeom prst="rect">
            <a:avLst/>
          </a:prstGeom>
          <a:noFill/>
          <a:ln/>
        </p:spPr>
        <p:txBody>
          <a:bodyPr wrap="square" lIns="0" tIns="0" rIns="0" bIns="0" rtlCol="0" anchor="t"/>
          <a:lstStyle/>
          <a:p>
            <a:pPr indent="0" marL="0">
              <a:buNone/>
            </a:pPr>
            <a:r>
              <a:rPr lang="fr-FR" altLang="en-US" sz="2200" dirty="0">
                <a:solidFill>
                  <a:schemeClr val="bg1"/>
                </a:solidFill>
                <a:latin typeface="+mj-lt" pitchFamily="34" charset="0"/>
                <a:ea typeface="+mj-lt" pitchFamily="34" charset="-122"/>
                <a:cs typeface="+mj-lt" pitchFamily="34" charset="-120"/>
              </a:rPr>
              <a:t>Votre public filme déjà</a:t>
            </a:r>
            <a:endParaRPr lang="fr-FR" sz="2200" dirty="0"/>
          </a:p>
        </p:txBody>
      </p:sp>
      <p:sp>
        <p:nvSpPr>
          <p:cNvPr id="41" name="Text 34"/>
          <p:cNvSpPr txBox="1"/>
          <p:nvPr/>
        </p:nvSpPr>
        <p:spPr>
          <a:xfrm>
            <a:off x="7955280" y="4919472"/>
            <a:ext cx="3459175" cy="777240"/>
          </a:xfrm>
          <a:prstGeom prst="rect">
            <a:avLst/>
          </a:prstGeom>
          <a:noFill/>
          <a:ln/>
        </p:spPr>
        <p:txBody>
          <a:bodyPr wrap="square" lIns="0" tIns="0" rIns="0" bIns="0" rtlCol="0" anchor="t"/>
          <a:lstStyle/>
          <a:p>
            <a:pPr indent="0" marL="0">
              <a:buNone/>
            </a:pPr>
            <a:r>
              <a:rPr lang="fr-FR" altLang="en-US" sz="1300" dirty="0">
                <a:solidFill>
                  <a:schemeClr val="accent5"/>
                </a:solidFill>
              </a:rPr>
              <a:t>Chaque téléphone dans la foule est une caméra. AToure veille à ce que les bons créateurs les tiennent, et compte ce qu’ils rapportent.</a:t>
            </a:r>
            <a:endParaRPr lang="fr-FR" sz="13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3"/>
                </a:solidFill>
              </a:rPr>
              <a:t>LA RÉPONSE ATOURE</a:t>
            </a:r>
            <a:endParaRPr lang="fr-FR"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tx1"/>
                </a:solidFill>
              </a:rPr>
              <a:t>Mother Africa ouvre les portes. AToure fait le reste</a:t>
            </a:r>
            <a:endParaRPr lang="fr-FR"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3"/>
                </a:solidFill>
              </a:rPr>
              <a:t>×</a:t>
            </a:r>
            <a:endParaRPr lang="fr-FR"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783080"/>
            <a:ext cx="5396332" cy="3246120"/>
          </a:xfrm>
          <a:prstGeom prst="rect">
            <a:avLst/>
          </a:prstGeom>
          <a:solidFill>
            <a:srgbClr val="FCE9DA"/>
          </a:solidFill>
          <a:ln/>
        </p:spPr>
      </p:sp>
      <p:sp>
        <p:nvSpPr>
          <p:cNvPr id="9" name="Shape 4"/>
          <p:cNvSpPr/>
          <p:nvPr/>
        </p:nvSpPr>
        <p:spPr>
          <a:xfrm>
            <a:off x="548640" y="1783080"/>
            <a:ext cx="5396332" cy="457200"/>
          </a:xfrm>
          <a:prstGeom prst="rect">
            <a:avLst/>
          </a:prstGeom>
          <a:solidFill>
            <a:schemeClr val="accent2"/>
          </a:solidFill>
          <a:ln/>
        </p:spPr>
      </p:sp>
      <p:sp>
        <p:nvSpPr>
          <p:cNvPr id="10" name="Text 5"/>
          <p:cNvSpPr txBox="1"/>
          <p:nvPr/>
        </p:nvSpPr>
        <p:spPr>
          <a:xfrm>
            <a:off x="822960" y="1783080"/>
            <a:ext cx="4939132" cy="457200"/>
          </a:xfrm>
          <a:prstGeom prst="rect">
            <a:avLst/>
          </a:prstGeom>
          <a:noFill/>
          <a:ln/>
        </p:spPr>
        <p:txBody>
          <a:bodyPr wrap="square" lIns="0" tIns="0" rIns="0" bIns="0" rtlCol="0" anchor="ctr"/>
          <a:lstStyle/>
          <a:p>
            <a:pPr indent="0" marL="0">
              <a:buNone/>
            </a:pPr>
            <a:r>
              <a:rPr lang="fr-FR" altLang="en-US" sz="1200" b="1" spc="200" kern="0" dirty="0">
                <a:solidFill>
                  <a:schemeClr val="tx1"/>
                </a:solidFill>
              </a:rPr>
              <a:t>CE QUE MOTHER AFRICA APPORTE</a:t>
            </a:r>
            <a:endParaRPr lang="fr-FR" sz="1200" dirty="0"/>
          </a:p>
        </p:txBody>
      </p:sp>
      <p:sp>
        <p:nvSpPr>
          <p:cNvPr id="11" name="Shape 6"/>
          <p:cNvSpPr/>
          <p:nvPr/>
        </p:nvSpPr>
        <p:spPr>
          <a:xfrm>
            <a:off x="6246724" y="1783080"/>
            <a:ext cx="5396332" cy="3246120"/>
          </a:xfrm>
          <a:prstGeom prst="rect">
            <a:avLst/>
          </a:prstGeom>
          <a:solidFill>
            <a:srgbClr val="F7F1E0"/>
          </a:solidFill>
          <a:ln/>
        </p:spPr>
      </p:sp>
      <p:sp>
        <p:nvSpPr>
          <p:cNvPr id="12" name="Shape 7"/>
          <p:cNvSpPr/>
          <p:nvPr/>
        </p:nvSpPr>
        <p:spPr>
          <a:xfrm>
            <a:off x="6246724" y="1783080"/>
            <a:ext cx="5396332" cy="457200"/>
          </a:xfrm>
          <a:prstGeom prst="rect">
            <a:avLst/>
          </a:prstGeom>
          <a:solidFill>
            <a:schemeClr val="accent1"/>
          </a:solidFill>
          <a:ln/>
        </p:spPr>
      </p:sp>
      <p:sp>
        <p:nvSpPr>
          <p:cNvPr id="13" name="Text 8"/>
          <p:cNvSpPr txBox="1"/>
          <p:nvPr/>
        </p:nvSpPr>
        <p:spPr>
          <a:xfrm>
            <a:off x="6521044" y="1783080"/>
            <a:ext cx="4939132" cy="457200"/>
          </a:xfrm>
          <a:prstGeom prst="rect">
            <a:avLst/>
          </a:prstGeom>
          <a:noFill/>
          <a:ln/>
        </p:spPr>
        <p:txBody>
          <a:bodyPr wrap="square" lIns="0" tIns="0" rIns="0" bIns="0" rtlCol="0" anchor="ctr"/>
          <a:lstStyle/>
          <a:p>
            <a:pPr indent="0" marL="0">
              <a:buNone/>
            </a:pPr>
            <a:r>
              <a:rPr lang="fr-FR" altLang="en-US" sz="1200" b="1" spc="200" kern="0" dirty="0">
                <a:solidFill>
                  <a:schemeClr val="tx1"/>
                </a:solidFill>
              </a:rPr>
              <a:t>CE QU’ATOURE RÉALISE</a:t>
            </a:r>
            <a:endParaRPr lang="fr-FR" sz="1200" dirty="0"/>
          </a:p>
        </p:txBody>
      </p:sp>
      <p:sp>
        <p:nvSpPr>
          <p:cNvPr id="14" name="Shape 9"/>
          <p:cNvSpPr/>
          <p:nvPr/>
        </p:nvSpPr>
        <p:spPr>
          <a:xfrm>
            <a:off x="822960" y="2450592"/>
            <a:ext cx="438912" cy="438912"/>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928299" y="2555931"/>
            <a:ext cx="228234" cy="228234"/>
          </a:xfrm>
          <a:prstGeom prst="rect">
            <a:avLst/>
          </a:prstGeom>
        </p:spPr>
      </p:pic>
      <p:sp>
        <p:nvSpPr>
          <p:cNvPr id="16" name="Text 10"/>
          <p:cNvSpPr txBox="1"/>
          <p:nvPr/>
        </p:nvSpPr>
        <p:spPr>
          <a:xfrm>
            <a:off x="1417320" y="2450592"/>
            <a:ext cx="4299052" cy="438912"/>
          </a:xfrm>
          <a:prstGeom prst="rect">
            <a:avLst/>
          </a:prstGeom>
          <a:noFill/>
          <a:ln/>
        </p:spPr>
        <p:txBody>
          <a:bodyPr wrap="square" lIns="0" tIns="0" rIns="0" bIns="0" rtlCol="0" anchor="ctr"/>
          <a:lstStyle/>
          <a:p>
            <a:pPr indent="0" marL="0">
              <a:buNone/>
            </a:pPr>
            <a:r>
              <a:rPr lang="fr-FR" altLang="en-US" sz="1400" dirty="0">
                <a:solidFill>
                  <a:schemeClr val="tx1"/>
                </a:solidFill>
              </a:rPr>
              <a:t>Accréditations et zones d’accès pour les créateurs</a:t>
            </a:r>
            <a:endParaRPr lang="fr-FR" sz="1400" dirty="0"/>
          </a:p>
        </p:txBody>
      </p:sp>
      <p:sp>
        <p:nvSpPr>
          <p:cNvPr id="17" name="Shape 11"/>
          <p:cNvSpPr/>
          <p:nvPr/>
        </p:nvSpPr>
        <p:spPr>
          <a:xfrm>
            <a:off x="822960" y="3090672"/>
            <a:ext cx="438912" cy="438912"/>
          </a:xfrm>
          <a:prstGeom prst="ellipse">
            <a:avLst/>
          </a:prstGeom>
          <a:solidFill>
            <a:schemeClr val="accent2"/>
          </a:solidFill>
          <a:ln/>
        </p:spPr>
      </p:sp>
      <p:pic>
        <p:nvPicPr>
          <p:cNvPr id="18" name="Image 3" descr="preencoded.png">    </p:cNvPr>
          <p:cNvPicPr>
            <a:picLocks noChangeAspect="1"/>
          </p:cNvPicPr>
          <p:nvPr/>
        </p:nvPicPr>
        <p:blipFill>
          <a:blip r:embed="rId4"/>
          <a:stretch>
            <a:fillRect/>
          </a:stretch>
        </p:blipFill>
        <p:spPr>
          <a:xfrm>
            <a:off x="928299" y="3196011"/>
            <a:ext cx="228234" cy="228234"/>
          </a:xfrm>
          <a:prstGeom prst="rect">
            <a:avLst/>
          </a:prstGeom>
        </p:spPr>
      </p:pic>
      <p:sp>
        <p:nvSpPr>
          <p:cNvPr id="19" name="Text 12"/>
          <p:cNvSpPr txBox="1"/>
          <p:nvPr/>
        </p:nvSpPr>
        <p:spPr>
          <a:xfrm>
            <a:off x="1417320" y="3090672"/>
            <a:ext cx="4299052" cy="438912"/>
          </a:xfrm>
          <a:prstGeom prst="rect">
            <a:avLst/>
          </a:prstGeom>
          <a:noFill/>
          <a:ln/>
        </p:spPr>
        <p:txBody>
          <a:bodyPr wrap="square" lIns="0" tIns="0" rIns="0" bIns="0" rtlCol="0" anchor="ctr"/>
          <a:lstStyle/>
          <a:p>
            <a:pPr indent="0" marL="0">
              <a:buNone/>
            </a:pPr>
            <a:r>
              <a:rPr lang="fr-FR" altLang="en-US" sz="1400" dirty="0">
                <a:solidFill>
                  <a:schemeClr val="tx1"/>
                </a:solidFill>
              </a:rPr>
              <a:t>La charte de marque et les messages clés</a:t>
            </a:r>
            <a:endParaRPr lang="fr-FR" sz="1400" dirty="0"/>
          </a:p>
        </p:txBody>
      </p:sp>
      <p:sp>
        <p:nvSpPr>
          <p:cNvPr id="20" name="Shape 13"/>
          <p:cNvSpPr/>
          <p:nvPr/>
        </p:nvSpPr>
        <p:spPr>
          <a:xfrm>
            <a:off x="822960" y="3730752"/>
            <a:ext cx="438912" cy="438912"/>
          </a:xfrm>
          <a:prstGeom prst="ellipse">
            <a:avLst/>
          </a:prstGeom>
          <a:solidFill>
            <a:schemeClr val="accent2"/>
          </a:solidFill>
          <a:ln/>
        </p:spPr>
      </p:sp>
      <p:pic>
        <p:nvPicPr>
          <p:cNvPr id="21" name="Image 4" descr="preencoded.png">    </p:cNvPr>
          <p:cNvPicPr>
            <a:picLocks noChangeAspect="1"/>
          </p:cNvPicPr>
          <p:nvPr/>
        </p:nvPicPr>
        <p:blipFill>
          <a:blip r:embed="rId5"/>
          <a:stretch>
            <a:fillRect/>
          </a:stretch>
        </p:blipFill>
        <p:spPr>
          <a:xfrm>
            <a:off x="928299" y="3836091"/>
            <a:ext cx="228234" cy="228234"/>
          </a:xfrm>
          <a:prstGeom prst="rect">
            <a:avLst/>
          </a:prstGeom>
        </p:spPr>
      </p:pic>
      <p:sp>
        <p:nvSpPr>
          <p:cNvPr id="22" name="Text 14"/>
          <p:cNvSpPr txBox="1"/>
          <p:nvPr/>
        </p:nvSpPr>
        <p:spPr>
          <a:xfrm>
            <a:off x="1417320" y="3730752"/>
            <a:ext cx="4299052" cy="438912"/>
          </a:xfrm>
          <a:prstGeom prst="rect">
            <a:avLst/>
          </a:prstGeom>
          <a:noFill/>
          <a:ln/>
        </p:spPr>
        <p:txBody>
          <a:bodyPr wrap="square" lIns="0" tIns="0" rIns="0" bIns="0" rtlCol="0" anchor="ctr"/>
          <a:lstStyle/>
          <a:p>
            <a:pPr indent="0" marL="0">
              <a:buNone/>
            </a:pPr>
            <a:r>
              <a:rPr lang="fr-FR" altLang="en-US" sz="1400" dirty="0">
                <a:solidFill>
                  <a:schemeClr val="tx1"/>
                </a:solidFill>
              </a:rPr>
              <a:t>Les liens de billetterie, et des codes si le festival le souhaite</a:t>
            </a:r>
            <a:endParaRPr lang="fr-FR" sz="1400" dirty="0"/>
          </a:p>
        </p:txBody>
      </p:sp>
      <p:sp>
        <p:nvSpPr>
          <p:cNvPr id="23" name="Shape 15"/>
          <p:cNvSpPr/>
          <p:nvPr/>
        </p:nvSpPr>
        <p:spPr>
          <a:xfrm>
            <a:off x="822960" y="4370832"/>
            <a:ext cx="438912" cy="438912"/>
          </a:xfrm>
          <a:prstGeom prst="ellipse">
            <a:avLst/>
          </a:prstGeom>
          <a:solidFill>
            <a:schemeClr val="accent2"/>
          </a:solidFill>
          <a:ln/>
        </p:spPr>
      </p:sp>
      <p:pic>
        <p:nvPicPr>
          <p:cNvPr id="24" name="Image 5" descr="preencoded.png">    </p:cNvPr>
          <p:cNvPicPr>
            <a:picLocks noChangeAspect="1"/>
          </p:cNvPicPr>
          <p:nvPr/>
        </p:nvPicPr>
        <p:blipFill>
          <a:blip r:embed="rId6"/>
          <a:stretch>
            <a:fillRect/>
          </a:stretch>
        </p:blipFill>
        <p:spPr>
          <a:xfrm>
            <a:off x="928299" y="4476171"/>
            <a:ext cx="228234" cy="228234"/>
          </a:xfrm>
          <a:prstGeom prst="rect">
            <a:avLst/>
          </a:prstGeom>
        </p:spPr>
      </p:pic>
      <p:sp>
        <p:nvSpPr>
          <p:cNvPr id="25" name="Text 16"/>
          <p:cNvSpPr txBox="1"/>
          <p:nvPr/>
        </p:nvSpPr>
        <p:spPr>
          <a:xfrm>
            <a:off x="1417320" y="4370832"/>
            <a:ext cx="4299052" cy="438912"/>
          </a:xfrm>
          <a:prstGeom prst="rect">
            <a:avLst/>
          </a:prstGeom>
          <a:noFill/>
          <a:ln/>
        </p:spPr>
        <p:txBody>
          <a:bodyPr wrap="square" lIns="0" tIns="0" rIns="0" bIns="0" rtlCol="0" anchor="ctr"/>
          <a:lstStyle/>
          <a:p>
            <a:pPr indent="0" marL="0">
              <a:buNone/>
            </a:pPr>
            <a:r>
              <a:rPr lang="fr-FR" altLang="en-US" sz="1400" dirty="0">
                <a:solidFill>
                  <a:schemeClr val="tx1"/>
                </a:solidFill>
              </a:rPr>
              <a:t>Un contact dans l’équipe de production</a:t>
            </a:r>
            <a:endParaRPr lang="fr-FR" sz="1400" dirty="0"/>
          </a:p>
        </p:txBody>
      </p:sp>
      <p:sp>
        <p:nvSpPr>
          <p:cNvPr id="26" name="Shape 17"/>
          <p:cNvSpPr/>
          <p:nvPr/>
        </p:nvSpPr>
        <p:spPr>
          <a:xfrm>
            <a:off x="6521044" y="2450592"/>
            <a:ext cx="438912" cy="438912"/>
          </a:xfrm>
          <a:prstGeom prst="ellipse">
            <a:avLst/>
          </a:prstGeom>
          <a:solidFill>
            <a:schemeClr val="accent1"/>
          </a:solidFill>
          <a:ln/>
        </p:spPr>
      </p:sp>
      <p:sp>
        <p:nvSpPr>
          <p:cNvPr id="27" name="Text 18"/>
          <p:cNvSpPr txBox="1"/>
          <p:nvPr/>
        </p:nvSpPr>
        <p:spPr>
          <a:xfrm>
            <a:off x="6521044" y="2450592"/>
            <a:ext cx="438912" cy="438912"/>
          </a:xfrm>
          <a:prstGeom prst="rect">
            <a:avLst/>
          </a:prstGeom>
          <a:noFill/>
          <a:ln/>
        </p:spPr>
        <p:txBody>
          <a:bodyPr wrap="square" lIns="0" tIns="0" rIns="0" bIns="0" rtlCol="0" anchor="ctr"/>
          <a:lstStyle/>
          <a:p>
            <a:pPr algn="ctr" indent="0" marL="0">
              <a:buNone/>
            </a:pPr>
            <a:r>
              <a:rPr lang="fr-FR" altLang="en-US" sz="1300" b="1" dirty="0">
                <a:solidFill>
                  <a:schemeClr val="tx1"/>
                </a:solidFill>
              </a:rPr>
              <a:t>1</a:t>
            </a:r>
            <a:endParaRPr lang="fr-FR" sz="1300" dirty="0"/>
          </a:p>
        </p:txBody>
      </p:sp>
      <p:sp>
        <p:nvSpPr>
          <p:cNvPr id="28" name="Text 19"/>
          <p:cNvSpPr txBox="1"/>
          <p:nvPr/>
        </p:nvSpPr>
        <p:spPr>
          <a:xfrm>
            <a:off x="7115404" y="2404872"/>
            <a:ext cx="4299052" cy="347472"/>
          </a:xfrm>
          <a:prstGeom prst="rect">
            <a:avLst/>
          </a:prstGeom>
          <a:noFill/>
          <a:ln/>
        </p:spPr>
        <p:txBody>
          <a:bodyPr wrap="square" lIns="0" tIns="0" rIns="0" bIns="0" rtlCol="0" anchor="t"/>
          <a:lstStyle/>
          <a:p>
            <a:pPr indent="0" marL="0">
              <a:buNone/>
            </a:pPr>
            <a:r>
              <a:rPr lang="fr-FR" altLang="en-US" sz="1800" dirty="0">
                <a:solidFill>
                  <a:schemeClr val="tx1"/>
                </a:solidFill>
                <a:latin typeface="+mj-lt" pitchFamily="34" charset="0"/>
                <a:ea typeface="+mj-lt" pitchFamily="34" charset="-122"/>
                <a:cs typeface="+mj-lt" pitchFamily="34" charset="-120"/>
              </a:rPr>
              <a:t>Accès aux talents</a:t>
            </a:r>
            <a:endParaRPr lang="fr-FR" sz="1800" dirty="0"/>
          </a:p>
        </p:txBody>
      </p:sp>
      <p:sp>
        <p:nvSpPr>
          <p:cNvPr id="29" name="Text 20"/>
          <p:cNvSpPr txBox="1"/>
          <p:nvPr/>
        </p:nvSpPr>
        <p:spPr>
          <a:xfrm>
            <a:off x="7115404" y="2752344"/>
            <a:ext cx="4299052" cy="310896"/>
          </a:xfrm>
          <a:prstGeom prst="rect">
            <a:avLst/>
          </a:prstGeom>
          <a:noFill/>
          <a:ln/>
        </p:spPr>
        <p:txBody>
          <a:bodyPr wrap="square" lIns="0" tIns="0" rIns="0" bIns="0" rtlCol="0" anchor="t"/>
          <a:lstStyle/>
          <a:p>
            <a:pPr indent="0" marL="0">
              <a:buNone/>
            </a:pPr>
            <a:r>
              <a:rPr lang="fr-FR" altLang="en-US" sz="1300" dirty="0">
                <a:solidFill>
                  <a:schemeClr val="tx2"/>
                </a:solidFill>
              </a:rPr>
              <a:t>Des créateurs adaptés aux publics que vise Mother Africa</a:t>
            </a:r>
            <a:endParaRPr lang="fr-FR" sz="1300" dirty="0"/>
          </a:p>
        </p:txBody>
      </p:sp>
      <p:sp>
        <p:nvSpPr>
          <p:cNvPr id="30" name="Shape 21"/>
          <p:cNvSpPr/>
          <p:nvPr/>
        </p:nvSpPr>
        <p:spPr>
          <a:xfrm>
            <a:off x="6521044" y="3291840"/>
            <a:ext cx="438912" cy="438912"/>
          </a:xfrm>
          <a:prstGeom prst="ellipse">
            <a:avLst/>
          </a:prstGeom>
          <a:solidFill>
            <a:schemeClr val="accent1"/>
          </a:solidFill>
          <a:ln/>
        </p:spPr>
      </p:sp>
      <p:sp>
        <p:nvSpPr>
          <p:cNvPr id="31" name="Text 22"/>
          <p:cNvSpPr txBox="1"/>
          <p:nvPr/>
        </p:nvSpPr>
        <p:spPr>
          <a:xfrm>
            <a:off x="6521044" y="3291840"/>
            <a:ext cx="438912" cy="438912"/>
          </a:xfrm>
          <a:prstGeom prst="rect">
            <a:avLst/>
          </a:prstGeom>
          <a:noFill/>
          <a:ln/>
        </p:spPr>
        <p:txBody>
          <a:bodyPr wrap="square" lIns="0" tIns="0" rIns="0" bIns="0" rtlCol="0" anchor="ctr"/>
          <a:lstStyle/>
          <a:p>
            <a:pPr algn="ctr" indent="0" marL="0">
              <a:buNone/>
            </a:pPr>
            <a:r>
              <a:rPr lang="fr-FR" altLang="en-US" sz="1300" b="1" dirty="0">
                <a:solidFill>
                  <a:schemeClr val="tx1"/>
                </a:solidFill>
              </a:rPr>
              <a:t>2</a:t>
            </a:r>
            <a:endParaRPr lang="fr-FR" sz="1300" dirty="0"/>
          </a:p>
        </p:txBody>
      </p:sp>
      <p:sp>
        <p:nvSpPr>
          <p:cNvPr id="32" name="Text 23"/>
          <p:cNvSpPr txBox="1"/>
          <p:nvPr/>
        </p:nvSpPr>
        <p:spPr>
          <a:xfrm>
            <a:off x="7115404" y="3246120"/>
            <a:ext cx="4299052" cy="347472"/>
          </a:xfrm>
          <a:prstGeom prst="rect">
            <a:avLst/>
          </a:prstGeom>
          <a:noFill/>
          <a:ln/>
        </p:spPr>
        <p:txBody>
          <a:bodyPr wrap="square" lIns="0" tIns="0" rIns="0" bIns="0" rtlCol="0" anchor="t"/>
          <a:lstStyle/>
          <a:p>
            <a:pPr indent="0" marL="0">
              <a:buNone/>
            </a:pPr>
            <a:r>
              <a:rPr lang="fr-FR" altLang="en-US" sz="1800" dirty="0">
                <a:solidFill>
                  <a:schemeClr val="tx1"/>
                </a:solidFill>
                <a:latin typeface="+mj-lt" pitchFamily="34" charset="0"/>
                <a:ea typeface="+mj-lt" pitchFamily="34" charset="-122"/>
                <a:cs typeface="+mj-lt" pitchFamily="34" charset="-120"/>
              </a:rPr>
              <a:t>Gestion des créateurs sur le terrain</a:t>
            </a:r>
            <a:endParaRPr lang="fr-FR" sz="1800" dirty="0"/>
          </a:p>
        </p:txBody>
      </p:sp>
      <p:sp>
        <p:nvSpPr>
          <p:cNvPr id="33" name="Text 24"/>
          <p:cNvSpPr txBox="1"/>
          <p:nvPr/>
        </p:nvSpPr>
        <p:spPr>
          <a:xfrm>
            <a:off x="7115404" y="3593592"/>
            <a:ext cx="4299052" cy="310896"/>
          </a:xfrm>
          <a:prstGeom prst="rect">
            <a:avLst/>
          </a:prstGeom>
          <a:noFill/>
          <a:ln/>
        </p:spPr>
        <p:txBody>
          <a:bodyPr wrap="square" lIns="0" tIns="0" rIns="0" bIns="0" rtlCol="0" anchor="t"/>
          <a:lstStyle/>
          <a:p>
            <a:pPr indent="0" marL="0">
              <a:buNone/>
            </a:pPr>
            <a:r>
              <a:rPr lang="fr-FR" altLang="en-US" sz="1300" dirty="0">
                <a:solidFill>
                  <a:schemeClr val="tx2"/>
                </a:solidFill>
              </a:rPr>
              <a:t>Briefs, accréditations, validations et un seul interlocuteur</a:t>
            </a:r>
            <a:endParaRPr lang="fr-FR" sz="1300" dirty="0"/>
          </a:p>
        </p:txBody>
      </p:sp>
      <p:sp>
        <p:nvSpPr>
          <p:cNvPr id="34" name="Shape 25"/>
          <p:cNvSpPr/>
          <p:nvPr/>
        </p:nvSpPr>
        <p:spPr>
          <a:xfrm>
            <a:off x="6521044" y="4133088"/>
            <a:ext cx="438912" cy="438912"/>
          </a:xfrm>
          <a:prstGeom prst="ellipse">
            <a:avLst/>
          </a:prstGeom>
          <a:solidFill>
            <a:schemeClr val="accent1"/>
          </a:solidFill>
          <a:ln/>
        </p:spPr>
      </p:sp>
      <p:sp>
        <p:nvSpPr>
          <p:cNvPr id="35" name="Text 26"/>
          <p:cNvSpPr txBox="1"/>
          <p:nvPr/>
        </p:nvSpPr>
        <p:spPr>
          <a:xfrm>
            <a:off x="6521044" y="4133088"/>
            <a:ext cx="438912" cy="438912"/>
          </a:xfrm>
          <a:prstGeom prst="rect">
            <a:avLst/>
          </a:prstGeom>
          <a:noFill/>
          <a:ln/>
        </p:spPr>
        <p:txBody>
          <a:bodyPr wrap="square" lIns="0" tIns="0" rIns="0" bIns="0" rtlCol="0" anchor="ctr"/>
          <a:lstStyle/>
          <a:p>
            <a:pPr algn="ctr" indent="0" marL="0">
              <a:buNone/>
            </a:pPr>
            <a:r>
              <a:rPr lang="fr-FR" altLang="en-US" sz="1300" b="1" dirty="0">
                <a:solidFill>
                  <a:schemeClr val="tx1"/>
                </a:solidFill>
              </a:rPr>
              <a:t>3</a:t>
            </a:r>
            <a:endParaRPr lang="fr-FR" sz="1300" dirty="0"/>
          </a:p>
        </p:txBody>
      </p:sp>
      <p:sp>
        <p:nvSpPr>
          <p:cNvPr id="36" name="Text 27"/>
          <p:cNvSpPr txBox="1"/>
          <p:nvPr/>
        </p:nvSpPr>
        <p:spPr>
          <a:xfrm>
            <a:off x="7115404" y="4087368"/>
            <a:ext cx="4299052" cy="347472"/>
          </a:xfrm>
          <a:prstGeom prst="rect">
            <a:avLst/>
          </a:prstGeom>
          <a:noFill/>
          <a:ln/>
        </p:spPr>
        <p:txBody>
          <a:bodyPr wrap="square" lIns="0" tIns="0" rIns="0" bIns="0" rtlCol="0" anchor="t"/>
          <a:lstStyle/>
          <a:p>
            <a:pPr indent="0" marL="0">
              <a:buNone/>
            </a:pPr>
            <a:r>
              <a:rPr lang="fr-FR" altLang="en-US" sz="1800" dirty="0">
                <a:solidFill>
                  <a:schemeClr val="tx1"/>
                </a:solidFill>
                <a:latin typeface="+mj-lt" pitchFamily="34" charset="0"/>
                <a:ea typeface="+mj-lt" pitchFamily="34" charset="-122"/>
                <a:cs typeface="+mj-lt" pitchFamily="34" charset="-120"/>
              </a:rPr>
              <a:t>Le rapport de visibilité</a:t>
            </a:r>
            <a:endParaRPr lang="fr-FR" sz="1800" dirty="0"/>
          </a:p>
        </p:txBody>
      </p:sp>
      <p:sp>
        <p:nvSpPr>
          <p:cNvPr id="37" name="Text 28"/>
          <p:cNvSpPr txBox="1"/>
          <p:nvPr/>
        </p:nvSpPr>
        <p:spPr>
          <a:xfrm>
            <a:off x="7115404" y="4434840"/>
            <a:ext cx="4299052" cy="310896"/>
          </a:xfrm>
          <a:prstGeom prst="rect">
            <a:avLst/>
          </a:prstGeom>
          <a:noFill/>
          <a:ln/>
        </p:spPr>
        <p:txBody>
          <a:bodyPr wrap="square" lIns="0" tIns="0" rIns="0" bIns="0" rtlCol="0" anchor="t"/>
          <a:lstStyle/>
          <a:p>
            <a:pPr indent="0" marL="0">
              <a:buNone/>
            </a:pPr>
            <a:r>
              <a:rPr lang="fr-FR" altLang="en-US" sz="1300" dirty="0">
                <a:solidFill>
                  <a:schemeClr val="tx2"/>
                </a:solidFill>
              </a:rPr>
              <a:t>Un point à 48 heures, le rapport complet au 14e jour</a:t>
            </a:r>
            <a:endParaRPr lang="fr-FR" sz="1300" dirty="0"/>
          </a:p>
        </p:txBody>
      </p:sp>
      <p:sp>
        <p:nvSpPr>
          <p:cNvPr id="38" name="Shape 29"/>
          <p:cNvSpPr/>
          <p:nvPr/>
        </p:nvSpPr>
        <p:spPr>
          <a:xfrm>
            <a:off x="548640" y="5257800"/>
            <a:ext cx="11094415" cy="731520"/>
          </a:xfrm>
          <a:prstGeom prst="roundRect">
            <a:avLst>
              <a:gd name="adj" fmla="val 12500"/>
            </a:avLst>
          </a:prstGeom>
          <a:solidFill>
            <a:schemeClr val="tx1"/>
          </a:solidFill>
          <a:ln/>
        </p:spPr>
      </p:sp>
      <p:sp>
        <p:nvSpPr>
          <p:cNvPr id="39" name="Text 30"/>
          <p:cNvSpPr txBox="1"/>
          <p:nvPr/>
        </p:nvSpPr>
        <p:spPr>
          <a:xfrm>
            <a:off x="822960" y="5257800"/>
            <a:ext cx="10515600" cy="731520"/>
          </a:xfrm>
          <a:prstGeom prst="rect">
            <a:avLst/>
          </a:prstGeom>
          <a:noFill/>
          <a:ln/>
        </p:spPr>
        <p:txBody>
          <a:bodyPr wrap="square" lIns="0" tIns="0" rIns="0" bIns="0" rtlCol="0" anchor="ctr"/>
          <a:lstStyle/>
          <a:p>
            <a:pPr indent="0" marL="0">
              <a:buNone/>
            </a:pPr>
            <a:r>
              <a:rPr lang="fr-FR" altLang="en-US" sz="1900" dirty="0">
                <a:solidFill>
                  <a:schemeClr val="bg1"/>
                </a:solidFill>
                <a:latin typeface="+mj-lt" pitchFamily="34" charset="0"/>
                <a:ea typeface="+mj-lt" pitchFamily="34" charset="-122"/>
                <a:cs typeface="+mj-lt" pitchFamily="34" charset="-120"/>
              </a:rPr>
              <a:t>Les créateurs produisent la visibilité. AToure la rend mesurable, pour que le festival puisse la vendre à ses sponsors.</a:t>
            </a:r>
            <a:endParaRPr lang="fr-FR" sz="19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3"/>
                </a:solidFill>
              </a:rPr>
              <a:t>GESTION DES CRÉATEURS SUR LE TERRAIN</a:t>
            </a:r>
            <a:endParaRPr lang="fr-FR"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tx1"/>
                </a:solidFill>
              </a:rPr>
              <a:t>AToure gère chaque créateur, du début à la fin</a:t>
            </a:r>
            <a:endParaRPr lang="fr-FR"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3"/>
                </a:solidFill>
              </a:rPr>
              <a:t>×</a:t>
            </a:r>
            <a:endParaRPr lang="fr-FR"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9" name="Shape 4"/>
          <p:cNvSpPr/>
          <p:nvPr/>
        </p:nvSpPr>
        <p:spPr>
          <a:xfrm>
            <a:off x="777240" y="2011680"/>
            <a:ext cx="457200" cy="457200"/>
          </a:xfrm>
          <a:prstGeom prst="ellipse">
            <a:avLst/>
          </a:prstGeom>
          <a:solidFill>
            <a:schemeClr val="accent1"/>
          </a:solidFill>
          <a:ln/>
        </p:spPr>
      </p:sp>
      <p:sp>
        <p:nvSpPr>
          <p:cNvPr id="10" name="Text 5"/>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fr-FR" altLang="en-US" sz="1400" b="1" dirty="0">
                <a:solidFill>
                  <a:schemeClr val="tx1"/>
                </a:solidFill>
              </a:rPr>
              <a:t>1</a:t>
            </a:r>
            <a:endParaRPr lang="fr-FR" sz="1400" dirty="0"/>
          </a:p>
        </p:txBody>
      </p:sp>
      <p:sp>
        <p:nvSpPr>
          <p:cNvPr id="11" name="Text 6"/>
          <p:cNvSpPr txBox="1"/>
          <p:nvPr/>
        </p:nvSpPr>
        <p:spPr>
          <a:xfrm>
            <a:off x="777240" y="2651760"/>
            <a:ext cx="1645920" cy="365760"/>
          </a:xfrm>
          <a:prstGeom prst="rect">
            <a:avLst/>
          </a:prstGeom>
          <a:noFill/>
          <a:ln/>
        </p:spPr>
        <p:txBody>
          <a:bodyPr wrap="square" lIns="0" tIns="0" rIns="0" bIns="0" rtlCol="0" anchor="t"/>
          <a:lstStyle/>
          <a:p>
            <a:pPr indent="0" marL="0">
              <a:buNone/>
            </a:pPr>
            <a:r>
              <a:rPr lang="fr-FR" altLang="en-US" sz="1900" dirty="0">
                <a:solidFill>
                  <a:schemeClr val="tx1"/>
                </a:solidFill>
                <a:latin typeface="+mj-lt" pitchFamily="34" charset="0"/>
                <a:ea typeface="+mj-lt" pitchFamily="34" charset="-122"/>
                <a:cs typeface="+mj-lt" pitchFamily="34" charset="-120"/>
              </a:rPr>
              <a:t>Repérage</a:t>
            </a:r>
            <a:endParaRPr lang="fr-FR" sz="1900" dirty="0"/>
          </a:p>
        </p:txBody>
      </p:sp>
      <p:sp>
        <p:nvSpPr>
          <p:cNvPr id="12" name="Text 7"/>
          <p:cNvSpPr txBox="1"/>
          <p:nvPr/>
        </p:nvSpPr>
        <p:spPr>
          <a:xfrm>
            <a:off x="777240" y="3063240"/>
            <a:ext cx="1600200" cy="914400"/>
          </a:xfrm>
          <a:prstGeom prst="rect">
            <a:avLst/>
          </a:prstGeom>
          <a:noFill/>
          <a:ln/>
        </p:spPr>
        <p:txBody>
          <a:bodyPr wrap="square" lIns="0" tIns="0" rIns="0" bIns="0" rtlCol="0" anchor="t"/>
          <a:lstStyle/>
          <a:p>
            <a:pPr indent="0" marL="0">
              <a:buNone/>
            </a:pPr>
            <a:r>
              <a:rPr lang="fr-FR" altLang="en-US" sz="1300" dirty="0">
                <a:solidFill>
                  <a:schemeClr val="tx2"/>
                </a:solidFill>
              </a:rPr>
              <a:t>Des créateurs adaptés au festival, aux audiences vérifiées.</a:t>
            </a:r>
            <a:endParaRPr lang="fr-FR" sz="1300" dirty="0"/>
          </a:p>
        </p:txBody>
      </p:sp>
      <p:sp>
        <p:nvSpPr>
          <p:cNvPr id="13" name="Text 8"/>
          <p:cNvSpPr txBox="1"/>
          <p:nvPr/>
        </p:nvSpPr>
        <p:spPr>
          <a:xfrm>
            <a:off x="777240" y="4069080"/>
            <a:ext cx="1600200" cy="256032"/>
          </a:xfrm>
          <a:prstGeom prst="rect">
            <a:avLst/>
          </a:prstGeom>
          <a:noFill/>
          <a:ln/>
        </p:spPr>
        <p:txBody>
          <a:bodyPr wrap="square" lIns="0" tIns="0" rIns="0" bIns="0" rtlCol="0" anchor="t"/>
          <a:lstStyle/>
          <a:p>
            <a:pPr indent="0" marL="0">
              <a:buNone/>
            </a:pPr>
            <a:r>
              <a:rPr lang="fr-FR" altLang="en-US" sz="1300" b="1" i="1" dirty="0">
                <a:solidFill>
                  <a:schemeClr val="accent3"/>
                </a:solidFill>
              </a:rPr>
              <a:t>et plus encore…</a:t>
            </a:r>
            <a:endParaRPr lang="fr-FR" sz="1300" dirty="0"/>
          </a:p>
        </p:txBody>
      </p:sp>
      <p:sp>
        <p:nvSpPr>
          <p:cNvPr id="14" name="Shape 9"/>
          <p:cNvSpPr/>
          <p:nvPr/>
        </p:nvSpPr>
        <p:spPr>
          <a:xfrm>
            <a:off x="2560320" y="2240280"/>
            <a:ext cx="228600" cy="0"/>
          </a:xfrm>
          <a:prstGeom prst="line">
            <a:avLst/>
          </a:prstGeom>
          <a:noFill/>
          <a:ln w="25400">
            <a:solidFill>
              <a:schemeClr val="accent1"/>
            </a:solidFill>
            <a:prstDash val="solid"/>
            <a:tailEnd type="triangle"/>
          </a:ln>
        </p:spPr>
      </p:sp>
      <p:sp>
        <p:nvSpPr>
          <p:cNvPr id="15" name="Shape 10"/>
          <p:cNvSpPr/>
          <p:nvPr/>
        </p:nvSpPr>
        <p:spPr>
          <a:xfrm>
            <a:off x="2830068"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16" name="Shape 11"/>
          <p:cNvSpPr/>
          <p:nvPr/>
        </p:nvSpPr>
        <p:spPr>
          <a:xfrm>
            <a:off x="3058668" y="2011680"/>
            <a:ext cx="457200" cy="457200"/>
          </a:xfrm>
          <a:prstGeom prst="ellipse">
            <a:avLst/>
          </a:prstGeom>
          <a:solidFill>
            <a:schemeClr val="accent1"/>
          </a:solidFill>
          <a:ln/>
        </p:spPr>
      </p:sp>
      <p:sp>
        <p:nvSpPr>
          <p:cNvPr id="17" name="Text 12"/>
          <p:cNvSpPr txBox="1"/>
          <p:nvPr/>
        </p:nvSpPr>
        <p:spPr>
          <a:xfrm>
            <a:off x="3058668" y="2011680"/>
            <a:ext cx="457200" cy="457200"/>
          </a:xfrm>
          <a:prstGeom prst="rect">
            <a:avLst/>
          </a:prstGeom>
          <a:noFill/>
          <a:ln/>
        </p:spPr>
        <p:txBody>
          <a:bodyPr wrap="square" lIns="0" tIns="0" rIns="0" bIns="0" rtlCol="0" anchor="ctr"/>
          <a:lstStyle/>
          <a:p>
            <a:pPr algn="ctr" indent="0" marL="0">
              <a:buNone/>
            </a:pPr>
            <a:r>
              <a:rPr lang="fr-FR" altLang="en-US" sz="1400" b="1" dirty="0">
                <a:solidFill>
                  <a:schemeClr val="tx1"/>
                </a:solidFill>
              </a:rPr>
              <a:t>2</a:t>
            </a:r>
            <a:endParaRPr lang="fr-FR" sz="1400" dirty="0"/>
          </a:p>
        </p:txBody>
      </p:sp>
      <p:sp>
        <p:nvSpPr>
          <p:cNvPr id="18" name="Text 13"/>
          <p:cNvSpPr txBox="1"/>
          <p:nvPr/>
        </p:nvSpPr>
        <p:spPr>
          <a:xfrm>
            <a:off x="3058668" y="2651760"/>
            <a:ext cx="1645920" cy="365760"/>
          </a:xfrm>
          <a:prstGeom prst="rect">
            <a:avLst/>
          </a:prstGeom>
          <a:noFill/>
          <a:ln/>
        </p:spPr>
        <p:txBody>
          <a:bodyPr wrap="square" lIns="0" tIns="0" rIns="0" bIns="0" rtlCol="0" anchor="t"/>
          <a:lstStyle/>
          <a:p>
            <a:pPr indent="0" marL="0">
              <a:buNone/>
            </a:pPr>
            <a:r>
              <a:rPr lang="fr-FR" altLang="en-US" sz="1900" dirty="0">
                <a:solidFill>
                  <a:schemeClr val="tx1"/>
                </a:solidFill>
                <a:latin typeface="+mj-lt" pitchFamily="34" charset="0"/>
                <a:ea typeface="+mj-lt" pitchFamily="34" charset="-122"/>
                <a:cs typeface="+mj-lt" pitchFamily="34" charset="-120"/>
              </a:rPr>
              <a:t>Contrat</a:t>
            </a:r>
            <a:endParaRPr lang="fr-FR" sz="1900" dirty="0"/>
          </a:p>
        </p:txBody>
      </p:sp>
      <p:sp>
        <p:nvSpPr>
          <p:cNvPr id="19" name="Text 14"/>
          <p:cNvSpPr txBox="1"/>
          <p:nvPr/>
        </p:nvSpPr>
        <p:spPr>
          <a:xfrm>
            <a:off x="3058668" y="3063240"/>
            <a:ext cx="1600200" cy="914400"/>
          </a:xfrm>
          <a:prstGeom prst="rect">
            <a:avLst/>
          </a:prstGeom>
          <a:noFill/>
          <a:ln/>
        </p:spPr>
        <p:txBody>
          <a:bodyPr wrap="square" lIns="0" tIns="0" rIns="0" bIns="0" rtlCol="0" anchor="t"/>
          <a:lstStyle/>
          <a:p>
            <a:pPr indent="0" marL="0">
              <a:buNone/>
            </a:pPr>
            <a:r>
              <a:rPr lang="fr-FR" altLang="en-US" sz="1300" dirty="0">
                <a:solidFill>
                  <a:schemeClr val="tx2"/>
                </a:solidFill>
              </a:rPr>
              <a:t>Livrables, calendrier et droits d’usage fixés par écrit.</a:t>
            </a:r>
            <a:endParaRPr lang="fr-FR" sz="1300" dirty="0"/>
          </a:p>
        </p:txBody>
      </p:sp>
      <p:sp>
        <p:nvSpPr>
          <p:cNvPr id="20" name="Text 15"/>
          <p:cNvSpPr txBox="1"/>
          <p:nvPr/>
        </p:nvSpPr>
        <p:spPr>
          <a:xfrm>
            <a:off x="3058668" y="4069080"/>
            <a:ext cx="1600200" cy="256032"/>
          </a:xfrm>
          <a:prstGeom prst="rect">
            <a:avLst/>
          </a:prstGeom>
          <a:noFill/>
          <a:ln/>
        </p:spPr>
        <p:txBody>
          <a:bodyPr wrap="square" lIns="0" tIns="0" rIns="0" bIns="0" rtlCol="0" anchor="t"/>
          <a:lstStyle/>
          <a:p>
            <a:pPr indent="0" marL="0">
              <a:buNone/>
            </a:pPr>
            <a:r>
              <a:rPr lang="fr-FR" altLang="en-US" sz="1300" b="1" i="1" dirty="0">
                <a:solidFill>
                  <a:schemeClr val="accent3"/>
                </a:solidFill>
              </a:rPr>
              <a:t>et plus encore…</a:t>
            </a:r>
            <a:endParaRPr lang="fr-FR" sz="1300" dirty="0"/>
          </a:p>
        </p:txBody>
      </p:sp>
      <p:sp>
        <p:nvSpPr>
          <p:cNvPr id="21" name="Shape 16"/>
          <p:cNvSpPr/>
          <p:nvPr/>
        </p:nvSpPr>
        <p:spPr>
          <a:xfrm>
            <a:off x="4841748" y="2240280"/>
            <a:ext cx="228600" cy="0"/>
          </a:xfrm>
          <a:prstGeom prst="line">
            <a:avLst/>
          </a:prstGeom>
          <a:noFill/>
          <a:ln w="25400">
            <a:solidFill>
              <a:schemeClr val="accent1"/>
            </a:solidFill>
            <a:prstDash val="solid"/>
            <a:tailEnd type="triangle"/>
          </a:ln>
        </p:spPr>
      </p:sp>
      <p:sp>
        <p:nvSpPr>
          <p:cNvPr id="22" name="Shape 17"/>
          <p:cNvSpPr/>
          <p:nvPr/>
        </p:nvSpPr>
        <p:spPr>
          <a:xfrm>
            <a:off x="5111496"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23" name="Shape 18"/>
          <p:cNvSpPr/>
          <p:nvPr/>
        </p:nvSpPr>
        <p:spPr>
          <a:xfrm>
            <a:off x="5340096" y="2011680"/>
            <a:ext cx="457200" cy="457200"/>
          </a:xfrm>
          <a:prstGeom prst="ellipse">
            <a:avLst/>
          </a:prstGeom>
          <a:solidFill>
            <a:schemeClr val="accent1"/>
          </a:solidFill>
          <a:ln/>
        </p:spPr>
      </p:sp>
      <p:sp>
        <p:nvSpPr>
          <p:cNvPr id="24" name="Text 19"/>
          <p:cNvSpPr txBox="1"/>
          <p:nvPr/>
        </p:nvSpPr>
        <p:spPr>
          <a:xfrm>
            <a:off x="5340096" y="2011680"/>
            <a:ext cx="457200" cy="457200"/>
          </a:xfrm>
          <a:prstGeom prst="rect">
            <a:avLst/>
          </a:prstGeom>
          <a:noFill/>
          <a:ln/>
        </p:spPr>
        <p:txBody>
          <a:bodyPr wrap="square" lIns="0" tIns="0" rIns="0" bIns="0" rtlCol="0" anchor="ctr"/>
          <a:lstStyle/>
          <a:p>
            <a:pPr algn="ctr" indent="0" marL="0">
              <a:buNone/>
            </a:pPr>
            <a:r>
              <a:rPr lang="fr-FR" altLang="en-US" sz="1400" b="1" dirty="0">
                <a:solidFill>
                  <a:schemeClr val="tx1"/>
                </a:solidFill>
              </a:rPr>
              <a:t>3</a:t>
            </a:r>
            <a:endParaRPr lang="fr-FR" sz="1400" dirty="0"/>
          </a:p>
        </p:txBody>
      </p:sp>
      <p:sp>
        <p:nvSpPr>
          <p:cNvPr id="25" name="Text 20"/>
          <p:cNvSpPr txBox="1"/>
          <p:nvPr/>
        </p:nvSpPr>
        <p:spPr>
          <a:xfrm>
            <a:off x="5340096" y="2651760"/>
            <a:ext cx="1645920" cy="365760"/>
          </a:xfrm>
          <a:prstGeom prst="rect">
            <a:avLst/>
          </a:prstGeom>
          <a:noFill/>
          <a:ln/>
        </p:spPr>
        <p:txBody>
          <a:bodyPr wrap="square" lIns="0" tIns="0" rIns="0" bIns="0" rtlCol="0" anchor="t"/>
          <a:lstStyle/>
          <a:p>
            <a:pPr indent="0" marL="0">
              <a:buNone/>
            </a:pPr>
            <a:r>
              <a:rPr lang="fr-FR" altLang="en-US" sz="1900" dirty="0">
                <a:solidFill>
                  <a:schemeClr val="tx1"/>
                </a:solidFill>
                <a:latin typeface="+mj-lt" pitchFamily="34" charset="0"/>
                <a:ea typeface="+mj-lt" pitchFamily="34" charset="-122"/>
                <a:cs typeface="+mj-lt" pitchFamily="34" charset="-120"/>
              </a:rPr>
              <a:t>Brief</a:t>
            </a:r>
            <a:endParaRPr lang="fr-FR" sz="1900" dirty="0"/>
          </a:p>
        </p:txBody>
      </p:sp>
      <p:sp>
        <p:nvSpPr>
          <p:cNvPr id="26" name="Text 21"/>
          <p:cNvSpPr txBox="1"/>
          <p:nvPr/>
        </p:nvSpPr>
        <p:spPr>
          <a:xfrm>
            <a:off x="5340096" y="3063240"/>
            <a:ext cx="1600200" cy="914400"/>
          </a:xfrm>
          <a:prstGeom prst="rect">
            <a:avLst/>
          </a:prstGeom>
          <a:noFill/>
          <a:ln/>
        </p:spPr>
        <p:txBody>
          <a:bodyPr wrap="square" lIns="0" tIns="0" rIns="0" bIns="0" rtlCol="0" anchor="t"/>
          <a:lstStyle/>
          <a:p>
            <a:pPr indent="0" marL="0">
              <a:buNone/>
            </a:pPr>
            <a:r>
              <a:rPr lang="fr-FR" altLang="en-US" sz="1300" dirty="0">
                <a:solidFill>
                  <a:schemeClr val="tx2"/>
                </a:solidFill>
              </a:rPr>
              <a:t>Messages clés, hashtags, lien de billetterie et mentions sponsors.</a:t>
            </a:r>
            <a:endParaRPr lang="fr-FR" sz="1300" dirty="0"/>
          </a:p>
        </p:txBody>
      </p:sp>
      <p:sp>
        <p:nvSpPr>
          <p:cNvPr id="27" name="Text 22"/>
          <p:cNvSpPr txBox="1"/>
          <p:nvPr/>
        </p:nvSpPr>
        <p:spPr>
          <a:xfrm>
            <a:off x="5340096" y="4069080"/>
            <a:ext cx="1600200" cy="256032"/>
          </a:xfrm>
          <a:prstGeom prst="rect">
            <a:avLst/>
          </a:prstGeom>
          <a:noFill/>
          <a:ln/>
        </p:spPr>
        <p:txBody>
          <a:bodyPr wrap="square" lIns="0" tIns="0" rIns="0" bIns="0" rtlCol="0" anchor="t"/>
          <a:lstStyle/>
          <a:p>
            <a:pPr indent="0" marL="0">
              <a:buNone/>
            </a:pPr>
            <a:r>
              <a:rPr lang="fr-FR" altLang="en-US" sz="1300" b="1" i="1" dirty="0">
                <a:solidFill>
                  <a:schemeClr val="accent3"/>
                </a:solidFill>
              </a:rPr>
              <a:t>et plus encore…</a:t>
            </a:r>
            <a:endParaRPr lang="fr-FR" sz="1300" dirty="0"/>
          </a:p>
        </p:txBody>
      </p:sp>
      <p:sp>
        <p:nvSpPr>
          <p:cNvPr id="28" name="Shape 23"/>
          <p:cNvSpPr/>
          <p:nvPr/>
        </p:nvSpPr>
        <p:spPr>
          <a:xfrm>
            <a:off x="7123176" y="2240280"/>
            <a:ext cx="228600" cy="0"/>
          </a:xfrm>
          <a:prstGeom prst="line">
            <a:avLst/>
          </a:prstGeom>
          <a:noFill/>
          <a:ln w="25400">
            <a:solidFill>
              <a:schemeClr val="accent1"/>
            </a:solidFill>
            <a:prstDash val="solid"/>
            <a:tailEnd type="triangle"/>
          </a:ln>
        </p:spPr>
      </p:sp>
      <p:sp>
        <p:nvSpPr>
          <p:cNvPr id="29" name="Shape 24"/>
          <p:cNvSpPr/>
          <p:nvPr/>
        </p:nvSpPr>
        <p:spPr>
          <a:xfrm>
            <a:off x="7392924"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30" name="Shape 25"/>
          <p:cNvSpPr/>
          <p:nvPr/>
        </p:nvSpPr>
        <p:spPr>
          <a:xfrm>
            <a:off x="7621524" y="2011680"/>
            <a:ext cx="457200" cy="457200"/>
          </a:xfrm>
          <a:prstGeom prst="ellipse">
            <a:avLst/>
          </a:prstGeom>
          <a:solidFill>
            <a:schemeClr val="accent1"/>
          </a:solidFill>
          <a:ln/>
        </p:spPr>
      </p:sp>
      <p:sp>
        <p:nvSpPr>
          <p:cNvPr id="31" name="Text 26"/>
          <p:cNvSpPr txBox="1"/>
          <p:nvPr/>
        </p:nvSpPr>
        <p:spPr>
          <a:xfrm>
            <a:off x="7621524" y="2011680"/>
            <a:ext cx="457200" cy="457200"/>
          </a:xfrm>
          <a:prstGeom prst="rect">
            <a:avLst/>
          </a:prstGeom>
          <a:noFill/>
          <a:ln/>
        </p:spPr>
        <p:txBody>
          <a:bodyPr wrap="square" lIns="0" tIns="0" rIns="0" bIns="0" rtlCol="0" anchor="ctr"/>
          <a:lstStyle/>
          <a:p>
            <a:pPr algn="ctr" indent="0" marL="0">
              <a:buNone/>
            </a:pPr>
            <a:r>
              <a:rPr lang="fr-FR" altLang="en-US" sz="1400" b="1" dirty="0">
                <a:solidFill>
                  <a:schemeClr val="tx1"/>
                </a:solidFill>
              </a:rPr>
              <a:t>4</a:t>
            </a:r>
            <a:endParaRPr lang="fr-FR" sz="1400" dirty="0"/>
          </a:p>
        </p:txBody>
      </p:sp>
      <p:sp>
        <p:nvSpPr>
          <p:cNvPr id="32" name="Text 27"/>
          <p:cNvSpPr txBox="1"/>
          <p:nvPr/>
        </p:nvSpPr>
        <p:spPr>
          <a:xfrm>
            <a:off x="7621524" y="2651760"/>
            <a:ext cx="1645920" cy="365760"/>
          </a:xfrm>
          <a:prstGeom prst="rect">
            <a:avLst/>
          </a:prstGeom>
          <a:noFill/>
          <a:ln/>
        </p:spPr>
        <p:txBody>
          <a:bodyPr wrap="square" lIns="0" tIns="0" rIns="0" bIns="0" rtlCol="0" anchor="t"/>
          <a:lstStyle/>
          <a:p>
            <a:pPr indent="0" marL="0">
              <a:buNone/>
            </a:pPr>
            <a:r>
              <a:rPr lang="fr-FR" altLang="en-US" sz="1900" dirty="0">
                <a:solidFill>
                  <a:schemeClr val="tx1"/>
                </a:solidFill>
                <a:latin typeface="+mj-lt" pitchFamily="34" charset="0"/>
                <a:ea typeface="+mj-lt" pitchFamily="34" charset="-122"/>
                <a:cs typeface="+mj-lt" pitchFamily="34" charset="-120"/>
              </a:rPr>
              <a:t>Accréditation</a:t>
            </a:r>
            <a:endParaRPr lang="fr-FR" sz="1900" dirty="0"/>
          </a:p>
        </p:txBody>
      </p:sp>
      <p:sp>
        <p:nvSpPr>
          <p:cNvPr id="33" name="Text 28"/>
          <p:cNvSpPr txBox="1"/>
          <p:nvPr/>
        </p:nvSpPr>
        <p:spPr>
          <a:xfrm>
            <a:off x="7621524" y="3063240"/>
            <a:ext cx="1600200" cy="914400"/>
          </a:xfrm>
          <a:prstGeom prst="rect">
            <a:avLst/>
          </a:prstGeom>
          <a:noFill/>
          <a:ln/>
        </p:spPr>
        <p:txBody>
          <a:bodyPr wrap="square" lIns="0" tIns="0" rIns="0" bIns="0" rtlCol="0" anchor="t"/>
          <a:lstStyle/>
          <a:p>
            <a:pPr indent="0" marL="0">
              <a:buNone/>
            </a:pPr>
            <a:r>
              <a:rPr lang="fr-FR" altLang="en-US" sz="1300" dirty="0">
                <a:solidFill>
                  <a:schemeClr val="tx2"/>
                </a:solidFill>
              </a:rPr>
              <a:t>Pass, zones d’accès et horaires d’arrivée pour les deux soirs.</a:t>
            </a:r>
            <a:endParaRPr lang="fr-FR" sz="1300" dirty="0"/>
          </a:p>
        </p:txBody>
      </p:sp>
      <p:sp>
        <p:nvSpPr>
          <p:cNvPr id="34" name="Text 29"/>
          <p:cNvSpPr txBox="1"/>
          <p:nvPr/>
        </p:nvSpPr>
        <p:spPr>
          <a:xfrm>
            <a:off x="7621524" y="4069080"/>
            <a:ext cx="1600200" cy="256032"/>
          </a:xfrm>
          <a:prstGeom prst="rect">
            <a:avLst/>
          </a:prstGeom>
          <a:noFill/>
          <a:ln/>
        </p:spPr>
        <p:txBody>
          <a:bodyPr wrap="square" lIns="0" tIns="0" rIns="0" bIns="0" rtlCol="0" anchor="t"/>
          <a:lstStyle/>
          <a:p>
            <a:pPr indent="0" marL="0">
              <a:buNone/>
            </a:pPr>
            <a:r>
              <a:rPr lang="fr-FR" altLang="en-US" sz="1300" b="1" i="1" dirty="0">
                <a:solidFill>
                  <a:schemeClr val="accent3"/>
                </a:solidFill>
              </a:rPr>
              <a:t>et plus encore…</a:t>
            </a:r>
            <a:endParaRPr lang="fr-FR" sz="1300" dirty="0"/>
          </a:p>
        </p:txBody>
      </p:sp>
      <p:sp>
        <p:nvSpPr>
          <p:cNvPr id="35" name="Shape 30"/>
          <p:cNvSpPr/>
          <p:nvPr/>
        </p:nvSpPr>
        <p:spPr>
          <a:xfrm>
            <a:off x="9404604" y="2240280"/>
            <a:ext cx="228600" cy="0"/>
          </a:xfrm>
          <a:prstGeom prst="line">
            <a:avLst/>
          </a:prstGeom>
          <a:noFill/>
          <a:ln w="25400">
            <a:solidFill>
              <a:schemeClr val="accent1"/>
            </a:solidFill>
            <a:prstDash val="solid"/>
            <a:tailEnd type="triangle"/>
          </a:ln>
        </p:spPr>
      </p:sp>
      <p:sp>
        <p:nvSpPr>
          <p:cNvPr id="36" name="Shape 31"/>
          <p:cNvSpPr/>
          <p:nvPr/>
        </p:nvSpPr>
        <p:spPr>
          <a:xfrm>
            <a:off x="9674352"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37" name="Shape 32"/>
          <p:cNvSpPr/>
          <p:nvPr/>
        </p:nvSpPr>
        <p:spPr>
          <a:xfrm>
            <a:off x="9902952" y="2011680"/>
            <a:ext cx="457200" cy="457200"/>
          </a:xfrm>
          <a:prstGeom prst="ellipse">
            <a:avLst/>
          </a:prstGeom>
          <a:solidFill>
            <a:schemeClr val="accent1"/>
          </a:solidFill>
          <a:ln/>
        </p:spPr>
      </p:sp>
      <p:sp>
        <p:nvSpPr>
          <p:cNvPr id="38" name="Text 33"/>
          <p:cNvSpPr txBox="1"/>
          <p:nvPr/>
        </p:nvSpPr>
        <p:spPr>
          <a:xfrm>
            <a:off x="9902952" y="2011680"/>
            <a:ext cx="457200" cy="457200"/>
          </a:xfrm>
          <a:prstGeom prst="rect">
            <a:avLst/>
          </a:prstGeom>
          <a:noFill/>
          <a:ln/>
        </p:spPr>
        <p:txBody>
          <a:bodyPr wrap="square" lIns="0" tIns="0" rIns="0" bIns="0" rtlCol="0" anchor="ctr"/>
          <a:lstStyle/>
          <a:p>
            <a:pPr algn="ctr" indent="0" marL="0">
              <a:buNone/>
            </a:pPr>
            <a:r>
              <a:rPr lang="fr-FR" altLang="en-US" sz="1400" b="1" dirty="0">
                <a:solidFill>
                  <a:schemeClr val="tx1"/>
                </a:solidFill>
              </a:rPr>
              <a:t>5</a:t>
            </a:r>
            <a:endParaRPr lang="fr-FR" sz="1400" dirty="0"/>
          </a:p>
        </p:txBody>
      </p:sp>
      <p:sp>
        <p:nvSpPr>
          <p:cNvPr id="39" name="Text 34"/>
          <p:cNvSpPr txBox="1"/>
          <p:nvPr/>
        </p:nvSpPr>
        <p:spPr>
          <a:xfrm>
            <a:off x="9902952" y="2651760"/>
            <a:ext cx="1645920" cy="365760"/>
          </a:xfrm>
          <a:prstGeom prst="rect">
            <a:avLst/>
          </a:prstGeom>
          <a:noFill/>
          <a:ln/>
        </p:spPr>
        <p:txBody>
          <a:bodyPr wrap="square" lIns="0" tIns="0" rIns="0" bIns="0" rtlCol="0" anchor="t"/>
          <a:lstStyle/>
          <a:p>
            <a:pPr indent="0" marL="0">
              <a:buNone/>
            </a:pPr>
            <a:r>
              <a:rPr lang="fr-FR" altLang="en-US" sz="1900" dirty="0">
                <a:solidFill>
                  <a:schemeClr val="tx1"/>
                </a:solidFill>
                <a:latin typeface="+mj-lt" pitchFamily="34" charset="0"/>
                <a:ea typeface="+mj-lt" pitchFamily="34" charset="-122"/>
                <a:cs typeface="+mj-lt" pitchFamily="34" charset="-120"/>
              </a:rPr>
              <a:t>Validation</a:t>
            </a:r>
            <a:endParaRPr lang="fr-FR" sz="1900" dirty="0"/>
          </a:p>
        </p:txBody>
      </p:sp>
      <p:sp>
        <p:nvSpPr>
          <p:cNvPr id="40" name="Text 35"/>
          <p:cNvSpPr txBox="1"/>
          <p:nvPr/>
        </p:nvSpPr>
        <p:spPr>
          <a:xfrm>
            <a:off x="9902952" y="3063240"/>
            <a:ext cx="1600200" cy="914400"/>
          </a:xfrm>
          <a:prstGeom prst="rect">
            <a:avLst/>
          </a:prstGeom>
          <a:noFill/>
          <a:ln/>
        </p:spPr>
        <p:txBody>
          <a:bodyPr wrap="square" lIns="0" tIns="0" rIns="0" bIns="0" rtlCol="0" anchor="t"/>
          <a:lstStyle/>
          <a:p>
            <a:pPr indent="0" marL="0">
              <a:buNone/>
            </a:pPr>
            <a:r>
              <a:rPr lang="fr-FR" altLang="en-US" sz="1300" dirty="0">
                <a:solidFill>
                  <a:schemeClr val="tx2"/>
                </a:solidFill>
              </a:rPr>
              <a:t>Contenus vérifiés selon le brief, puis publiés au calendrier.</a:t>
            </a:r>
            <a:endParaRPr lang="fr-FR" sz="1300" dirty="0"/>
          </a:p>
        </p:txBody>
      </p:sp>
      <p:sp>
        <p:nvSpPr>
          <p:cNvPr id="41" name="Text 36"/>
          <p:cNvSpPr txBox="1"/>
          <p:nvPr/>
        </p:nvSpPr>
        <p:spPr>
          <a:xfrm>
            <a:off x="9902952" y="4069080"/>
            <a:ext cx="1600200" cy="256032"/>
          </a:xfrm>
          <a:prstGeom prst="rect">
            <a:avLst/>
          </a:prstGeom>
          <a:noFill/>
          <a:ln/>
        </p:spPr>
        <p:txBody>
          <a:bodyPr wrap="square" lIns="0" tIns="0" rIns="0" bIns="0" rtlCol="0" anchor="t"/>
          <a:lstStyle/>
          <a:p>
            <a:pPr indent="0" marL="0">
              <a:buNone/>
            </a:pPr>
            <a:r>
              <a:rPr lang="fr-FR" altLang="en-US" sz="1300" b="1" i="1" dirty="0">
                <a:solidFill>
                  <a:schemeClr val="accent3"/>
                </a:solidFill>
              </a:rPr>
              <a:t>et plus encore…</a:t>
            </a:r>
            <a:endParaRPr lang="fr-FR" sz="1300" dirty="0"/>
          </a:p>
        </p:txBody>
      </p:sp>
      <p:sp>
        <p:nvSpPr>
          <p:cNvPr id="42" name="Shape 37"/>
          <p:cNvSpPr/>
          <p:nvPr/>
        </p:nvSpPr>
        <p:spPr>
          <a:xfrm>
            <a:off x="548640" y="4709160"/>
            <a:ext cx="5486400" cy="1463040"/>
          </a:xfrm>
          <a:prstGeom prst="roundRect">
            <a:avLst>
              <a:gd name="adj" fmla="val 6250"/>
            </a:avLst>
          </a:prstGeom>
          <a:solidFill>
            <a:schemeClr val="tx1"/>
          </a:solidFill>
          <a:ln/>
        </p:spPr>
      </p:sp>
      <p:sp>
        <p:nvSpPr>
          <p:cNvPr id="43" name="Text 38"/>
          <p:cNvSpPr txBox="1"/>
          <p:nvPr/>
        </p:nvSpPr>
        <p:spPr>
          <a:xfrm>
            <a:off x="822960" y="4846320"/>
            <a:ext cx="4572000" cy="256032"/>
          </a:xfrm>
          <a:prstGeom prst="rect">
            <a:avLst/>
          </a:prstGeom>
          <a:noFill/>
          <a:ln/>
        </p:spPr>
        <p:txBody>
          <a:bodyPr wrap="square" lIns="0" tIns="0" rIns="0" bIns="0" rtlCol="0" anchor="t"/>
          <a:lstStyle/>
          <a:p>
            <a:pPr indent="0" marL="0">
              <a:buNone/>
            </a:pPr>
            <a:r>
              <a:rPr lang="fr-FR" altLang="en-US" sz="1100" b="1" spc="300" kern="0" dirty="0">
                <a:solidFill>
                  <a:schemeClr val="accent1"/>
                </a:solidFill>
              </a:rPr>
              <a:t>APRÈS LE FESTIVAL</a:t>
            </a:r>
            <a:endParaRPr lang="fr-FR" sz="1100" dirty="0"/>
          </a:p>
        </p:txBody>
      </p:sp>
      <p:sp>
        <p:nvSpPr>
          <p:cNvPr id="44" name="Text 39"/>
          <p:cNvSpPr txBox="1"/>
          <p:nvPr/>
        </p:nvSpPr>
        <p:spPr>
          <a:xfrm>
            <a:off x="822960" y="5138928"/>
            <a:ext cx="5029200" cy="548640"/>
          </a:xfrm>
          <a:prstGeom prst="rect">
            <a:avLst/>
          </a:prstGeom>
          <a:noFill/>
          <a:ln/>
        </p:spPr>
        <p:txBody>
          <a:bodyPr wrap="square" lIns="0" tIns="0" rIns="0" bIns="0" rtlCol="0" anchor="t"/>
          <a:lstStyle/>
          <a:p>
            <a:pPr marL="177800" indent="-177800">
              <a:spcAft>
                <a:spcPts val="400"/>
              </a:spcAft>
              <a:buSzPct val="100000"/>
              <a:buChar char="•"/>
            </a:pPr>
            <a:r>
              <a:rPr lang="fr-FR" altLang="en-US" sz="1300" dirty="0">
                <a:solidFill>
                  <a:schemeClr val="bg1"/>
                </a:solidFill>
              </a:rPr>
              <a:t>Chaque créateur vérifié par rapport au brief sous 48 heures</a:t>
            </a:r>
            <a:endParaRPr lang="fr-FR" sz="1300" dirty="0"/>
          </a:p>
          <a:p>
            <a:pPr marL="177800" indent="-177800">
              <a:spcAft>
                <a:spcPts val="400"/>
              </a:spcAft>
              <a:buSzPct val="100000"/>
              <a:buChar char="•"/>
            </a:pPr>
            <a:r>
              <a:rPr lang="fr-FR" altLang="en-US" sz="1300" dirty="0">
                <a:solidFill>
                  <a:schemeClr val="bg1"/>
                </a:solidFill>
              </a:rPr>
              <a:t>Statistiques collectées par enregistrement d’écran</a:t>
            </a:r>
            <a:endParaRPr lang="fr-FR" sz="1300" dirty="0"/>
          </a:p>
        </p:txBody>
      </p:sp>
      <p:sp>
        <p:nvSpPr>
          <p:cNvPr id="45" name="Text 40"/>
          <p:cNvSpPr txBox="1"/>
          <p:nvPr/>
        </p:nvSpPr>
        <p:spPr>
          <a:xfrm>
            <a:off x="822960" y="5760720"/>
            <a:ext cx="2743200" cy="256032"/>
          </a:xfrm>
          <a:prstGeom prst="rect">
            <a:avLst/>
          </a:prstGeom>
          <a:noFill/>
          <a:ln/>
        </p:spPr>
        <p:txBody>
          <a:bodyPr wrap="square" lIns="0" tIns="0" rIns="0" bIns="0" rtlCol="0" anchor="t"/>
          <a:lstStyle/>
          <a:p>
            <a:pPr indent="0" marL="0">
              <a:buNone/>
            </a:pPr>
            <a:r>
              <a:rPr lang="fr-FR" altLang="en-US" sz="1300" b="1" i="1" dirty="0">
                <a:solidFill>
                  <a:schemeClr val="accent1"/>
                </a:solidFill>
              </a:rPr>
              <a:t>et plus encore…</a:t>
            </a:r>
            <a:endParaRPr lang="fr-FR" sz="1300" dirty="0"/>
          </a:p>
        </p:txBody>
      </p:sp>
      <p:pic>
        <p:nvPicPr>
          <p:cNvPr id="46" name="Image 2" descr="preencoded.png">    </p:cNvPr>
          <p:cNvPicPr>
            <a:picLocks noChangeAspect="1"/>
          </p:cNvPicPr>
          <p:nvPr/>
        </p:nvPicPr>
        <p:blipFill>
          <a:blip r:embed="rId3"/>
          <a:stretch>
            <a:fillRect/>
          </a:stretch>
        </p:blipFill>
        <p:spPr>
          <a:xfrm>
            <a:off x="6355080" y="4818888"/>
            <a:ext cx="274320" cy="274320"/>
          </a:xfrm>
          <a:prstGeom prst="rect">
            <a:avLst/>
          </a:prstGeom>
        </p:spPr>
      </p:pic>
      <p:sp>
        <p:nvSpPr>
          <p:cNvPr id="47" name="Text 41"/>
          <p:cNvSpPr txBox="1"/>
          <p:nvPr/>
        </p:nvSpPr>
        <p:spPr>
          <a:xfrm>
            <a:off x="6766560" y="4800600"/>
            <a:ext cx="4846320" cy="365760"/>
          </a:xfrm>
          <a:prstGeom prst="rect">
            <a:avLst/>
          </a:prstGeom>
          <a:noFill/>
          <a:ln/>
        </p:spPr>
        <p:txBody>
          <a:bodyPr wrap="square" lIns="0" tIns="0" rIns="0" bIns="0" rtlCol="0" anchor="t"/>
          <a:lstStyle/>
          <a:p>
            <a:pPr indent="0" marL="0">
              <a:buNone/>
            </a:pPr>
            <a:r>
              <a:rPr lang="fr-FR" altLang="en-US" sz="1400" dirty="0">
                <a:solidFill>
                  <a:schemeClr val="tx1"/>
                </a:solidFill>
              </a:rPr>
              <a:t>Un seul interlocuteur pour l’équipe du festival</a:t>
            </a:r>
            <a:endParaRPr lang="fr-FR" sz="1400" dirty="0"/>
          </a:p>
        </p:txBody>
      </p:sp>
      <p:pic>
        <p:nvPicPr>
          <p:cNvPr id="48" name="Image 3" descr="preencoded.png">    </p:cNvPr>
          <p:cNvPicPr>
            <a:picLocks noChangeAspect="1"/>
          </p:cNvPicPr>
          <p:nvPr/>
        </p:nvPicPr>
        <p:blipFill>
          <a:blip r:embed="rId4"/>
          <a:stretch>
            <a:fillRect/>
          </a:stretch>
        </p:blipFill>
        <p:spPr>
          <a:xfrm>
            <a:off x="6355080" y="5294376"/>
            <a:ext cx="274320" cy="274320"/>
          </a:xfrm>
          <a:prstGeom prst="rect">
            <a:avLst/>
          </a:prstGeom>
        </p:spPr>
      </p:pic>
      <p:sp>
        <p:nvSpPr>
          <p:cNvPr id="49" name="Text 42"/>
          <p:cNvSpPr txBox="1"/>
          <p:nvPr/>
        </p:nvSpPr>
        <p:spPr>
          <a:xfrm>
            <a:off x="6766560" y="5276088"/>
            <a:ext cx="4846320" cy="365760"/>
          </a:xfrm>
          <a:prstGeom prst="rect">
            <a:avLst/>
          </a:prstGeom>
          <a:noFill/>
          <a:ln/>
        </p:spPr>
        <p:txBody>
          <a:bodyPr wrap="square" lIns="0" tIns="0" rIns="0" bIns="0" rtlCol="0" anchor="t"/>
          <a:lstStyle/>
          <a:p>
            <a:pPr indent="0" marL="0">
              <a:buNone/>
            </a:pPr>
            <a:r>
              <a:rPr lang="fr-FR" altLang="en-US" sz="1400" dirty="0">
                <a:solidFill>
                  <a:schemeClr val="tx1"/>
                </a:solidFill>
              </a:rPr>
              <a:t>Un suivi partagé de chaque créateur et publication</a:t>
            </a:r>
            <a:endParaRPr lang="fr-FR" sz="1400" dirty="0"/>
          </a:p>
        </p:txBody>
      </p:sp>
      <p:pic>
        <p:nvPicPr>
          <p:cNvPr id="50" name="Image 4" descr="preencoded.png">    </p:cNvPr>
          <p:cNvPicPr>
            <a:picLocks noChangeAspect="1"/>
          </p:cNvPicPr>
          <p:nvPr/>
        </p:nvPicPr>
        <p:blipFill>
          <a:blip r:embed="rId5"/>
          <a:stretch>
            <a:fillRect/>
          </a:stretch>
        </p:blipFill>
        <p:spPr>
          <a:xfrm>
            <a:off x="6355080" y="5769864"/>
            <a:ext cx="274320" cy="274320"/>
          </a:xfrm>
          <a:prstGeom prst="rect">
            <a:avLst/>
          </a:prstGeom>
        </p:spPr>
      </p:pic>
      <p:sp>
        <p:nvSpPr>
          <p:cNvPr id="51" name="Text 43"/>
          <p:cNvSpPr txBox="1"/>
          <p:nvPr/>
        </p:nvSpPr>
        <p:spPr>
          <a:xfrm>
            <a:off x="6766560" y="5751576"/>
            <a:ext cx="4846320" cy="365760"/>
          </a:xfrm>
          <a:prstGeom prst="rect">
            <a:avLst/>
          </a:prstGeom>
          <a:noFill/>
          <a:ln/>
        </p:spPr>
        <p:txBody>
          <a:bodyPr wrap="square" lIns="0" tIns="0" rIns="0" bIns="0" rtlCol="0" anchor="t"/>
          <a:lstStyle/>
          <a:p>
            <a:pPr indent="0" marL="0">
              <a:buNone/>
            </a:pPr>
            <a:r>
              <a:rPr lang="fr-FR" altLang="en-US" sz="1400" dirty="0">
                <a:solidFill>
                  <a:schemeClr val="tx1"/>
                </a:solidFill>
              </a:rPr>
              <a:t>Des règles de marque validées avec vous avant publication</a:t>
            </a:r>
            <a:endParaRPr lang="fr-FR" sz="14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6437376"/>
            <a:ext cx="8229600" cy="237744"/>
          </a:xfrm>
          <a:prstGeom prst="rect">
            <a:avLst/>
          </a:prstGeom>
          <a:noFill/>
          <a:ln/>
        </p:spPr>
        <p:txBody>
          <a:bodyPr wrap="square" lIns="0" tIns="0" rIns="0" bIns="0" rtlCol="0" anchor="ctr"/>
          <a:lstStyle/>
          <a:p>
            <a:pPr indent="0" marL="0">
              <a:buNone/>
            </a:pPr>
            <a:r>
              <a:rPr lang="fr-FR" altLang="en-US" sz="1000" dirty="0">
                <a:solidFill>
                  <a:schemeClr val="accent4"/>
                </a:solidFill>
              </a:rPr>
              <a:t>AToure Management &amp; Consulting</a:t>
            </a:r>
            <a:endParaRPr lang="fr-FR" sz="1000" dirty="0"/>
          </a:p>
        </p:txBody>
      </p:sp>
      <p:sp>
        <p:nvSpPr>
          <p:cNvPr id="4"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1"/>
                </a:solidFill>
              </a:rPr>
              <a:t>VISIBILITÉ</a:t>
            </a:r>
            <a:endParaRPr lang="fr-FR" sz="1100" dirty="0"/>
          </a:p>
        </p:txBody>
      </p:sp>
      <p:sp>
        <p:nvSpPr>
          <p:cNvPr id="5"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bg1"/>
                </a:solidFill>
              </a:rPr>
              <a:t>La visibilité se construit en trois vagues</a:t>
            </a:r>
            <a:endParaRPr lang="fr-FR" sz="3800" dirty="0"/>
          </a:p>
        </p:txBody>
      </p:sp>
      <p:pic>
        <p:nvPicPr>
          <p:cNvPr id="7" name="Image 1" descr="AToure Management &amp; Consulting">    </p:cNvPr>
          <p:cNvPicPr>
            <a:picLocks noChangeAspect="1"/>
          </p:cNvPicPr>
          <p:nvPr/>
        </p:nvPicPr>
        <p:blipFill>
          <a:blip r:embed="rId2"/>
          <a:stretch>
            <a:fillRect/>
          </a:stretch>
        </p:blipFill>
        <p:spPr>
          <a:xfrm>
            <a:off x="9098280" y="301752"/>
            <a:ext cx="1417320" cy="226771"/>
          </a:xfrm>
          <a:prstGeom prst="rect">
            <a:avLst/>
          </a:prstGeom>
        </p:spPr>
      </p:pic>
      <p:sp>
        <p:nvSpPr>
          <p:cNvPr id="8" name="Text 3"/>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1"/>
                </a:solidFill>
              </a:rPr>
              <a:t>×</a:t>
            </a:r>
            <a:endParaRPr lang="fr-FR" sz="1600" dirty="0"/>
          </a:p>
        </p:txBody>
      </p:sp>
      <p:pic>
        <p:nvPicPr>
          <p:cNvPr id="9" name="Image 2" descr="Mother Africa Festival">    </p:cNvPr>
          <p:cNvPicPr>
            <a:picLocks noChangeAspect="1"/>
          </p:cNvPicPr>
          <p:nvPr/>
        </p:nvPicPr>
        <p:blipFill>
          <a:blip r:embed="rId3"/>
          <a:stretch>
            <a:fillRect/>
          </a:stretch>
        </p:blipFill>
        <p:spPr>
          <a:xfrm>
            <a:off x="10984687" y="182880"/>
            <a:ext cx="657231" cy="466344"/>
          </a:xfrm>
          <a:prstGeom prst="rect">
            <a:avLst/>
          </a:prstGeom>
        </p:spPr>
      </p:pic>
      <p:sp>
        <p:nvSpPr>
          <p:cNvPr id="10" name="Shape 4"/>
          <p:cNvSpPr/>
          <p:nvPr/>
        </p:nvSpPr>
        <p:spPr>
          <a:xfrm>
            <a:off x="548640" y="1965960"/>
            <a:ext cx="11094415" cy="0"/>
          </a:xfrm>
          <a:prstGeom prst="line">
            <a:avLst/>
          </a:prstGeom>
          <a:noFill/>
          <a:ln w="19050">
            <a:solidFill>
              <a:schemeClr val="accent1"/>
            </a:solidFill>
            <a:prstDash val="solid"/>
          </a:ln>
        </p:spPr>
      </p:sp>
      <p:sp>
        <p:nvSpPr>
          <p:cNvPr id="11" name="Shape 5"/>
          <p:cNvSpPr/>
          <p:nvPr/>
        </p:nvSpPr>
        <p:spPr>
          <a:xfrm>
            <a:off x="777240" y="1828800"/>
            <a:ext cx="274320" cy="274320"/>
          </a:xfrm>
          <a:prstGeom prst="ellipse">
            <a:avLst/>
          </a:prstGeom>
          <a:solidFill>
            <a:schemeClr val="accent1"/>
          </a:solidFill>
          <a:ln/>
        </p:spPr>
      </p:sp>
      <p:sp>
        <p:nvSpPr>
          <p:cNvPr id="12" name="Shape 6"/>
          <p:cNvSpPr/>
          <p:nvPr/>
        </p:nvSpPr>
        <p:spPr>
          <a:xfrm>
            <a:off x="548640" y="2286000"/>
            <a:ext cx="4218127" cy="2971800"/>
          </a:xfrm>
          <a:prstGeom prst="roundRect">
            <a:avLst>
              <a:gd name="adj" fmla="val 3077"/>
            </a:avLst>
          </a:prstGeom>
          <a:solidFill>
            <a:schemeClr val="accent6"/>
          </a:solidFill>
          <a:ln/>
        </p:spPr>
      </p:sp>
      <p:sp>
        <p:nvSpPr>
          <p:cNvPr id="13" name="Text 7"/>
          <p:cNvSpPr txBox="1"/>
          <p:nvPr/>
        </p:nvSpPr>
        <p:spPr>
          <a:xfrm>
            <a:off x="822960" y="2542032"/>
            <a:ext cx="3669487" cy="256032"/>
          </a:xfrm>
          <a:prstGeom prst="rect">
            <a:avLst/>
          </a:prstGeom>
          <a:noFill/>
          <a:ln/>
        </p:spPr>
        <p:txBody>
          <a:bodyPr wrap="square" lIns="0" tIns="0" rIns="0" bIns="0" rtlCol="0" anchor="t"/>
          <a:lstStyle/>
          <a:p>
            <a:pPr indent="0" marL="0">
              <a:buNone/>
            </a:pPr>
            <a:r>
              <a:rPr lang="fr-FR" altLang="en-US" sz="1100" b="1" spc="300" kern="0" dirty="0">
                <a:solidFill>
                  <a:schemeClr val="accent1"/>
                </a:solidFill>
              </a:rPr>
              <a:t>DU 23 NOV. AU 26 DÉC.</a:t>
            </a:r>
            <a:endParaRPr lang="fr-FR" sz="1100" dirty="0"/>
          </a:p>
        </p:txBody>
      </p:sp>
      <p:sp>
        <p:nvSpPr>
          <p:cNvPr id="14" name="Text 8"/>
          <p:cNvSpPr txBox="1"/>
          <p:nvPr/>
        </p:nvSpPr>
        <p:spPr>
          <a:xfrm>
            <a:off x="822960" y="2852928"/>
            <a:ext cx="3669487" cy="457200"/>
          </a:xfrm>
          <a:prstGeom prst="rect">
            <a:avLst/>
          </a:prstGeom>
          <a:noFill/>
          <a:ln/>
        </p:spPr>
        <p:txBody>
          <a:bodyPr wrap="square" lIns="0" tIns="0" rIns="0" bIns="0" rtlCol="0" anchor="t"/>
          <a:lstStyle/>
          <a:p>
            <a:pPr indent="0" marL="0">
              <a:buNone/>
            </a:pPr>
            <a:r>
              <a:rPr lang="fr-FR" altLang="en-US" sz="2600" dirty="0">
                <a:solidFill>
                  <a:schemeClr val="bg1"/>
                </a:solidFill>
                <a:latin typeface="+mj-lt" pitchFamily="34" charset="0"/>
                <a:ea typeface="+mj-lt" pitchFamily="34" charset="-122"/>
                <a:cs typeface="+mj-lt" pitchFamily="34" charset="-120"/>
              </a:rPr>
              <a:t>Avant le festival</a:t>
            </a:r>
            <a:endParaRPr lang="fr-FR" sz="2600" dirty="0"/>
          </a:p>
        </p:txBody>
      </p:sp>
      <p:sp>
        <p:nvSpPr>
          <p:cNvPr id="15" name="Text 9"/>
          <p:cNvSpPr txBox="1"/>
          <p:nvPr/>
        </p:nvSpPr>
        <p:spPr>
          <a:xfrm>
            <a:off x="822960" y="3383280"/>
            <a:ext cx="3669487" cy="320040"/>
          </a:xfrm>
          <a:prstGeom prst="rect">
            <a:avLst/>
          </a:prstGeom>
          <a:noFill/>
          <a:ln/>
        </p:spPr>
        <p:txBody>
          <a:bodyPr wrap="square" lIns="0" tIns="0" rIns="0" bIns="0" rtlCol="0" anchor="t"/>
          <a:lstStyle/>
          <a:p>
            <a:pPr indent="0" marL="0">
              <a:buNone/>
            </a:pPr>
            <a:r>
              <a:rPr lang="fr-FR" altLang="en-US" sz="1400" b="1" dirty="0">
                <a:solidFill>
                  <a:schemeClr val="accent4"/>
                </a:solidFill>
              </a:rPr>
              <a:t>Objectif : notoriété et ventes de billets</a:t>
            </a:r>
            <a:endParaRPr lang="fr-FR" sz="1400" dirty="0"/>
          </a:p>
        </p:txBody>
      </p:sp>
      <p:sp>
        <p:nvSpPr>
          <p:cNvPr id="16" name="Text 10"/>
          <p:cNvSpPr txBox="1"/>
          <p:nvPr/>
        </p:nvSpPr>
        <p:spPr>
          <a:xfrm>
            <a:off x="822960" y="3840480"/>
            <a:ext cx="3669487" cy="1325880"/>
          </a:xfrm>
          <a:prstGeom prst="rect">
            <a:avLst/>
          </a:prstGeom>
          <a:noFill/>
          <a:ln/>
        </p:spPr>
        <p:txBody>
          <a:bodyPr wrap="square" lIns="0" tIns="0" rIns="0" bIns="0" rtlCol="0" anchor="t"/>
          <a:lstStyle/>
          <a:p>
            <a:pPr marL="177800" indent="-177800">
              <a:spcAft>
                <a:spcPts val="600"/>
              </a:spcAft>
              <a:buSzPct val="100000"/>
              <a:buChar char="•"/>
            </a:pPr>
            <a:r>
              <a:rPr lang="fr-FR" altLang="en-US" sz="1300" dirty="0">
                <a:solidFill>
                  <a:schemeClr val="accent5"/>
                </a:solidFill>
              </a:rPr>
              <a:t>Annonce des créateurs</a:t>
            </a:r>
            <a:endParaRPr lang="fr-FR" sz="1300" dirty="0"/>
          </a:p>
          <a:p>
            <a:pPr marL="177800" indent="-177800">
              <a:spcAft>
                <a:spcPts val="600"/>
              </a:spcAft>
              <a:buSzPct val="100000"/>
              <a:buChar char="•"/>
            </a:pPr>
            <a:r>
              <a:rPr lang="fr-FR" altLang="en-US" sz="1300" dirty="0">
                <a:solidFill>
                  <a:schemeClr val="accent5"/>
                </a:solidFill>
              </a:rPr>
              <a:t>Compte à rebours Davido</a:t>
            </a:r>
            <a:endParaRPr lang="fr-FR" sz="1300" dirty="0"/>
          </a:p>
          <a:p>
            <a:pPr marL="177800" indent="-177800">
              <a:spcAft>
                <a:spcPts val="600"/>
              </a:spcAft>
              <a:buSzPct val="100000"/>
              <a:buChar char="•"/>
            </a:pPr>
            <a:r>
              <a:rPr lang="fr-FR" altLang="en-US" sz="1300" dirty="0">
                <a:solidFill>
                  <a:schemeClr val="accent5"/>
                </a:solidFill>
              </a:rPr>
              <a:t>Relances billetterie chaque semaine, liens suivis</a:t>
            </a:r>
            <a:endParaRPr lang="fr-FR" sz="1300" dirty="0"/>
          </a:p>
          <a:p>
            <a:pPr marL="177800" indent="-177800">
              <a:spcAft>
                <a:spcPts val="600"/>
              </a:spcAft>
              <a:buSzPct val="100000"/>
              <a:buChar char="•"/>
            </a:pPr>
            <a:r>
              <a:rPr lang="fr-FR" altLang="en-US" sz="1300" dirty="0">
                <a:solidFill>
                  <a:schemeClr val="accent5"/>
                </a:solidFill>
              </a:rPr>
              <a:t>Un dernier appel avant Noël</a:t>
            </a:r>
            <a:endParaRPr lang="fr-FR" sz="1300" dirty="0"/>
          </a:p>
        </p:txBody>
      </p:sp>
      <p:sp>
        <p:nvSpPr>
          <p:cNvPr id="17" name="Shape 11"/>
          <p:cNvSpPr/>
          <p:nvPr/>
        </p:nvSpPr>
        <p:spPr>
          <a:xfrm>
            <a:off x="5269687" y="1828800"/>
            <a:ext cx="274320" cy="274320"/>
          </a:xfrm>
          <a:prstGeom prst="ellipse">
            <a:avLst/>
          </a:prstGeom>
          <a:solidFill>
            <a:schemeClr val="accent2"/>
          </a:solidFill>
          <a:ln/>
        </p:spPr>
      </p:sp>
      <p:sp>
        <p:nvSpPr>
          <p:cNvPr id="18" name="Shape 12"/>
          <p:cNvSpPr/>
          <p:nvPr/>
        </p:nvSpPr>
        <p:spPr>
          <a:xfrm>
            <a:off x="5041087" y="2286000"/>
            <a:ext cx="3163824" cy="2971800"/>
          </a:xfrm>
          <a:prstGeom prst="roundRect">
            <a:avLst>
              <a:gd name="adj" fmla="val 3077"/>
            </a:avLst>
          </a:prstGeom>
          <a:solidFill>
            <a:schemeClr val="accent2"/>
          </a:solidFill>
          <a:ln/>
        </p:spPr>
      </p:sp>
      <p:sp>
        <p:nvSpPr>
          <p:cNvPr id="19" name="Text 13"/>
          <p:cNvSpPr txBox="1"/>
          <p:nvPr/>
        </p:nvSpPr>
        <p:spPr>
          <a:xfrm>
            <a:off x="5315407" y="2542032"/>
            <a:ext cx="2615184" cy="256032"/>
          </a:xfrm>
          <a:prstGeom prst="rect">
            <a:avLst/>
          </a:prstGeom>
          <a:noFill/>
          <a:ln/>
        </p:spPr>
        <p:txBody>
          <a:bodyPr wrap="square" lIns="0" tIns="0" rIns="0" bIns="0" rtlCol="0" anchor="t"/>
          <a:lstStyle/>
          <a:p>
            <a:pPr indent="0" marL="0">
              <a:buNone/>
            </a:pPr>
            <a:r>
              <a:rPr lang="fr-FR" altLang="en-US" sz="1100" b="1" spc="300" kern="0" dirty="0">
                <a:solidFill>
                  <a:schemeClr val="tx1"/>
                </a:solidFill>
              </a:rPr>
              <a:t>27 ET 28 DÉC.</a:t>
            </a:r>
            <a:endParaRPr lang="fr-FR" sz="1100" dirty="0"/>
          </a:p>
        </p:txBody>
      </p:sp>
      <p:sp>
        <p:nvSpPr>
          <p:cNvPr id="20" name="Text 14"/>
          <p:cNvSpPr txBox="1"/>
          <p:nvPr/>
        </p:nvSpPr>
        <p:spPr>
          <a:xfrm>
            <a:off x="5315407" y="2852928"/>
            <a:ext cx="2615184" cy="457200"/>
          </a:xfrm>
          <a:prstGeom prst="rect">
            <a:avLst/>
          </a:prstGeom>
          <a:noFill/>
          <a:ln/>
        </p:spPr>
        <p:txBody>
          <a:bodyPr wrap="square" lIns="0" tIns="0" rIns="0" bIns="0" rtlCol="0" anchor="t"/>
          <a:lstStyle/>
          <a:p>
            <a:pPr indent="0" marL="0">
              <a:buNone/>
            </a:pPr>
            <a:r>
              <a:rPr lang="fr-FR" altLang="en-US" sz="2600" dirty="0">
                <a:solidFill>
                  <a:schemeClr val="tx1"/>
                </a:solidFill>
                <a:latin typeface="+mj-lt" pitchFamily="34" charset="0"/>
                <a:ea typeface="+mj-lt" pitchFamily="34" charset="-122"/>
                <a:cs typeface="+mj-lt" pitchFamily="34" charset="-120"/>
              </a:rPr>
              <a:t>Les deux soirs</a:t>
            </a:r>
            <a:endParaRPr lang="fr-FR" sz="2600" dirty="0"/>
          </a:p>
        </p:txBody>
      </p:sp>
      <p:sp>
        <p:nvSpPr>
          <p:cNvPr id="21" name="Text 15"/>
          <p:cNvSpPr txBox="1"/>
          <p:nvPr/>
        </p:nvSpPr>
        <p:spPr>
          <a:xfrm>
            <a:off x="5315407" y="3383280"/>
            <a:ext cx="2615184" cy="320040"/>
          </a:xfrm>
          <a:prstGeom prst="rect">
            <a:avLst/>
          </a:prstGeom>
          <a:noFill/>
          <a:ln/>
        </p:spPr>
        <p:txBody>
          <a:bodyPr wrap="square" lIns="0" tIns="0" rIns="0" bIns="0" rtlCol="0" anchor="t"/>
          <a:lstStyle/>
          <a:p>
            <a:pPr indent="0" marL="0">
              <a:buNone/>
            </a:pPr>
            <a:r>
              <a:rPr lang="fr-FR" altLang="en-US" sz="1400" b="1" dirty="0">
                <a:solidFill>
                  <a:schemeClr val="tx1"/>
                </a:solidFill>
              </a:rPr>
              <a:t>Objectif : l’attention en direct</a:t>
            </a:r>
            <a:endParaRPr lang="fr-FR" sz="1400" dirty="0"/>
          </a:p>
        </p:txBody>
      </p:sp>
      <p:sp>
        <p:nvSpPr>
          <p:cNvPr id="22" name="Text 16"/>
          <p:cNvSpPr txBox="1"/>
          <p:nvPr/>
        </p:nvSpPr>
        <p:spPr>
          <a:xfrm>
            <a:off x="5315407" y="3840480"/>
            <a:ext cx="2615184" cy="1325880"/>
          </a:xfrm>
          <a:prstGeom prst="rect">
            <a:avLst/>
          </a:prstGeom>
          <a:noFill/>
          <a:ln/>
        </p:spPr>
        <p:txBody>
          <a:bodyPr wrap="square" lIns="0" tIns="0" rIns="0" bIns="0" rtlCol="0" anchor="t"/>
          <a:lstStyle/>
          <a:p>
            <a:pPr marL="177800" indent="-177800">
              <a:spcAft>
                <a:spcPts val="600"/>
              </a:spcAft>
              <a:buSzPct val="100000"/>
              <a:buChar char="•"/>
            </a:pPr>
            <a:r>
              <a:rPr lang="fr-FR" altLang="en-US" sz="1300" dirty="0">
                <a:solidFill>
                  <a:schemeClr val="tx1"/>
                </a:solidFill>
              </a:rPr>
              <a:t>Arrivées et tenues du festival</a:t>
            </a:r>
            <a:endParaRPr lang="fr-FR" sz="1300" dirty="0"/>
          </a:p>
          <a:p>
            <a:pPr marL="177800" indent="-177800">
              <a:spcAft>
                <a:spcPts val="600"/>
              </a:spcAft>
              <a:buSzPct val="100000"/>
              <a:buChar char="•"/>
            </a:pPr>
            <a:r>
              <a:rPr lang="fr-FR" altLang="en-US" sz="1300" dirty="0">
                <a:solidFill>
                  <a:schemeClr val="tx1"/>
                </a:solidFill>
              </a:rPr>
              <a:t>La foule filmée pendant les têtes d’affiche</a:t>
            </a:r>
            <a:endParaRPr lang="fr-FR" sz="1300" dirty="0"/>
          </a:p>
          <a:p>
            <a:pPr marL="177800" indent="-177800">
              <a:spcAft>
                <a:spcPts val="600"/>
              </a:spcAft>
              <a:buSzPct val="100000"/>
              <a:buChar char="•"/>
            </a:pPr>
            <a:r>
              <a:rPr lang="fr-FR" altLang="en-US" sz="1300" dirty="0">
                <a:solidFill>
                  <a:schemeClr val="tx1"/>
                </a:solidFill>
              </a:rPr>
              <a:t>Activations sponsors à l’image</a:t>
            </a:r>
            <a:endParaRPr lang="fr-FR" sz="1300" dirty="0"/>
          </a:p>
          <a:p>
            <a:pPr marL="177800" indent="-177800">
              <a:spcAft>
                <a:spcPts val="600"/>
              </a:spcAft>
              <a:buSzPct val="100000"/>
              <a:buChar char="•"/>
            </a:pPr>
            <a:r>
              <a:rPr lang="fr-FR" altLang="en-US" sz="1300" dirty="0">
                <a:solidFill>
                  <a:schemeClr val="tx1"/>
                </a:solidFill>
              </a:rPr>
              <a:t>Un récap chaque soir</a:t>
            </a:r>
            <a:endParaRPr lang="fr-FR" sz="1300" dirty="0"/>
          </a:p>
        </p:txBody>
      </p:sp>
      <p:sp>
        <p:nvSpPr>
          <p:cNvPr id="23" name="Shape 17"/>
          <p:cNvSpPr/>
          <p:nvPr/>
        </p:nvSpPr>
        <p:spPr>
          <a:xfrm>
            <a:off x="8707831" y="1828800"/>
            <a:ext cx="274320" cy="274320"/>
          </a:xfrm>
          <a:prstGeom prst="ellipse">
            <a:avLst/>
          </a:prstGeom>
          <a:solidFill>
            <a:schemeClr val="accent1"/>
          </a:solidFill>
          <a:ln/>
        </p:spPr>
      </p:sp>
      <p:sp>
        <p:nvSpPr>
          <p:cNvPr id="24" name="Shape 18"/>
          <p:cNvSpPr/>
          <p:nvPr/>
        </p:nvSpPr>
        <p:spPr>
          <a:xfrm>
            <a:off x="8479231" y="2286000"/>
            <a:ext cx="3163824" cy="2971800"/>
          </a:xfrm>
          <a:prstGeom prst="roundRect">
            <a:avLst>
              <a:gd name="adj" fmla="val 3077"/>
            </a:avLst>
          </a:prstGeom>
          <a:solidFill>
            <a:schemeClr val="accent6"/>
          </a:solidFill>
          <a:ln/>
        </p:spPr>
      </p:sp>
      <p:sp>
        <p:nvSpPr>
          <p:cNvPr id="25" name="Text 19"/>
          <p:cNvSpPr txBox="1"/>
          <p:nvPr/>
        </p:nvSpPr>
        <p:spPr>
          <a:xfrm>
            <a:off x="8753551" y="2542032"/>
            <a:ext cx="2615184" cy="256032"/>
          </a:xfrm>
          <a:prstGeom prst="rect">
            <a:avLst/>
          </a:prstGeom>
          <a:noFill/>
          <a:ln/>
        </p:spPr>
        <p:txBody>
          <a:bodyPr wrap="square" lIns="0" tIns="0" rIns="0" bIns="0" rtlCol="0" anchor="t"/>
          <a:lstStyle/>
          <a:p>
            <a:pPr indent="0" marL="0">
              <a:buNone/>
            </a:pPr>
            <a:r>
              <a:rPr lang="fr-FR" altLang="en-US" sz="1100" b="1" spc="300" kern="0" dirty="0">
                <a:solidFill>
                  <a:schemeClr val="accent1"/>
                </a:solidFill>
              </a:rPr>
              <a:t>DU 29 DÉC. AU 10 JANV.</a:t>
            </a:r>
            <a:endParaRPr lang="fr-FR" sz="1100" dirty="0"/>
          </a:p>
        </p:txBody>
      </p:sp>
      <p:sp>
        <p:nvSpPr>
          <p:cNvPr id="26" name="Text 20"/>
          <p:cNvSpPr txBox="1"/>
          <p:nvPr/>
        </p:nvSpPr>
        <p:spPr>
          <a:xfrm>
            <a:off x="8753551" y="2852928"/>
            <a:ext cx="2615184" cy="457200"/>
          </a:xfrm>
          <a:prstGeom prst="rect">
            <a:avLst/>
          </a:prstGeom>
          <a:noFill/>
          <a:ln/>
        </p:spPr>
        <p:txBody>
          <a:bodyPr wrap="square" lIns="0" tIns="0" rIns="0" bIns="0" rtlCol="0" anchor="t"/>
          <a:lstStyle/>
          <a:p>
            <a:pPr indent="0" marL="0">
              <a:buNone/>
            </a:pPr>
            <a:r>
              <a:rPr lang="fr-FR" altLang="en-US" sz="2600" dirty="0">
                <a:solidFill>
                  <a:schemeClr val="bg1"/>
                </a:solidFill>
                <a:latin typeface="+mj-lt" pitchFamily="34" charset="0"/>
                <a:ea typeface="+mj-lt" pitchFamily="34" charset="-122"/>
                <a:cs typeface="+mj-lt" pitchFamily="34" charset="-120"/>
              </a:rPr>
              <a:t>Après le festival</a:t>
            </a:r>
            <a:endParaRPr lang="fr-FR" sz="2600" dirty="0"/>
          </a:p>
        </p:txBody>
      </p:sp>
      <p:sp>
        <p:nvSpPr>
          <p:cNvPr id="27" name="Text 21"/>
          <p:cNvSpPr txBox="1"/>
          <p:nvPr/>
        </p:nvSpPr>
        <p:spPr>
          <a:xfrm>
            <a:off x="8753551" y="3383280"/>
            <a:ext cx="2615184" cy="320040"/>
          </a:xfrm>
          <a:prstGeom prst="rect">
            <a:avLst/>
          </a:prstGeom>
          <a:noFill/>
          <a:ln/>
        </p:spPr>
        <p:txBody>
          <a:bodyPr wrap="square" lIns="0" tIns="0" rIns="0" bIns="0" rtlCol="0" anchor="t"/>
          <a:lstStyle/>
          <a:p>
            <a:pPr indent="0" marL="0">
              <a:buNone/>
            </a:pPr>
            <a:r>
              <a:rPr lang="fr-FR" altLang="en-US" sz="1400" b="1" dirty="0">
                <a:solidFill>
                  <a:schemeClr val="accent4"/>
                </a:solidFill>
              </a:rPr>
              <a:t>Objectif : faire durer l’histoire</a:t>
            </a:r>
            <a:endParaRPr lang="fr-FR" sz="1400" dirty="0"/>
          </a:p>
        </p:txBody>
      </p:sp>
      <p:sp>
        <p:nvSpPr>
          <p:cNvPr id="28" name="Text 22"/>
          <p:cNvSpPr txBox="1"/>
          <p:nvPr/>
        </p:nvSpPr>
        <p:spPr>
          <a:xfrm>
            <a:off x="8753551" y="3840480"/>
            <a:ext cx="2615184" cy="1325880"/>
          </a:xfrm>
          <a:prstGeom prst="rect">
            <a:avLst/>
          </a:prstGeom>
          <a:noFill/>
          <a:ln/>
        </p:spPr>
        <p:txBody>
          <a:bodyPr wrap="square" lIns="0" tIns="0" rIns="0" bIns="0" rtlCol="0" anchor="t"/>
          <a:lstStyle/>
          <a:p>
            <a:pPr marL="177800" indent="-177800">
              <a:spcAft>
                <a:spcPts val="600"/>
              </a:spcAft>
              <a:buSzPct val="100000"/>
              <a:buChar char="•"/>
            </a:pPr>
            <a:r>
              <a:rPr lang="fr-FR" altLang="en-US" sz="1300" dirty="0">
                <a:solidFill>
                  <a:schemeClr val="accent5"/>
                </a:solidFill>
              </a:rPr>
              <a:t>Reels récap et meilleurs moments</a:t>
            </a:r>
            <a:endParaRPr lang="fr-FR" sz="1300" dirty="0"/>
          </a:p>
          <a:p>
            <a:pPr marL="177800" indent="-177800">
              <a:spcAft>
                <a:spcPts val="600"/>
              </a:spcAft>
              <a:buSzPct val="100000"/>
              <a:buChar char="•"/>
            </a:pPr>
            <a:r>
              <a:rPr lang="fr-FR" altLang="en-US" sz="1300" dirty="0">
                <a:solidFill>
                  <a:schemeClr val="accent5"/>
                </a:solidFill>
              </a:rPr>
              <a:t>Remerciements des créateurs</a:t>
            </a:r>
            <a:endParaRPr lang="fr-FR" sz="1300" dirty="0"/>
          </a:p>
          <a:p>
            <a:pPr marL="177800" indent="-177800">
              <a:spcAft>
                <a:spcPts val="600"/>
              </a:spcAft>
              <a:buSzPct val="100000"/>
              <a:buChar char="•"/>
            </a:pPr>
            <a:r>
              <a:rPr lang="fr-FR" altLang="en-US" sz="1300" dirty="0">
                <a:solidFill>
                  <a:schemeClr val="accent5"/>
                </a:solidFill>
              </a:rPr>
              <a:t>Résultats partagés avec fans et partenaires</a:t>
            </a:r>
            <a:endParaRPr lang="fr-FR" sz="1300" dirty="0"/>
          </a:p>
          <a:p>
            <a:pPr marL="177800" indent="-177800">
              <a:spcAft>
                <a:spcPts val="600"/>
              </a:spcAft>
              <a:buSzPct val="100000"/>
              <a:buChar char="•"/>
            </a:pPr>
            <a:r>
              <a:rPr lang="fr-FR" altLang="en-US" sz="1300" dirty="0">
                <a:solidFill>
                  <a:schemeClr val="accent5"/>
                </a:solidFill>
              </a:rPr>
              <a:t>Une date 2027 à retenir, si prévue</a:t>
            </a:r>
            <a:endParaRPr lang="fr-FR" sz="1300" dirty="0"/>
          </a:p>
        </p:txBody>
      </p:sp>
      <p:sp>
        <p:nvSpPr>
          <p:cNvPr id="29" name="Shape 23"/>
          <p:cNvSpPr/>
          <p:nvPr/>
        </p:nvSpPr>
        <p:spPr>
          <a:xfrm>
            <a:off x="548640" y="5532120"/>
            <a:ext cx="54864" cy="548640"/>
          </a:xfrm>
          <a:prstGeom prst="rect">
            <a:avLst/>
          </a:prstGeom>
          <a:solidFill>
            <a:schemeClr val="accent1"/>
          </a:solidFill>
          <a:ln/>
        </p:spPr>
      </p:sp>
      <p:sp>
        <p:nvSpPr>
          <p:cNvPr id="30" name="Text 24"/>
          <p:cNvSpPr txBox="1"/>
          <p:nvPr/>
        </p:nvSpPr>
        <p:spPr>
          <a:xfrm>
            <a:off x="777240" y="5532120"/>
            <a:ext cx="10789920" cy="548640"/>
          </a:xfrm>
          <a:prstGeom prst="rect">
            <a:avLst/>
          </a:prstGeom>
          <a:noFill/>
          <a:ln/>
        </p:spPr>
        <p:txBody>
          <a:bodyPr wrap="square" lIns="0" tIns="0" rIns="0" bIns="0" rtlCol="0" anchor="ctr"/>
          <a:lstStyle/>
          <a:p>
            <a:pPr indent="0" marL="0">
              <a:buNone/>
            </a:pPr>
            <a:r>
              <a:rPr lang="fr-FR" altLang="en-US" sz="2000" dirty="0">
                <a:solidFill>
                  <a:schemeClr val="bg1"/>
                </a:solidFill>
                <a:latin typeface="+mj-lt" pitchFamily="34" charset="0"/>
                <a:ea typeface="+mj-lt" pitchFamily="34" charset="-122"/>
                <a:cs typeface="+mj-lt" pitchFamily="34" charset="-120"/>
              </a:rPr>
              <a:t>Chaque vague suit un seul calendrier, validé par le festival avant toute publication.</a:t>
            </a:r>
            <a:endParaRPr lang="fr-FR" sz="2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3"/>
                </a:solidFill>
              </a:rPr>
              <a:t>VISIBILITÉ</a:t>
            </a:r>
            <a:endParaRPr lang="fr-FR"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tx1"/>
                </a:solidFill>
              </a:rPr>
              <a:t>Chaque sponsor obtient une visibilité prouvée</a:t>
            </a:r>
            <a:endParaRPr lang="fr-FR"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3"/>
                </a:solidFill>
              </a:rPr>
              <a:t>×</a:t>
            </a:r>
            <a:endParaRPr lang="fr-FR"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pic>
        <p:nvPicPr>
          <p:cNvPr id="8" name="Photo press" descr="L’équipe de Mother Africa Festival lors d’un événement presse, devant le décor du festival">    </p:cNvPr>
          <p:cNvPicPr>
            <a:picLocks noChangeAspect="1"/>
          </p:cNvPicPr>
          <p:nvPr/>
        </p:nvPicPr>
        <p:blipFill>
          <a:blip r:embed="rId3"/>
          <a:stretch>
            <a:fillRect/>
          </a:stretch>
        </p:blipFill>
        <p:spPr>
          <a:xfrm>
            <a:off x="548640" y="1783080"/>
            <a:ext cx="3657600" cy="2295728"/>
          </a:xfrm>
          <a:prstGeom prst="rect">
            <a:avLst/>
          </a:prstGeom>
        </p:spPr>
      </p:pic>
      <p:sp>
        <p:nvSpPr>
          <p:cNvPr id="9" name="Shape 3"/>
          <p:cNvSpPr/>
          <p:nvPr/>
        </p:nvSpPr>
        <p:spPr>
          <a:xfrm>
            <a:off x="658368" y="3676472"/>
            <a:ext cx="3132734" cy="292608"/>
          </a:xfrm>
          <a:prstGeom prst="roundRect">
            <a:avLst>
              <a:gd name="adj" fmla="val 18750"/>
            </a:avLst>
          </a:prstGeom>
          <a:solidFill>
            <a:schemeClr val="tx1">
              <a:alpha val="70000"/>
            </a:schemeClr>
          </a:solidFill>
          <a:ln/>
        </p:spPr>
      </p:sp>
      <p:sp>
        <p:nvSpPr>
          <p:cNvPr id="10" name="Text 4"/>
          <p:cNvSpPr txBox="1"/>
          <p:nvPr/>
        </p:nvSpPr>
        <p:spPr>
          <a:xfrm>
            <a:off x="658368" y="3676472"/>
            <a:ext cx="3132734" cy="292608"/>
          </a:xfrm>
          <a:prstGeom prst="rect">
            <a:avLst/>
          </a:prstGeom>
          <a:noFill/>
          <a:ln/>
        </p:spPr>
        <p:txBody>
          <a:bodyPr wrap="square" lIns="0" tIns="0" rIns="0" bIns="0" rtlCol="0" anchor="ctr"/>
          <a:lstStyle/>
          <a:p>
            <a:pPr algn="ctr" indent="0" marL="0">
              <a:buNone/>
            </a:pPr>
            <a:r>
              <a:rPr lang="fr-FR" altLang="en-US" sz="1000" dirty="0">
                <a:solidFill>
                  <a:schemeClr val="bg1"/>
                </a:solidFill>
              </a:rPr>
              <a:t>Événement presse de Mother Africa Festival</a:t>
            </a:r>
            <a:endParaRPr lang="fr-FR" sz="1000" dirty="0"/>
          </a:p>
        </p:txBody>
      </p:sp>
      <p:sp>
        <p:nvSpPr>
          <p:cNvPr id="11" name="Shape 5"/>
          <p:cNvSpPr/>
          <p:nvPr/>
        </p:nvSpPr>
        <p:spPr>
          <a:xfrm>
            <a:off x="4526280" y="1783080"/>
            <a:ext cx="457200" cy="457200"/>
          </a:xfrm>
          <a:prstGeom prst="ellipse">
            <a:avLst/>
          </a:prstGeom>
          <a:solidFill>
            <a:schemeClr val="accent1"/>
          </a:solidFill>
          <a:ln/>
        </p:spPr>
      </p:sp>
      <p:pic>
        <p:nvPicPr>
          <p:cNvPr id="12" name="Image 3" descr="preencoded.png">    </p:cNvPr>
          <p:cNvPicPr>
            <a:picLocks noChangeAspect="1"/>
          </p:cNvPicPr>
          <p:nvPr/>
        </p:nvPicPr>
        <p:blipFill>
          <a:blip r:embed="rId4"/>
          <a:stretch>
            <a:fillRect/>
          </a:stretch>
        </p:blipFill>
        <p:spPr>
          <a:xfrm>
            <a:off x="4636008" y="1892808"/>
            <a:ext cx="237744" cy="237744"/>
          </a:xfrm>
          <a:prstGeom prst="rect">
            <a:avLst/>
          </a:prstGeom>
        </p:spPr>
      </p:pic>
      <p:sp>
        <p:nvSpPr>
          <p:cNvPr id="13" name="Text 6"/>
          <p:cNvSpPr txBox="1"/>
          <p:nvPr/>
        </p:nvSpPr>
        <p:spPr>
          <a:xfrm>
            <a:off x="5120640" y="1755648"/>
            <a:ext cx="2834640" cy="329184"/>
          </a:xfrm>
          <a:prstGeom prst="rect">
            <a:avLst/>
          </a:prstGeom>
          <a:noFill/>
          <a:ln/>
        </p:spPr>
        <p:txBody>
          <a:bodyPr wrap="square" lIns="0" tIns="0" rIns="0" bIns="0" rtlCol="0" anchor="t"/>
          <a:lstStyle/>
          <a:p>
            <a:pPr indent="0" marL="0">
              <a:buNone/>
            </a:pPr>
            <a:r>
              <a:rPr lang="fr-FR" altLang="en-US" sz="1800" dirty="0">
                <a:solidFill>
                  <a:schemeClr val="tx1"/>
                </a:solidFill>
                <a:latin typeface="+mj-lt" pitchFamily="34" charset="0"/>
                <a:ea typeface="+mj-lt" pitchFamily="34" charset="-122"/>
                <a:cs typeface="+mj-lt" pitchFamily="34" charset="-120"/>
              </a:rPr>
              <a:t>Inscrit dans chaque brief</a:t>
            </a:r>
            <a:endParaRPr lang="fr-FR" sz="1800" dirty="0"/>
          </a:p>
        </p:txBody>
      </p:sp>
      <p:sp>
        <p:nvSpPr>
          <p:cNvPr id="14" name="Text 7"/>
          <p:cNvSpPr txBox="1"/>
          <p:nvPr/>
        </p:nvSpPr>
        <p:spPr>
          <a:xfrm>
            <a:off x="5120640" y="2112264"/>
            <a:ext cx="2834640" cy="685800"/>
          </a:xfrm>
          <a:prstGeom prst="rect">
            <a:avLst/>
          </a:prstGeom>
          <a:noFill/>
          <a:ln/>
        </p:spPr>
        <p:txBody>
          <a:bodyPr wrap="square" lIns="0" tIns="0" rIns="0" bIns="0" rtlCol="0" anchor="t"/>
          <a:lstStyle/>
          <a:p>
            <a:pPr indent="0" marL="0">
              <a:buNone/>
            </a:pPr>
            <a:r>
              <a:rPr lang="fr-FR" altLang="en-US" sz="1250" dirty="0">
                <a:solidFill>
                  <a:schemeClr val="tx2"/>
                </a:solidFill>
              </a:rPr>
              <a:t>Mentions sponsors validées à l’avance, pour une présence naturelle.</a:t>
            </a:r>
            <a:endParaRPr lang="fr-FR" sz="1250" dirty="0"/>
          </a:p>
        </p:txBody>
      </p:sp>
      <p:sp>
        <p:nvSpPr>
          <p:cNvPr id="15" name="Shape 8"/>
          <p:cNvSpPr/>
          <p:nvPr/>
        </p:nvSpPr>
        <p:spPr>
          <a:xfrm>
            <a:off x="8129016" y="1783080"/>
            <a:ext cx="457200" cy="457200"/>
          </a:xfrm>
          <a:prstGeom prst="ellipse">
            <a:avLst/>
          </a:prstGeom>
          <a:solidFill>
            <a:schemeClr val="accent1"/>
          </a:solidFill>
          <a:ln/>
        </p:spPr>
      </p:sp>
      <p:pic>
        <p:nvPicPr>
          <p:cNvPr id="16" name="Image 4" descr="preencoded.png">    </p:cNvPr>
          <p:cNvPicPr>
            <a:picLocks noChangeAspect="1"/>
          </p:cNvPicPr>
          <p:nvPr/>
        </p:nvPicPr>
        <p:blipFill>
          <a:blip r:embed="rId5"/>
          <a:stretch>
            <a:fillRect/>
          </a:stretch>
        </p:blipFill>
        <p:spPr>
          <a:xfrm>
            <a:off x="8238744" y="1892808"/>
            <a:ext cx="237744" cy="237744"/>
          </a:xfrm>
          <a:prstGeom prst="rect">
            <a:avLst/>
          </a:prstGeom>
        </p:spPr>
      </p:pic>
      <p:sp>
        <p:nvSpPr>
          <p:cNvPr id="17" name="Text 9"/>
          <p:cNvSpPr txBox="1"/>
          <p:nvPr/>
        </p:nvSpPr>
        <p:spPr>
          <a:xfrm>
            <a:off x="8723376" y="1755648"/>
            <a:ext cx="2834640" cy="329184"/>
          </a:xfrm>
          <a:prstGeom prst="rect">
            <a:avLst/>
          </a:prstGeom>
          <a:noFill/>
          <a:ln/>
        </p:spPr>
        <p:txBody>
          <a:bodyPr wrap="square" lIns="0" tIns="0" rIns="0" bIns="0" rtlCol="0" anchor="t"/>
          <a:lstStyle/>
          <a:p>
            <a:pPr indent="0" marL="0">
              <a:buNone/>
            </a:pPr>
            <a:r>
              <a:rPr lang="fr-FR" altLang="en-US" sz="1800" dirty="0">
                <a:solidFill>
                  <a:schemeClr val="tx1"/>
                </a:solidFill>
                <a:latin typeface="+mj-lt" pitchFamily="34" charset="0"/>
                <a:ea typeface="+mj-lt" pitchFamily="34" charset="-122"/>
                <a:cs typeface="+mj-lt" pitchFamily="34" charset="-120"/>
              </a:rPr>
              <a:t>Les marques à l’image</a:t>
            </a:r>
            <a:endParaRPr lang="fr-FR" sz="1800" dirty="0"/>
          </a:p>
        </p:txBody>
      </p:sp>
      <p:sp>
        <p:nvSpPr>
          <p:cNvPr id="18" name="Text 10"/>
          <p:cNvSpPr txBox="1"/>
          <p:nvPr/>
        </p:nvSpPr>
        <p:spPr>
          <a:xfrm>
            <a:off x="8723376" y="2112264"/>
            <a:ext cx="2834640" cy="685800"/>
          </a:xfrm>
          <a:prstGeom prst="rect">
            <a:avLst/>
          </a:prstGeom>
          <a:noFill/>
          <a:ln/>
        </p:spPr>
        <p:txBody>
          <a:bodyPr wrap="square" lIns="0" tIns="0" rIns="0" bIns="0" rtlCol="0" anchor="t"/>
          <a:lstStyle/>
          <a:p>
            <a:pPr indent="0" marL="0">
              <a:buNone/>
            </a:pPr>
            <a:r>
              <a:rPr lang="fr-FR" altLang="en-US" sz="1250" dirty="0">
                <a:solidFill>
                  <a:schemeClr val="tx2"/>
                </a:solidFill>
              </a:rPr>
              <a:t>Créateurs guidés vers chaque activation et bannière de scène, les deux soirs.</a:t>
            </a:r>
            <a:endParaRPr lang="fr-FR" sz="1250" dirty="0"/>
          </a:p>
        </p:txBody>
      </p:sp>
      <p:sp>
        <p:nvSpPr>
          <p:cNvPr id="19" name="Shape 11"/>
          <p:cNvSpPr/>
          <p:nvPr/>
        </p:nvSpPr>
        <p:spPr>
          <a:xfrm>
            <a:off x="4526280" y="2971800"/>
            <a:ext cx="457200" cy="457200"/>
          </a:xfrm>
          <a:prstGeom prst="ellipse">
            <a:avLst/>
          </a:prstGeom>
          <a:solidFill>
            <a:schemeClr val="accent1"/>
          </a:solidFill>
          <a:ln/>
        </p:spPr>
      </p:sp>
      <p:pic>
        <p:nvPicPr>
          <p:cNvPr id="20" name="Image 5" descr="preencoded.png">    </p:cNvPr>
          <p:cNvPicPr>
            <a:picLocks noChangeAspect="1"/>
          </p:cNvPicPr>
          <p:nvPr/>
        </p:nvPicPr>
        <p:blipFill>
          <a:blip r:embed="rId6"/>
          <a:stretch>
            <a:fillRect/>
          </a:stretch>
        </p:blipFill>
        <p:spPr>
          <a:xfrm>
            <a:off x="4636008" y="3081528"/>
            <a:ext cx="237744" cy="237744"/>
          </a:xfrm>
          <a:prstGeom prst="rect">
            <a:avLst/>
          </a:prstGeom>
        </p:spPr>
      </p:pic>
      <p:sp>
        <p:nvSpPr>
          <p:cNvPr id="21" name="Text 12"/>
          <p:cNvSpPr txBox="1"/>
          <p:nvPr/>
        </p:nvSpPr>
        <p:spPr>
          <a:xfrm>
            <a:off x="5120640" y="2944368"/>
            <a:ext cx="2834640" cy="329184"/>
          </a:xfrm>
          <a:prstGeom prst="rect">
            <a:avLst/>
          </a:prstGeom>
          <a:noFill/>
          <a:ln/>
        </p:spPr>
        <p:txBody>
          <a:bodyPr wrap="square" lIns="0" tIns="0" rIns="0" bIns="0" rtlCol="0" anchor="t"/>
          <a:lstStyle/>
          <a:p>
            <a:pPr indent="0" marL="0">
              <a:buNone/>
            </a:pPr>
            <a:r>
              <a:rPr lang="fr-FR" altLang="en-US" sz="1800" dirty="0">
                <a:solidFill>
                  <a:schemeClr val="tx1"/>
                </a:solidFill>
                <a:latin typeface="+mj-lt" pitchFamily="34" charset="0"/>
                <a:ea typeface="+mj-lt" pitchFamily="34" charset="-122"/>
                <a:cs typeface="+mj-lt" pitchFamily="34" charset="-120"/>
              </a:rPr>
              <a:t>Une page par sponsor</a:t>
            </a:r>
            <a:endParaRPr lang="fr-FR" sz="1800" dirty="0"/>
          </a:p>
        </p:txBody>
      </p:sp>
      <p:sp>
        <p:nvSpPr>
          <p:cNvPr id="22" name="Text 13"/>
          <p:cNvSpPr txBox="1"/>
          <p:nvPr/>
        </p:nvSpPr>
        <p:spPr>
          <a:xfrm>
            <a:off x="5120640" y="3300984"/>
            <a:ext cx="2834640" cy="685800"/>
          </a:xfrm>
          <a:prstGeom prst="rect">
            <a:avLst/>
          </a:prstGeom>
          <a:noFill/>
          <a:ln/>
        </p:spPr>
        <p:txBody>
          <a:bodyPr wrap="square" lIns="0" tIns="0" rIns="0" bIns="0" rtlCol="0" anchor="t"/>
          <a:lstStyle/>
          <a:p>
            <a:pPr indent="0" marL="0">
              <a:buNone/>
            </a:pPr>
            <a:r>
              <a:rPr lang="fr-FR" altLang="en-US" sz="1250" dirty="0">
                <a:solidFill>
                  <a:schemeClr val="tx2"/>
                </a:solidFill>
              </a:rPr>
              <a:t>Publications, vues, temps à l’écran et valeur média, clairement indiquée comme estimée.</a:t>
            </a:r>
            <a:endParaRPr lang="fr-FR" sz="1250" dirty="0"/>
          </a:p>
        </p:txBody>
      </p:sp>
      <p:sp>
        <p:nvSpPr>
          <p:cNvPr id="23" name="Shape 14"/>
          <p:cNvSpPr/>
          <p:nvPr/>
        </p:nvSpPr>
        <p:spPr>
          <a:xfrm>
            <a:off x="8129016" y="2971800"/>
            <a:ext cx="457200" cy="457200"/>
          </a:xfrm>
          <a:prstGeom prst="ellipse">
            <a:avLst/>
          </a:prstGeom>
          <a:solidFill>
            <a:schemeClr val="accent1"/>
          </a:solidFill>
          <a:ln/>
        </p:spPr>
      </p:sp>
      <p:pic>
        <p:nvPicPr>
          <p:cNvPr id="24" name="Image 6" descr="preencoded.png">    </p:cNvPr>
          <p:cNvPicPr>
            <a:picLocks noChangeAspect="1"/>
          </p:cNvPicPr>
          <p:nvPr/>
        </p:nvPicPr>
        <p:blipFill>
          <a:blip r:embed="rId7"/>
          <a:stretch>
            <a:fillRect/>
          </a:stretch>
        </p:blipFill>
        <p:spPr>
          <a:xfrm>
            <a:off x="8238744" y="3081528"/>
            <a:ext cx="237744" cy="237744"/>
          </a:xfrm>
          <a:prstGeom prst="rect">
            <a:avLst/>
          </a:prstGeom>
        </p:spPr>
      </p:pic>
      <p:sp>
        <p:nvSpPr>
          <p:cNvPr id="25" name="Text 15"/>
          <p:cNvSpPr txBox="1"/>
          <p:nvPr/>
        </p:nvSpPr>
        <p:spPr>
          <a:xfrm>
            <a:off x="8723376" y="2944368"/>
            <a:ext cx="2834640" cy="329184"/>
          </a:xfrm>
          <a:prstGeom prst="rect">
            <a:avLst/>
          </a:prstGeom>
          <a:noFill/>
          <a:ln/>
        </p:spPr>
        <p:txBody>
          <a:bodyPr wrap="square" lIns="0" tIns="0" rIns="0" bIns="0" rtlCol="0" anchor="t"/>
          <a:lstStyle/>
          <a:p>
            <a:pPr indent="0" marL="0">
              <a:buNone/>
            </a:pPr>
            <a:r>
              <a:rPr lang="fr-FR" altLang="en-US" sz="1800" dirty="0">
                <a:solidFill>
                  <a:schemeClr val="tx1"/>
                </a:solidFill>
                <a:latin typeface="+mj-lt" pitchFamily="34" charset="0"/>
                <a:ea typeface="+mj-lt" pitchFamily="34" charset="-122"/>
                <a:cs typeface="+mj-lt" pitchFamily="34" charset="-120"/>
              </a:rPr>
              <a:t>Contenus réutilisables</a:t>
            </a:r>
            <a:endParaRPr lang="fr-FR" sz="1800" dirty="0"/>
          </a:p>
        </p:txBody>
      </p:sp>
      <p:sp>
        <p:nvSpPr>
          <p:cNvPr id="26" name="Text 16"/>
          <p:cNvSpPr txBox="1"/>
          <p:nvPr/>
        </p:nvSpPr>
        <p:spPr>
          <a:xfrm>
            <a:off x="8723376" y="3300984"/>
            <a:ext cx="2834640" cy="685800"/>
          </a:xfrm>
          <a:prstGeom prst="rect">
            <a:avLst/>
          </a:prstGeom>
          <a:noFill/>
          <a:ln/>
        </p:spPr>
        <p:txBody>
          <a:bodyPr wrap="square" lIns="0" tIns="0" rIns="0" bIns="0" rtlCol="0" anchor="t"/>
          <a:lstStyle/>
          <a:p>
            <a:pPr indent="0" marL="0">
              <a:buNone/>
            </a:pPr>
            <a:r>
              <a:rPr lang="fr-FR" altLang="en-US" sz="1250" dirty="0">
                <a:solidFill>
                  <a:schemeClr val="tx2"/>
                </a:solidFill>
              </a:rPr>
              <a:t>Le festival et ses sponsors peuvent repartager les meilleurs contenus.</a:t>
            </a:r>
            <a:endParaRPr lang="fr-FR" sz="1250" dirty="0"/>
          </a:p>
        </p:txBody>
      </p:sp>
      <p:sp>
        <p:nvSpPr>
          <p:cNvPr id="27" name="Shape 17"/>
          <p:cNvSpPr/>
          <p:nvPr/>
        </p:nvSpPr>
        <p:spPr>
          <a:xfrm>
            <a:off x="548640" y="4343400"/>
            <a:ext cx="11094415" cy="1737360"/>
          </a:xfrm>
          <a:prstGeom prst="roundRect">
            <a:avLst>
              <a:gd name="adj" fmla="val 4211"/>
            </a:avLst>
          </a:prstGeom>
          <a:solidFill>
            <a:schemeClr val="tx1"/>
          </a:solidFill>
          <a:ln w="22225">
            <a:solidFill>
              <a:schemeClr val="accent1"/>
            </a:solidFill>
            <a:prstDash val="solid"/>
          </a:ln>
          <a:effectLst>
            <a:outerShdw sx="100000" sy="100000" kx="0" ky="0" algn="bl" rotWithShape="0" blurRad="228600" dist="50800" dir="5400000">
              <a:srgbClr val="C8A951">
                <a:alpha val="30000"/>
              </a:srgbClr>
            </a:outerShdw>
          </a:effectLst>
        </p:spPr>
      </p:sp>
      <p:sp>
        <p:nvSpPr>
          <p:cNvPr id="28" name="Text 18"/>
          <p:cNvSpPr txBox="1"/>
          <p:nvPr/>
        </p:nvSpPr>
        <p:spPr>
          <a:xfrm>
            <a:off x="822960" y="4544568"/>
            <a:ext cx="3108960" cy="365760"/>
          </a:xfrm>
          <a:prstGeom prst="rect">
            <a:avLst/>
          </a:prstGeom>
          <a:noFill/>
          <a:ln/>
        </p:spPr>
        <p:txBody>
          <a:bodyPr wrap="square" lIns="0" tIns="0" rIns="0" bIns="0" rtlCol="0" anchor="ctr"/>
          <a:lstStyle/>
          <a:p>
            <a:pPr indent="0" marL="0">
              <a:buNone/>
            </a:pPr>
            <a:r>
              <a:rPr lang="fr-FR" altLang="en-US" sz="1700" b="1" spc="100" kern="0" dirty="0">
                <a:solidFill>
                  <a:schemeClr val="accent1"/>
                </a:solidFill>
              </a:rPr>
              <a:t>LE MODÈLE DE REVENUS</a:t>
            </a:r>
            <a:endParaRPr lang="fr-FR" sz="1700" dirty="0"/>
          </a:p>
        </p:txBody>
      </p:sp>
      <p:sp>
        <p:nvSpPr>
          <p:cNvPr id="29" name="Text 19"/>
          <p:cNvSpPr txBox="1"/>
          <p:nvPr/>
        </p:nvSpPr>
        <p:spPr>
          <a:xfrm>
            <a:off x="3291840" y="4544568"/>
            <a:ext cx="8076895" cy="365760"/>
          </a:xfrm>
          <a:prstGeom prst="rect">
            <a:avLst/>
          </a:prstGeom>
          <a:noFill/>
          <a:ln/>
        </p:spPr>
        <p:txBody>
          <a:bodyPr wrap="square" lIns="0" tIns="0" rIns="0" bIns="0" rtlCol="0" anchor="ctr"/>
          <a:lstStyle/>
          <a:p>
            <a:pPr algn="r" indent="0" marL="0">
              <a:buNone/>
            </a:pPr>
            <a:r>
              <a:rPr lang="fr-FR" altLang="en-US" sz="950" b="1" spc="200" kern="0" dirty="0">
                <a:solidFill>
                  <a:schemeClr val="bg1"/>
                </a:solidFill>
              </a:rPr>
              <a:t>D’OÙ VIENT L’ARGENT</a:t>
            </a:r>
            <a:endParaRPr lang="fr-FR" sz="950" dirty="0"/>
          </a:p>
        </p:txBody>
      </p:sp>
      <p:sp>
        <p:nvSpPr>
          <p:cNvPr id="30" name="Shape 20"/>
          <p:cNvSpPr/>
          <p:nvPr/>
        </p:nvSpPr>
        <p:spPr>
          <a:xfrm>
            <a:off x="822960" y="5120640"/>
            <a:ext cx="2274812" cy="731520"/>
          </a:xfrm>
          <a:prstGeom prst="roundRect">
            <a:avLst>
              <a:gd name="adj" fmla="val 7500"/>
            </a:avLst>
          </a:prstGeom>
          <a:solidFill>
            <a:schemeClr val="accent6"/>
          </a:solidFill>
          <a:ln w="6350">
            <a:solidFill>
              <a:schemeClr val="accent5">
                <a:alpha val="25000"/>
              </a:schemeClr>
            </a:solidFill>
            <a:prstDash val="solid"/>
          </a:ln>
        </p:spPr>
      </p:sp>
      <p:sp>
        <p:nvSpPr>
          <p:cNvPr id="31" name="Text 21"/>
          <p:cNvSpPr txBox="1"/>
          <p:nvPr/>
        </p:nvSpPr>
        <p:spPr>
          <a:xfrm>
            <a:off x="877824" y="5120640"/>
            <a:ext cx="2165084" cy="731520"/>
          </a:xfrm>
          <a:prstGeom prst="rect">
            <a:avLst/>
          </a:prstGeom>
          <a:noFill/>
          <a:ln/>
        </p:spPr>
        <p:txBody>
          <a:bodyPr wrap="square" lIns="0" tIns="0" rIns="0" bIns="0" rtlCol="0" anchor="ctr"/>
          <a:lstStyle/>
          <a:p>
            <a:pPr algn="ctr" indent="0" marL="0">
              <a:buNone/>
            </a:pPr>
            <a:r>
              <a:rPr lang="fr-FR" altLang="en-US" sz="1150" b="1" dirty="0">
                <a:solidFill>
                  <a:schemeClr val="bg1"/>
                </a:solidFill>
              </a:rPr>
              <a:t>PLUS DE CRÉATEURS</a:t>
            </a:r>
            <a:endParaRPr lang="fr-FR" sz="1150" dirty="0"/>
          </a:p>
        </p:txBody>
      </p:sp>
      <p:sp>
        <p:nvSpPr>
          <p:cNvPr id="32" name="Text 22"/>
          <p:cNvSpPr txBox="1"/>
          <p:nvPr/>
        </p:nvSpPr>
        <p:spPr>
          <a:xfrm>
            <a:off x="3097772" y="5120640"/>
            <a:ext cx="292608" cy="731520"/>
          </a:xfrm>
          <a:prstGeom prst="rect">
            <a:avLst/>
          </a:prstGeom>
          <a:noFill/>
          <a:ln/>
        </p:spPr>
        <p:txBody>
          <a:bodyPr wrap="square" lIns="0" tIns="0" rIns="0" bIns="0" rtlCol="0" anchor="ctr"/>
          <a:lstStyle/>
          <a:p>
            <a:pPr algn="ctr" indent="0" marL="0">
              <a:buNone/>
            </a:pPr>
            <a:r>
              <a:rPr lang="fr-FR" altLang="en-US" sz="1800" dirty="0">
                <a:solidFill>
                  <a:schemeClr val="accent1"/>
                </a:solidFill>
              </a:rPr>
              <a:t>→</a:t>
            </a:r>
            <a:endParaRPr lang="fr-FR" sz="1800" dirty="0"/>
          </a:p>
        </p:txBody>
      </p:sp>
      <p:sp>
        <p:nvSpPr>
          <p:cNvPr id="33" name="Shape 23"/>
          <p:cNvSpPr/>
          <p:nvPr/>
        </p:nvSpPr>
        <p:spPr>
          <a:xfrm>
            <a:off x="3390380" y="5120640"/>
            <a:ext cx="2274812" cy="731520"/>
          </a:xfrm>
          <a:prstGeom prst="roundRect">
            <a:avLst>
              <a:gd name="adj" fmla="val 7500"/>
            </a:avLst>
          </a:prstGeom>
          <a:solidFill>
            <a:schemeClr val="accent6"/>
          </a:solidFill>
          <a:ln w="6350">
            <a:solidFill>
              <a:schemeClr val="accent5">
                <a:alpha val="25000"/>
              </a:schemeClr>
            </a:solidFill>
            <a:prstDash val="solid"/>
          </a:ln>
        </p:spPr>
      </p:sp>
      <p:sp>
        <p:nvSpPr>
          <p:cNvPr id="34" name="Text 24"/>
          <p:cNvSpPr txBox="1"/>
          <p:nvPr/>
        </p:nvSpPr>
        <p:spPr>
          <a:xfrm>
            <a:off x="3445244" y="5120640"/>
            <a:ext cx="2165084" cy="731520"/>
          </a:xfrm>
          <a:prstGeom prst="rect">
            <a:avLst/>
          </a:prstGeom>
          <a:noFill/>
          <a:ln/>
        </p:spPr>
        <p:txBody>
          <a:bodyPr wrap="square" lIns="0" tIns="0" rIns="0" bIns="0" rtlCol="0" anchor="ctr"/>
          <a:lstStyle/>
          <a:p>
            <a:pPr algn="ctr" indent="0" marL="0">
              <a:buNone/>
            </a:pPr>
            <a:r>
              <a:rPr lang="fr-FR" altLang="en-US" sz="1150" b="1" dirty="0">
                <a:solidFill>
                  <a:schemeClr val="bg1"/>
                </a:solidFill>
              </a:rPr>
              <a:t>PLUS DE VISIBILITÉ</a:t>
            </a:r>
            <a:endParaRPr lang="fr-FR" sz="1150" dirty="0"/>
          </a:p>
        </p:txBody>
      </p:sp>
      <p:sp>
        <p:nvSpPr>
          <p:cNvPr id="35" name="Text 25"/>
          <p:cNvSpPr txBox="1"/>
          <p:nvPr/>
        </p:nvSpPr>
        <p:spPr>
          <a:xfrm>
            <a:off x="5665192" y="5120640"/>
            <a:ext cx="292608" cy="731520"/>
          </a:xfrm>
          <a:prstGeom prst="rect">
            <a:avLst/>
          </a:prstGeom>
          <a:noFill/>
          <a:ln/>
        </p:spPr>
        <p:txBody>
          <a:bodyPr wrap="square" lIns="0" tIns="0" rIns="0" bIns="0" rtlCol="0" anchor="ctr"/>
          <a:lstStyle/>
          <a:p>
            <a:pPr algn="ctr" indent="0" marL="0">
              <a:buNone/>
            </a:pPr>
            <a:r>
              <a:rPr lang="fr-FR" altLang="en-US" sz="1800" dirty="0">
                <a:solidFill>
                  <a:schemeClr val="accent1"/>
                </a:solidFill>
              </a:rPr>
              <a:t>→</a:t>
            </a:r>
            <a:endParaRPr lang="fr-FR" sz="1800" dirty="0"/>
          </a:p>
        </p:txBody>
      </p:sp>
      <p:sp>
        <p:nvSpPr>
          <p:cNvPr id="36" name="Shape 26"/>
          <p:cNvSpPr/>
          <p:nvPr/>
        </p:nvSpPr>
        <p:spPr>
          <a:xfrm>
            <a:off x="5957800" y="5120640"/>
            <a:ext cx="2274812" cy="731520"/>
          </a:xfrm>
          <a:prstGeom prst="roundRect">
            <a:avLst>
              <a:gd name="adj" fmla="val 7500"/>
            </a:avLst>
          </a:prstGeom>
          <a:solidFill>
            <a:schemeClr val="accent6"/>
          </a:solidFill>
          <a:ln w="6350">
            <a:solidFill>
              <a:schemeClr val="accent5">
                <a:alpha val="25000"/>
              </a:schemeClr>
            </a:solidFill>
            <a:prstDash val="solid"/>
          </a:ln>
        </p:spPr>
      </p:sp>
      <p:sp>
        <p:nvSpPr>
          <p:cNvPr id="37" name="Text 27"/>
          <p:cNvSpPr txBox="1"/>
          <p:nvPr/>
        </p:nvSpPr>
        <p:spPr>
          <a:xfrm>
            <a:off x="6012664" y="5120640"/>
            <a:ext cx="2165084" cy="731520"/>
          </a:xfrm>
          <a:prstGeom prst="rect">
            <a:avLst/>
          </a:prstGeom>
          <a:noFill/>
          <a:ln/>
        </p:spPr>
        <p:txBody>
          <a:bodyPr wrap="square" lIns="0" tIns="0" rIns="0" bIns="0" rtlCol="0" anchor="ctr"/>
          <a:lstStyle/>
          <a:p>
            <a:pPr algn="ctr" indent="0" marL="0">
              <a:buNone/>
            </a:pPr>
            <a:r>
              <a:rPr lang="fr-FR" altLang="en-US" sz="1150" b="1" dirty="0">
                <a:solidFill>
                  <a:schemeClr val="bg1"/>
                </a:solidFill>
              </a:rPr>
              <a:t>OBJECTIFS DES MARQUES ATTEINTS</a:t>
            </a:r>
            <a:endParaRPr lang="fr-FR" sz="1150" dirty="0"/>
          </a:p>
        </p:txBody>
      </p:sp>
      <p:sp>
        <p:nvSpPr>
          <p:cNvPr id="38" name="Text 28"/>
          <p:cNvSpPr txBox="1"/>
          <p:nvPr/>
        </p:nvSpPr>
        <p:spPr>
          <a:xfrm>
            <a:off x="8232612" y="5120640"/>
            <a:ext cx="292608" cy="731520"/>
          </a:xfrm>
          <a:prstGeom prst="rect">
            <a:avLst/>
          </a:prstGeom>
          <a:noFill/>
          <a:ln/>
        </p:spPr>
        <p:txBody>
          <a:bodyPr wrap="square" lIns="0" tIns="0" rIns="0" bIns="0" rtlCol="0" anchor="ctr"/>
          <a:lstStyle/>
          <a:p>
            <a:pPr algn="ctr" indent="0" marL="0">
              <a:buNone/>
            </a:pPr>
            <a:r>
              <a:rPr lang="fr-FR" altLang="en-US" sz="1800" dirty="0">
                <a:solidFill>
                  <a:schemeClr val="accent1"/>
                </a:solidFill>
              </a:rPr>
              <a:t>→</a:t>
            </a:r>
            <a:endParaRPr lang="fr-FR" sz="1800" dirty="0"/>
          </a:p>
        </p:txBody>
      </p:sp>
      <p:sp>
        <p:nvSpPr>
          <p:cNvPr id="39" name="Shape 29"/>
          <p:cNvSpPr/>
          <p:nvPr/>
        </p:nvSpPr>
        <p:spPr>
          <a:xfrm>
            <a:off x="8525220" y="5120640"/>
            <a:ext cx="2843515" cy="731520"/>
          </a:xfrm>
          <a:prstGeom prst="roundRect">
            <a:avLst>
              <a:gd name="adj" fmla="val 7500"/>
            </a:avLst>
          </a:prstGeom>
          <a:solidFill>
            <a:schemeClr val="accent1"/>
          </a:solidFill>
          <a:ln/>
        </p:spPr>
      </p:sp>
      <p:sp>
        <p:nvSpPr>
          <p:cNvPr id="40" name="Text 30"/>
          <p:cNvSpPr txBox="1"/>
          <p:nvPr/>
        </p:nvSpPr>
        <p:spPr>
          <a:xfrm>
            <a:off x="8580084" y="5120640"/>
            <a:ext cx="2733787" cy="731520"/>
          </a:xfrm>
          <a:prstGeom prst="rect">
            <a:avLst/>
          </a:prstGeom>
          <a:noFill/>
          <a:ln/>
        </p:spPr>
        <p:txBody>
          <a:bodyPr wrap="square" lIns="0" tIns="0" rIns="0" bIns="0" rtlCol="0" anchor="ctr"/>
          <a:lstStyle/>
          <a:p>
            <a:pPr algn="ctr" indent="0" marL="0">
              <a:buNone/>
            </a:pPr>
            <a:r>
              <a:rPr lang="fr-FR" altLang="en-US" sz="1150" b="1" dirty="0">
                <a:solidFill>
                  <a:schemeClr val="tx1"/>
                </a:solidFill>
              </a:rPr>
              <a:t>ARGENT DES SPONSORS ET INVESTISSEURS</a:t>
            </a:r>
            <a:endParaRPr lang="fr-FR" sz="115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3"/>
                </a:solidFill>
              </a:rPr>
              <a:t>LE RAPPORT DE VISIBILITÉ</a:t>
            </a:r>
            <a:endParaRPr lang="fr-FR"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tx1"/>
                </a:solidFill>
              </a:rPr>
              <a:t>Mother Africa reçoit ses chiffres à dates fixes</a:t>
            </a:r>
            <a:endParaRPr lang="fr-FR"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3"/>
                </a:solidFill>
              </a:rPr>
              <a:t>×</a:t>
            </a:r>
            <a:endParaRPr lang="fr-FR"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828800"/>
            <a:ext cx="594360" cy="594360"/>
          </a:xfrm>
          <a:prstGeom prst="ellipse">
            <a:avLst/>
          </a:prstGeom>
          <a:solidFill>
            <a:schemeClr val="accent1"/>
          </a:solidFill>
          <a:ln/>
        </p:spPr>
      </p:sp>
      <p:pic>
        <p:nvPicPr>
          <p:cNvPr id="9" name="Image 2" descr="preencoded.png">    </p:cNvPr>
          <p:cNvPicPr>
            <a:picLocks noChangeAspect="1"/>
          </p:cNvPicPr>
          <p:nvPr/>
        </p:nvPicPr>
        <p:blipFill>
          <a:blip r:embed="rId3"/>
          <a:stretch>
            <a:fillRect/>
          </a:stretch>
        </p:blipFill>
        <p:spPr>
          <a:xfrm>
            <a:off x="691286" y="1971446"/>
            <a:ext cx="309067" cy="309067"/>
          </a:xfrm>
          <a:prstGeom prst="rect">
            <a:avLst/>
          </a:prstGeom>
        </p:spPr>
      </p:pic>
      <p:sp>
        <p:nvSpPr>
          <p:cNvPr id="10" name="Text 4"/>
          <p:cNvSpPr txBox="1"/>
          <p:nvPr/>
        </p:nvSpPr>
        <p:spPr>
          <a:xfrm>
            <a:off x="1371600" y="1792224"/>
            <a:ext cx="5029200" cy="384048"/>
          </a:xfrm>
          <a:prstGeom prst="rect">
            <a:avLst/>
          </a:prstGeom>
          <a:noFill/>
          <a:ln/>
        </p:spPr>
        <p:txBody>
          <a:bodyPr wrap="square" lIns="0" tIns="0" rIns="0" bIns="0" rtlCol="0" anchor="t"/>
          <a:lstStyle/>
          <a:p>
            <a:pPr indent="0" marL="0">
              <a:buNone/>
            </a:pPr>
            <a:r>
              <a:rPr lang="fr-FR" altLang="en-US" sz="2200" dirty="0">
                <a:solidFill>
                  <a:schemeClr val="tx1"/>
                </a:solidFill>
                <a:latin typeface="+mj-lt" pitchFamily="34" charset="0"/>
                <a:ea typeface="+mj-lt" pitchFamily="34" charset="-122"/>
                <a:cs typeface="+mj-lt" pitchFamily="34" charset="-120"/>
              </a:rPr>
              <a:t>Point hebdomadaire</a:t>
            </a:r>
            <a:endParaRPr lang="fr-FR" sz="2200" dirty="0"/>
          </a:p>
        </p:txBody>
      </p:sp>
      <p:sp>
        <p:nvSpPr>
          <p:cNvPr id="11" name="Text 5"/>
          <p:cNvSpPr txBox="1"/>
          <p:nvPr/>
        </p:nvSpPr>
        <p:spPr>
          <a:xfrm>
            <a:off x="1371600" y="2212848"/>
            <a:ext cx="5029200" cy="256032"/>
          </a:xfrm>
          <a:prstGeom prst="rect">
            <a:avLst/>
          </a:prstGeom>
          <a:noFill/>
          <a:ln/>
        </p:spPr>
        <p:txBody>
          <a:bodyPr wrap="square" lIns="0" tIns="0" rIns="0" bIns="0" rtlCol="0" anchor="t"/>
          <a:lstStyle/>
          <a:p>
            <a:pPr indent="0" marL="0">
              <a:buNone/>
            </a:pPr>
            <a:r>
              <a:rPr lang="fr-FR" altLang="en-US" sz="1100" b="1" spc="300" kern="0" dirty="0">
                <a:solidFill>
                  <a:schemeClr val="accent3"/>
                </a:solidFill>
              </a:rPr>
              <a:t>CHAQUE LUNDI AVANT LE FESTIVAL</a:t>
            </a:r>
            <a:endParaRPr lang="fr-FR" sz="1100" dirty="0"/>
          </a:p>
        </p:txBody>
      </p:sp>
      <p:sp>
        <p:nvSpPr>
          <p:cNvPr id="12" name="Text 6"/>
          <p:cNvSpPr txBox="1"/>
          <p:nvPr/>
        </p:nvSpPr>
        <p:spPr>
          <a:xfrm>
            <a:off x="1371600" y="2514600"/>
            <a:ext cx="5120640" cy="548640"/>
          </a:xfrm>
          <a:prstGeom prst="rect">
            <a:avLst/>
          </a:prstGeom>
          <a:noFill/>
          <a:ln/>
        </p:spPr>
        <p:txBody>
          <a:bodyPr wrap="square" lIns="0" tIns="0" rIns="0" bIns="0" rtlCol="0" anchor="t"/>
          <a:lstStyle/>
          <a:p>
            <a:pPr indent="0" marL="0">
              <a:buNone/>
            </a:pPr>
            <a:r>
              <a:rPr lang="fr-FR" altLang="en-US" sz="1400" dirty="0">
                <a:solidFill>
                  <a:schemeClr val="tx2"/>
                </a:solidFill>
              </a:rPr>
              <a:t>Une page : publications, vues, meilleurs créateurs, liens utilisés et ajustements.</a:t>
            </a:r>
            <a:endParaRPr lang="fr-FR" sz="1400" dirty="0"/>
          </a:p>
        </p:txBody>
      </p:sp>
      <p:sp>
        <p:nvSpPr>
          <p:cNvPr id="13" name="Shape 7"/>
          <p:cNvSpPr/>
          <p:nvPr/>
        </p:nvSpPr>
        <p:spPr>
          <a:xfrm>
            <a:off x="548640" y="3063240"/>
            <a:ext cx="594360" cy="59436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691286" y="3205886"/>
            <a:ext cx="309067" cy="309067"/>
          </a:xfrm>
          <a:prstGeom prst="rect">
            <a:avLst/>
          </a:prstGeom>
        </p:spPr>
      </p:pic>
      <p:sp>
        <p:nvSpPr>
          <p:cNvPr id="15" name="Text 8"/>
          <p:cNvSpPr txBox="1"/>
          <p:nvPr/>
        </p:nvSpPr>
        <p:spPr>
          <a:xfrm>
            <a:off x="1371600" y="3026664"/>
            <a:ext cx="5029200" cy="384048"/>
          </a:xfrm>
          <a:prstGeom prst="rect">
            <a:avLst/>
          </a:prstGeom>
          <a:noFill/>
          <a:ln/>
        </p:spPr>
        <p:txBody>
          <a:bodyPr wrap="square" lIns="0" tIns="0" rIns="0" bIns="0" rtlCol="0" anchor="t"/>
          <a:lstStyle/>
          <a:p>
            <a:pPr indent="0" marL="0">
              <a:buNone/>
            </a:pPr>
            <a:r>
              <a:rPr lang="fr-FR" altLang="en-US" sz="2200" dirty="0">
                <a:solidFill>
                  <a:schemeClr val="tx1"/>
                </a:solidFill>
                <a:latin typeface="+mj-lt" pitchFamily="34" charset="0"/>
                <a:ea typeface="+mj-lt" pitchFamily="34" charset="-122"/>
                <a:cs typeface="+mj-lt" pitchFamily="34" charset="-120"/>
              </a:rPr>
              <a:t>Point à 48 heures</a:t>
            </a:r>
            <a:endParaRPr lang="fr-FR" sz="2200" dirty="0"/>
          </a:p>
        </p:txBody>
      </p:sp>
      <p:sp>
        <p:nvSpPr>
          <p:cNvPr id="16" name="Text 9"/>
          <p:cNvSpPr txBox="1"/>
          <p:nvPr/>
        </p:nvSpPr>
        <p:spPr>
          <a:xfrm>
            <a:off x="1371600" y="3447288"/>
            <a:ext cx="5029200" cy="256032"/>
          </a:xfrm>
          <a:prstGeom prst="rect">
            <a:avLst/>
          </a:prstGeom>
          <a:noFill/>
          <a:ln/>
        </p:spPr>
        <p:txBody>
          <a:bodyPr wrap="square" lIns="0" tIns="0" rIns="0" bIns="0" rtlCol="0" anchor="t"/>
          <a:lstStyle/>
          <a:p>
            <a:pPr indent="0" marL="0">
              <a:buNone/>
            </a:pPr>
            <a:r>
              <a:rPr lang="fr-FR" altLang="en-US" sz="1100" b="1" spc="300" kern="0" dirty="0">
                <a:solidFill>
                  <a:schemeClr val="accent3"/>
                </a:solidFill>
              </a:rPr>
              <a:t>AU PLUS TARD LE 30 DÉCEMBRE 2026</a:t>
            </a:r>
            <a:endParaRPr lang="fr-FR" sz="1100" dirty="0"/>
          </a:p>
        </p:txBody>
      </p:sp>
      <p:sp>
        <p:nvSpPr>
          <p:cNvPr id="17" name="Text 10"/>
          <p:cNvSpPr txBox="1"/>
          <p:nvPr/>
        </p:nvSpPr>
        <p:spPr>
          <a:xfrm>
            <a:off x="1371600" y="3749040"/>
            <a:ext cx="5120640" cy="548640"/>
          </a:xfrm>
          <a:prstGeom prst="rect">
            <a:avLst/>
          </a:prstGeom>
          <a:noFill/>
          <a:ln/>
        </p:spPr>
        <p:txBody>
          <a:bodyPr wrap="square" lIns="0" tIns="0" rIns="0" bIns="0" rtlCol="0" anchor="t"/>
          <a:lstStyle/>
          <a:p>
            <a:pPr indent="0" marL="0">
              <a:buNone/>
            </a:pPr>
            <a:r>
              <a:rPr lang="fr-FR" altLang="en-US" sz="1400" dirty="0">
                <a:solidFill>
                  <a:schemeClr val="tx2"/>
                </a:solidFill>
              </a:rPr>
              <a:t>Qui a publié, où, et selon quel brief. Tout manque est relancé.</a:t>
            </a:r>
            <a:endParaRPr lang="fr-FR" sz="1400" dirty="0"/>
          </a:p>
        </p:txBody>
      </p:sp>
      <p:sp>
        <p:nvSpPr>
          <p:cNvPr id="18" name="Shape 11"/>
          <p:cNvSpPr/>
          <p:nvPr/>
        </p:nvSpPr>
        <p:spPr>
          <a:xfrm>
            <a:off x="548640" y="4297680"/>
            <a:ext cx="594360" cy="594360"/>
          </a:xfrm>
          <a:prstGeom prst="ellipse">
            <a:avLst/>
          </a:prstGeom>
          <a:solidFill>
            <a:schemeClr val="accent1"/>
          </a:solidFill>
          <a:ln/>
        </p:spPr>
      </p:sp>
      <p:pic>
        <p:nvPicPr>
          <p:cNvPr id="19" name="Image 4" descr="preencoded.png">    </p:cNvPr>
          <p:cNvPicPr>
            <a:picLocks noChangeAspect="1"/>
          </p:cNvPicPr>
          <p:nvPr/>
        </p:nvPicPr>
        <p:blipFill>
          <a:blip r:embed="rId5"/>
          <a:stretch>
            <a:fillRect/>
          </a:stretch>
        </p:blipFill>
        <p:spPr>
          <a:xfrm>
            <a:off x="691286" y="4440326"/>
            <a:ext cx="309067" cy="309067"/>
          </a:xfrm>
          <a:prstGeom prst="rect">
            <a:avLst/>
          </a:prstGeom>
        </p:spPr>
      </p:pic>
      <p:sp>
        <p:nvSpPr>
          <p:cNvPr id="20" name="Text 12"/>
          <p:cNvSpPr txBox="1"/>
          <p:nvPr/>
        </p:nvSpPr>
        <p:spPr>
          <a:xfrm>
            <a:off x="1371600" y="4261104"/>
            <a:ext cx="5029200" cy="384048"/>
          </a:xfrm>
          <a:prstGeom prst="rect">
            <a:avLst/>
          </a:prstGeom>
          <a:noFill/>
          <a:ln/>
        </p:spPr>
        <p:txBody>
          <a:bodyPr wrap="square" lIns="0" tIns="0" rIns="0" bIns="0" rtlCol="0" anchor="t"/>
          <a:lstStyle/>
          <a:p>
            <a:pPr indent="0" marL="0">
              <a:buNone/>
            </a:pPr>
            <a:r>
              <a:rPr lang="fr-FR" altLang="en-US" sz="2200" dirty="0">
                <a:solidFill>
                  <a:schemeClr val="tx1"/>
                </a:solidFill>
                <a:latin typeface="+mj-lt" pitchFamily="34" charset="0"/>
                <a:ea typeface="+mj-lt" pitchFamily="34" charset="-122"/>
                <a:cs typeface="+mj-lt" pitchFamily="34" charset="-120"/>
              </a:rPr>
              <a:t>Rapport complet</a:t>
            </a:r>
            <a:endParaRPr lang="fr-FR" sz="2200" dirty="0"/>
          </a:p>
        </p:txBody>
      </p:sp>
      <p:sp>
        <p:nvSpPr>
          <p:cNvPr id="21" name="Text 13"/>
          <p:cNvSpPr txBox="1"/>
          <p:nvPr/>
        </p:nvSpPr>
        <p:spPr>
          <a:xfrm>
            <a:off x="1371600" y="4681728"/>
            <a:ext cx="5029200" cy="256032"/>
          </a:xfrm>
          <a:prstGeom prst="rect">
            <a:avLst/>
          </a:prstGeom>
          <a:noFill/>
          <a:ln/>
        </p:spPr>
        <p:txBody>
          <a:bodyPr wrap="square" lIns="0" tIns="0" rIns="0" bIns="0" rtlCol="0" anchor="t"/>
          <a:lstStyle/>
          <a:p>
            <a:pPr indent="0" marL="0">
              <a:buNone/>
            </a:pPr>
            <a:r>
              <a:rPr lang="fr-FR" altLang="en-US" sz="1100" b="1" spc="300" kern="0" dirty="0">
                <a:solidFill>
                  <a:schemeClr val="accent3"/>
                </a:solidFill>
              </a:rPr>
              <a:t>14E JOUR, LE 11 JANVIER 2027</a:t>
            </a:r>
            <a:endParaRPr lang="fr-FR" sz="1100" dirty="0"/>
          </a:p>
        </p:txBody>
      </p:sp>
      <p:sp>
        <p:nvSpPr>
          <p:cNvPr id="22" name="Text 14"/>
          <p:cNvSpPr txBox="1"/>
          <p:nvPr/>
        </p:nvSpPr>
        <p:spPr>
          <a:xfrm>
            <a:off x="1371600" y="4983480"/>
            <a:ext cx="5120640" cy="548640"/>
          </a:xfrm>
          <a:prstGeom prst="rect">
            <a:avLst/>
          </a:prstGeom>
          <a:noFill/>
          <a:ln/>
        </p:spPr>
        <p:txBody>
          <a:bodyPr wrap="square" lIns="0" tIns="0" rIns="0" bIns="0" rtlCol="0" anchor="t"/>
          <a:lstStyle/>
          <a:p>
            <a:pPr indent="0" marL="0">
              <a:buNone/>
            </a:pPr>
            <a:r>
              <a:rPr lang="fr-FR" altLang="en-US" sz="1400" dirty="0">
                <a:solidFill>
                  <a:schemeClr val="tx2"/>
                </a:solidFill>
              </a:rPr>
              <a:t>Chaque publication, publics, billets et pages sponsors, en PDF et en version web.</a:t>
            </a:r>
            <a:endParaRPr lang="fr-FR" sz="1400" dirty="0"/>
          </a:p>
        </p:txBody>
      </p:sp>
      <p:sp>
        <p:nvSpPr>
          <p:cNvPr id="23" name="Shape 15"/>
          <p:cNvSpPr/>
          <p:nvPr/>
        </p:nvSpPr>
        <p:spPr>
          <a:xfrm>
            <a:off x="1371600" y="5833872"/>
            <a:ext cx="4114800" cy="384048"/>
          </a:xfrm>
          <a:prstGeom prst="roundRect">
            <a:avLst>
              <a:gd name="adj" fmla="val 50000"/>
            </a:avLst>
          </a:prstGeom>
          <a:solidFill>
            <a:schemeClr val="bg1"/>
          </a:solidFill>
          <a:ln w="12700">
            <a:solidFill>
              <a:schemeClr val="accent3"/>
            </a:solidFill>
            <a:prstDash val="solid"/>
          </a:ln>
        </p:spPr>
      </p:sp>
      <p:sp>
        <p:nvSpPr>
          <p:cNvPr id="24" name="Text 16"/>
          <p:cNvSpPr txBox="1"/>
          <p:nvPr/>
        </p:nvSpPr>
        <p:spPr>
          <a:xfrm>
            <a:off x="1371600" y="5833872"/>
            <a:ext cx="4114800" cy="384048"/>
          </a:xfrm>
          <a:prstGeom prst="rect">
            <a:avLst/>
          </a:prstGeom>
          <a:noFill/>
          <a:ln/>
        </p:spPr>
        <p:txBody>
          <a:bodyPr wrap="square" lIns="0" tIns="0" rIns="0" bIns="0" rtlCol="0" anchor="ctr"/>
          <a:lstStyle/>
          <a:p>
            <a:pPr algn="ctr" indent="0" marL="0">
              <a:buNone/>
            </a:pPr>
            <a:r>
              <a:rPr lang="fr-FR" altLang="en-US" sz="1200" b="1" u="sng" dirty="0">
                <a:solidFill>
                  <a:schemeClr val="accent3"/>
                </a:solidFill>
                <a:hlinkClick r:id="rId6" action="ppaction://hlinksldjump" tooltip="Exemple de rapport, page 2">
                  <a:extLst>
                    <a:ext uri="{A12FA001-AC4F-418D-AE19-62706E023703}">
                      <ahyp:hlinkClr xmlns:ahyp="http://schemas.microsoft.com/office/drawing/2018/hyperlinkcolor" val="tx"/>
                    </a:ext>
                  </a:extLst>
                </a:hlinkClick>
              </a:rPr>
              <a:t>Voir la page 2 : le détail complet  →</a:t>
            </a:r>
            <a:endParaRPr lang="fr-FR" sz="1200" dirty="0"/>
          </a:p>
        </p:txBody>
      </p:sp>
      <p:sp>
        <p:nvSpPr>
          <p:cNvPr id="25" name="Sample report page 2"/>
          <p:cNvSpPr/>
          <p:nvPr/>
        </p:nvSpPr>
        <p:spPr>
          <a:xfrm>
            <a:off x="6949440" y="1874520"/>
            <a:ext cx="4690872" cy="4343400"/>
          </a:xfrm>
          <a:prstGeom prst="roundRect">
            <a:avLst>
              <a:gd name="adj" fmla="val 1684"/>
            </a:avLst>
          </a:prstGeom>
          <a:solidFill>
            <a:schemeClr val="bg1"/>
          </a:solidFill>
          <a:ln w="9525">
            <a:solidFill>
              <a:schemeClr val="tx2">
                <a:alpha val="40000"/>
              </a:schemeClr>
            </a:solidFill>
            <a:prstDash val="solid"/>
          </a:ln>
        </p:spPr>
      </p:sp>
      <p:sp>
        <p:nvSpPr>
          <p:cNvPr id="26" name="Shape 18"/>
          <p:cNvSpPr/>
          <p:nvPr/>
        </p:nvSpPr>
        <p:spPr>
          <a:xfrm>
            <a:off x="6812280" y="1737360"/>
            <a:ext cx="4690872" cy="4343400"/>
          </a:xfrm>
          <a:prstGeom prst="roundRect">
            <a:avLst>
              <a:gd name="adj" fmla="val 1684"/>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27" name="Text 19"/>
          <p:cNvSpPr txBox="1"/>
          <p:nvPr/>
        </p:nvSpPr>
        <p:spPr>
          <a:xfrm>
            <a:off x="7086600" y="1965960"/>
            <a:ext cx="3291840" cy="201168"/>
          </a:xfrm>
          <a:prstGeom prst="rect">
            <a:avLst/>
          </a:prstGeom>
          <a:noFill/>
          <a:ln/>
        </p:spPr>
        <p:txBody>
          <a:bodyPr wrap="square" lIns="0" tIns="0" rIns="0" bIns="0" rtlCol="0" anchor="t"/>
          <a:lstStyle/>
          <a:p>
            <a:pPr indent="0" marL="0">
              <a:buNone/>
            </a:pPr>
            <a:r>
              <a:rPr lang="fr-FR" altLang="en-US" sz="900" b="1" spc="300" kern="0" dirty="0">
                <a:solidFill>
                  <a:schemeClr val="accent3"/>
                </a:solidFill>
              </a:rPr>
              <a:t>RAPPORT DE VISIBILITÉ  ·  PAGE 1</a:t>
            </a:r>
            <a:endParaRPr lang="fr-FR" sz="900" dirty="0"/>
          </a:p>
        </p:txBody>
      </p:sp>
      <p:sp>
        <p:nvSpPr>
          <p:cNvPr id="28" name="Text 20"/>
          <p:cNvSpPr txBox="1"/>
          <p:nvPr/>
        </p:nvSpPr>
        <p:spPr>
          <a:xfrm>
            <a:off x="7086600" y="2167128"/>
            <a:ext cx="3657600" cy="365760"/>
          </a:xfrm>
          <a:prstGeom prst="rect">
            <a:avLst/>
          </a:prstGeom>
          <a:noFill/>
          <a:ln/>
        </p:spPr>
        <p:txBody>
          <a:bodyPr wrap="square" lIns="0" tIns="0" rIns="0" bIns="0" rtlCol="0" anchor="t"/>
          <a:lstStyle/>
          <a:p>
            <a:pPr indent="0" marL="0">
              <a:buNone/>
            </a:pPr>
            <a:r>
              <a:rPr lang="fr-FR" altLang="en-US" sz="1800" dirty="0">
                <a:solidFill>
                  <a:schemeClr val="tx1"/>
                </a:solidFill>
                <a:latin typeface="+mj-lt" pitchFamily="34" charset="0"/>
                <a:ea typeface="+mj-lt" pitchFamily="34" charset="-122"/>
                <a:cs typeface="+mj-lt" pitchFamily="34" charset="-120"/>
              </a:rPr>
              <a:t>Mother Africa Festival 2026</a:t>
            </a:r>
            <a:endParaRPr lang="fr-FR" sz="1800" dirty="0"/>
          </a:p>
        </p:txBody>
      </p:sp>
      <p:pic>
        <p:nvPicPr>
          <p:cNvPr id="29" name="Image 5" descr="Mother Africa Festival">    </p:cNvPr>
          <p:cNvPicPr>
            <a:picLocks noChangeAspect="1"/>
          </p:cNvPicPr>
          <p:nvPr/>
        </p:nvPicPr>
        <p:blipFill>
          <a:blip r:embed="rId7"/>
          <a:stretch>
            <a:fillRect/>
          </a:stretch>
        </p:blipFill>
        <p:spPr>
          <a:xfrm>
            <a:off x="10725912" y="1965960"/>
            <a:ext cx="541249" cy="384048"/>
          </a:xfrm>
          <a:prstGeom prst="rect">
            <a:avLst/>
          </a:prstGeom>
        </p:spPr>
      </p:pic>
      <p:sp>
        <p:nvSpPr>
          <p:cNvPr id="30" name="Shape 21"/>
          <p:cNvSpPr/>
          <p:nvPr/>
        </p:nvSpPr>
        <p:spPr>
          <a:xfrm>
            <a:off x="7086600" y="2606040"/>
            <a:ext cx="4142232" cy="0"/>
          </a:xfrm>
          <a:prstGeom prst="line">
            <a:avLst/>
          </a:prstGeom>
          <a:noFill/>
          <a:ln w="12700">
            <a:solidFill>
              <a:schemeClr val="accent1"/>
            </a:solidFill>
            <a:prstDash val="solid"/>
          </a:ln>
        </p:spPr>
      </p:sp>
      <p:sp>
        <p:nvSpPr>
          <p:cNvPr id="31" name="Shape 22"/>
          <p:cNvSpPr/>
          <p:nvPr/>
        </p:nvSpPr>
        <p:spPr>
          <a:xfrm>
            <a:off x="7086600" y="2788920"/>
            <a:ext cx="2011680" cy="731520"/>
          </a:xfrm>
          <a:prstGeom prst="roundRect">
            <a:avLst>
              <a:gd name="adj" fmla="val 7500"/>
            </a:avLst>
          </a:prstGeom>
          <a:solidFill>
            <a:schemeClr val="bg2"/>
          </a:solidFill>
          <a:ln/>
        </p:spPr>
      </p:sp>
      <p:sp>
        <p:nvSpPr>
          <p:cNvPr id="32" name="Text 23"/>
          <p:cNvSpPr txBox="1"/>
          <p:nvPr/>
        </p:nvSpPr>
        <p:spPr>
          <a:xfrm>
            <a:off x="7251192" y="2862072"/>
            <a:ext cx="1737360" cy="347472"/>
          </a:xfrm>
          <a:prstGeom prst="rect">
            <a:avLst/>
          </a:prstGeom>
          <a:noFill/>
          <a:ln/>
        </p:spPr>
        <p:txBody>
          <a:bodyPr wrap="square" lIns="0" tIns="0" rIns="0" bIns="0" rtlCol="0" anchor="t"/>
          <a:lstStyle/>
          <a:p>
            <a:pPr indent="0" marL="0">
              <a:buNone/>
            </a:pPr>
            <a:r>
              <a:rPr lang="fr-FR" altLang="en-US" sz="1800" b="1" dirty="0">
                <a:solidFill>
                  <a:schemeClr val="tx1"/>
                </a:solidFill>
              </a:rPr>
              <a:t>3 200 000</a:t>
            </a:r>
            <a:endParaRPr lang="fr-FR" sz="1800" dirty="0"/>
          </a:p>
        </p:txBody>
      </p:sp>
      <p:sp>
        <p:nvSpPr>
          <p:cNvPr id="33" name="Text 24"/>
          <p:cNvSpPr txBox="1"/>
          <p:nvPr/>
        </p:nvSpPr>
        <p:spPr>
          <a:xfrm>
            <a:off x="7251192" y="3227832"/>
            <a:ext cx="1783080" cy="201168"/>
          </a:xfrm>
          <a:prstGeom prst="rect">
            <a:avLst/>
          </a:prstGeom>
          <a:noFill/>
          <a:ln/>
        </p:spPr>
        <p:txBody>
          <a:bodyPr wrap="square" lIns="0" tIns="0" rIns="0" bIns="0" rtlCol="0" anchor="t"/>
          <a:lstStyle/>
          <a:p>
            <a:pPr indent="0" marL="0">
              <a:buNone/>
            </a:pPr>
            <a:r>
              <a:rPr lang="fr-FR" altLang="en-US" sz="1000" dirty="0">
                <a:solidFill>
                  <a:schemeClr val="tx2"/>
                </a:solidFill>
              </a:rPr>
              <a:t>Vues totales</a:t>
            </a:r>
            <a:endParaRPr lang="fr-FR" sz="1000" dirty="0"/>
          </a:p>
        </p:txBody>
      </p:sp>
      <p:sp>
        <p:nvSpPr>
          <p:cNvPr id="34" name="Shape 25"/>
          <p:cNvSpPr/>
          <p:nvPr/>
        </p:nvSpPr>
        <p:spPr>
          <a:xfrm>
            <a:off x="9208008" y="2788920"/>
            <a:ext cx="2011680" cy="731520"/>
          </a:xfrm>
          <a:prstGeom prst="roundRect">
            <a:avLst>
              <a:gd name="adj" fmla="val 7500"/>
            </a:avLst>
          </a:prstGeom>
          <a:solidFill>
            <a:schemeClr val="bg2"/>
          </a:solidFill>
          <a:ln/>
        </p:spPr>
      </p:sp>
      <p:sp>
        <p:nvSpPr>
          <p:cNvPr id="35" name="Text 26"/>
          <p:cNvSpPr txBox="1"/>
          <p:nvPr/>
        </p:nvSpPr>
        <p:spPr>
          <a:xfrm>
            <a:off x="9372600" y="2862072"/>
            <a:ext cx="1737360" cy="347472"/>
          </a:xfrm>
          <a:prstGeom prst="rect">
            <a:avLst/>
          </a:prstGeom>
          <a:noFill/>
          <a:ln/>
        </p:spPr>
        <p:txBody>
          <a:bodyPr wrap="square" lIns="0" tIns="0" rIns="0" bIns="0" rtlCol="0" anchor="t"/>
          <a:lstStyle/>
          <a:p>
            <a:pPr indent="0" marL="0">
              <a:buNone/>
            </a:pPr>
            <a:r>
              <a:rPr lang="fr-FR" altLang="en-US" sz="1800" b="1" dirty="0">
                <a:solidFill>
                  <a:schemeClr val="tx1"/>
                </a:solidFill>
              </a:rPr>
              <a:t>1 450 000</a:t>
            </a:r>
            <a:endParaRPr lang="fr-FR" sz="1800" dirty="0"/>
          </a:p>
        </p:txBody>
      </p:sp>
      <p:sp>
        <p:nvSpPr>
          <p:cNvPr id="36" name="Text 27"/>
          <p:cNvSpPr txBox="1"/>
          <p:nvPr/>
        </p:nvSpPr>
        <p:spPr>
          <a:xfrm>
            <a:off x="9372600" y="3227832"/>
            <a:ext cx="1783080" cy="201168"/>
          </a:xfrm>
          <a:prstGeom prst="rect">
            <a:avLst/>
          </a:prstGeom>
          <a:noFill/>
          <a:ln/>
        </p:spPr>
        <p:txBody>
          <a:bodyPr wrap="square" lIns="0" tIns="0" rIns="0" bIns="0" rtlCol="0" anchor="t"/>
          <a:lstStyle/>
          <a:p>
            <a:pPr indent="0" marL="0">
              <a:buNone/>
            </a:pPr>
            <a:r>
              <a:rPr lang="fr-FR" altLang="en-US" sz="1000" dirty="0">
                <a:solidFill>
                  <a:schemeClr val="tx2"/>
                </a:solidFill>
              </a:rPr>
              <a:t>Comptes atteints</a:t>
            </a:r>
            <a:endParaRPr lang="fr-FR" sz="1000" dirty="0"/>
          </a:p>
        </p:txBody>
      </p:sp>
      <p:sp>
        <p:nvSpPr>
          <p:cNvPr id="37" name="Shape 28"/>
          <p:cNvSpPr/>
          <p:nvPr/>
        </p:nvSpPr>
        <p:spPr>
          <a:xfrm>
            <a:off x="7086600" y="3657600"/>
            <a:ext cx="2011680" cy="731520"/>
          </a:xfrm>
          <a:prstGeom prst="roundRect">
            <a:avLst>
              <a:gd name="adj" fmla="val 7500"/>
            </a:avLst>
          </a:prstGeom>
          <a:solidFill>
            <a:schemeClr val="bg2"/>
          </a:solidFill>
          <a:ln/>
        </p:spPr>
      </p:sp>
      <p:sp>
        <p:nvSpPr>
          <p:cNvPr id="38" name="Text 29"/>
          <p:cNvSpPr txBox="1"/>
          <p:nvPr/>
        </p:nvSpPr>
        <p:spPr>
          <a:xfrm>
            <a:off x="7251192" y="3730752"/>
            <a:ext cx="1737360" cy="347472"/>
          </a:xfrm>
          <a:prstGeom prst="rect">
            <a:avLst/>
          </a:prstGeom>
          <a:noFill/>
          <a:ln/>
        </p:spPr>
        <p:txBody>
          <a:bodyPr wrap="square" lIns="0" tIns="0" rIns="0" bIns="0" rtlCol="0" anchor="t"/>
          <a:lstStyle/>
          <a:p>
            <a:pPr indent="0" marL="0">
              <a:buNone/>
            </a:pPr>
            <a:r>
              <a:rPr lang="fr-FR" altLang="en-US" sz="1800" b="1" dirty="0">
                <a:solidFill>
                  <a:schemeClr val="tx1"/>
                </a:solidFill>
              </a:rPr>
              <a:t>64</a:t>
            </a:r>
            <a:endParaRPr lang="fr-FR" sz="1800" dirty="0"/>
          </a:p>
        </p:txBody>
      </p:sp>
      <p:sp>
        <p:nvSpPr>
          <p:cNvPr id="39" name="Text 30"/>
          <p:cNvSpPr txBox="1"/>
          <p:nvPr/>
        </p:nvSpPr>
        <p:spPr>
          <a:xfrm>
            <a:off x="7251192" y="4096512"/>
            <a:ext cx="1783080" cy="201168"/>
          </a:xfrm>
          <a:prstGeom prst="rect">
            <a:avLst/>
          </a:prstGeom>
          <a:noFill/>
          <a:ln/>
        </p:spPr>
        <p:txBody>
          <a:bodyPr wrap="square" lIns="0" tIns="0" rIns="0" bIns="0" rtlCol="0" anchor="t"/>
          <a:lstStyle/>
          <a:p>
            <a:pPr indent="0" marL="0">
              <a:buNone/>
            </a:pPr>
            <a:r>
              <a:rPr lang="fr-FR" altLang="en-US" sz="1000" dirty="0">
                <a:solidFill>
                  <a:schemeClr val="tx2"/>
                </a:solidFill>
              </a:rPr>
              <a:t>Publications vérifiées</a:t>
            </a:r>
            <a:endParaRPr lang="fr-FR" sz="1000" dirty="0"/>
          </a:p>
        </p:txBody>
      </p:sp>
      <p:sp>
        <p:nvSpPr>
          <p:cNvPr id="40" name="Shape 31"/>
          <p:cNvSpPr/>
          <p:nvPr/>
        </p:nvSpPr>
        <p:spPr>
          <a:xfrm>
            <a:off x="9208008" y="3657600"/>
            <a:ext cx="2011680" cy="731520"/>
          </a:xfrm>
          <a:prstGeom prst="roundRect">
            <a:avLst>
              <a:gd name="adj" fmla="val 7500"/>
            </a:avLst>
          </a:prstGeom>
          <a:solidFill>
            <a:schemeClr val="bg2"/>
          </a:solidFill>
          <a:ln/>
        </p:spPr>
      </p:sp>
      <p:sp>
        <p:nvSpPr>
          <p:cNvPr id="41" name="Text 32"/>
          <p:cNvSpPr txBox="1"/>
          <p:nvPr/>
        </p:nvSpPr>
        <p:spPr>
          <a:xfrm>
            <a:off x="9372600" y="3730752"/>
            <a:ext cx="1737360" cy="347472"/>
          </a:xfrm>
          <a:prstGeom prst="rect">
            <a:avLst/>
          </a:prstGeom>
          <a:noFill/>
          <a:ln/>
        </p:spPr>
        <p:txBody>
          <a:bodyPr wrap="square" lIns="0" tIns="0" rIns="0" bIns="0" rtlCol="0" anchor="t"/>
          <a:lstStyle/>
          <a:p>
            <a:pPr indent="0" marL="0">
              <a:buNone/>
            </a:pPr>
            <a:r>
              <a:rPr lang="fr-FR" altLang="en-US" sz="1800" b="1" dirty="0">
                <a:solidFill>
                  <a:schemeClr val="tx1"/>
                </a:solidFill>
              </a:rPr>
              <a:t>18</a:t>
            </a:r>
            <a:endParaRPr lang="fr-FR" sz="1800" dirty="0"/>
          </a:p>
        </p:txBody>
      </p:sp>
      <p:sp>
        <p:nvSpPr>
          <p:cNvPr id="42" name="Text 33"/>
          <p:cNvSpPr txBox="1"/>
          <p:nvPr/>
        </p:nvSpPr>
        <p:spPr>
          <a:xfrm>
            <a:off x="9372600" y="4096512"/>
            <a:ext cx="1783080" cy="201168"/>
          </a:xfrm>
          <a:prstGeom prst="rect">
            <a:avLst/>
          </a:prstGeom>
          <a:noFill/>
          <a:ln/>
        </p:spPr>
        <p:txBody>
          <a:bodyPr wrap="square" lIns="0" tIns="0" rIns="0" bIns="0" rtlCol="0" anchor="t"/>
          <a:lstStyle/>
          <a:p>
            <a:pPr indent="0" marL="0">
              <a:buNone/>
            </a:pPr>
            <a:r>
              <a:rPr lang="fr-FR" altLang="en-US" sz="1000" dirty="0">
                <a:solidFill>
                  <a:schemeClr val="tx2"/>
                </a:solidFill>
              </a:rPr>
              <a:t>Créateurs</a:t>
            </a:r>
            <a:endParaRPr lang="fr-FR" sz="1000" dirty="0"/>
          </a:p>
        </p:txBody>
      </p:sp>
      <p:sp>
        <p:nvSpPr>
          <p:cNvPr id="43" name="Text 34"/>
          <p:cNvSpPr txBox="1"/>
          <p:nvPr/>
        </p:nvSpPr>
        <p:spPr>
          <a:xfrm>
            <a:off x="7086600" y="4572000"/>
            <a:ext cx="2743200" cy="201168"/>
          </a:xfrm>
          <a:prstGeom prst="rect">
            <a:avLst/>
          </a:prstGeom>
          <a:noFill/>
          <a:ln/>
        </p:spPr>
        <p:txBody>
          <a:bodyPr wrap="square" lIns="0" tIns="0" rIns="0" bIns="0" rtlCol="0" anchor="t"/>
          <a:lstStyle/>
          <a:p>
            <a:pPr indent="0" marL="0">
              <a:buNone/>
            </a:pPr>
            <a:r>
              <a:rPr lang="fr-FR" altLang="en-US" sz="900" b="1" spc="300" kern="0" dirty="0">
                <a:solidFill>
                  <a:schemeClr val="accent3"/>
                </a:solidFill>
              </a:rPr>
              <a:t>VUES PAR PLATEFORME</a:t>
            </a:r>
            <a:endParaRPr lang="fr-FR" sz="900" dirty="0"/>
          </a:p>
        </p:txBody>
      </p:sp>
      <p:sp>
        <p:nvSpPr>
          <p:cNvPr id="44" name="Text 35"/>
          <p:cNvSpPr txBox="1"/>
          <p:nvPr/>
        </p:nvSpPr>
        <p:spPr>
          <a:xfrm>
            <a:off x="7086600" y="4864608"/>
            <a:ext cx="1005840" cy="219456"/>
          </a:xfrm>
          <a:prstGeom prst="rect">
            <a:avLst/>
          </a:prstGeom>
          <a:noFill/>
          <a:ln/>
        </p:spPr>
        <p:txBody>
          <a:bodyPr wrap="square" lIns="0" tIns="0" rIns="0" bIns="0" rtlCol="0" anchor="ctr"/>
          <a:lstStyle/>
          <a:p>
            <a:pPr indent="0" marL="0">
              <a:buNone/>
            </a:pPr>
            <a:r>
              <a:rPr lang="fr-FR" altLang="en-US" sz="1000" dirty="0">
                <a:solidFill>
                  <a:schemeClr val="tx2"/>
                </a:solidFill>
              </a:rPr>
              <a:t>Instagram</a:t>
            </a:r>
            <a:endParaRPr lang="fr-FR" sz="1000" dirty="0"/>
          </a:p>
        </p:txBody>
      </p:sp>
      <p:sp>
        <p:nvSpPr>
          <p:cNvPr id="45" name="Shape 36"/>
          <p:cNvSpPr/>
          <p:nvPr/>
        </p:nvSpPr>
        <p:spPr>
          <a:xfrm>
            <a:off x="8138160" y="4901184"/>
            <a:ext cx="2468880" cy="146304"/>
          </a:xfrm>
          <a:prstGeom prst="roundRect">
            <a:avLst>
              <a:gd name="adj" fmla="val 18750"/>
            </a:avLst>
          </a:prstGeom>
          <a:solidFill>
            <a:schemeClr val="accent2"/>
          </a:solidFill>
          <a:ln/>
        </p:spPr>
      </p:sp>
      <p:sp>
        <p:nvSpPr>
          <p:cNvPr id="46" name="Text 37"/>
          <p:cNvSpPr txBox="1"/>
          <p:nvPr/>
        </p:nvSpPr>
        <p:spPr>
          <a:xfrm>
            <a:off x="10698480" y="4864608"/>
            <a:ext cx="548640" cy="219456"/>
          </a:xfrm>
          <a:prstGeom prst="rect">
            <a:avLst/>
          </a:prstGeom>
          <a:noFill/>
          <a:ln/>
        </p:spPr>
        <p:txBody>
          <a:bodyPr wrap="square" lIns="0" tIns="0" rIns="0" bIns="0" rtlCol="0" anchor="ctr"/>
          <a:lstStyle/>
          <a:p>
            <a:pPr indent="0" marL="0">
              <a:buNone/>
            </a:pPr>
            <a:r>
              <a:rPr lang="fr-FR" altLang="en-US" sz="1000" b="1" dirty="0">
                <a:solidFill>
                  <a:schemeClr val="tx1"/>
                </a:solidFill>
              </a:rPr>
              <a:t>52%</a:t>
            </a:r>
            <a:endParaRPr lang="fr-FR" sz="1000" dirty="0"/>
          </a:p>
        </p:txBody>
      </p:sp>
      <p:sp>
        <p:nvSpPr>
          <p:cNvPr id="47" name="Text 38"/>
          <p:cNvSpPr txBox="1"/>
          <p:nvPr/>
        </p:nvSpPr>
        <p:spPr>
          <a:xfrm>
            <a:off x="7086600" y="5193792"/>
            <a:ext cx="1005840" cy="219456"/>
          </a:xfrm>
          <a:prstGeom prst="rect">
            <a:avLst/>
          </a:prstGeom>
          <a:noFill/>
          <a:ln/>
        </p:spPr>
        <p:txBody>
          <a:bodyPr wrap="square" lIns="0" tIns="0" rIns="0" bIns="0" rtlCol="0" anchor="ctr"/>
          <a:lstStyle/>
          <a:p>
            <a:pPr indent="0" marL="0">
              <a:buNone/>
            </a:pPr>
            <a:r>
              <a:rPr lang="fr-FR" altLang="en-US" sz="1000" dirty="0">
                <a:solidFill>
                  <a:schemeClr val="tx2"/>
                </a:solidFill>
              </a:rPr>
              <a:t>TikTok</a:t>
            </a:r>
            <a:endParaRPr lang="fr-FR" sz="1000" dirty="0"/>
          </a:p>
        </p:txBody>
      </p:sp>
      <p:sp>
        <p:nvSpPr>
          <p:cNvPr id="48" name="Shape 39"/>
          <p:cNvSpPr/>
          <p:nvPr/>
        </p:nvSpPr>
        <p:spPr>
          <a:xfrm>
            <a:off x="8138160" y="5230368"/>
            <a:ext cx="1804182" cy="146304"/>
          </a:xfrm>
          <a:prstGeom prst="roundRect">
            <a:avLst>
              <a:gd name="adj" fmla="val 18750"/>
            </a:avLst>
          </a:prstGeom>
          <a:solidFill>
            <a:schemeClr val="accent1"/>
          </a:solidFill>
          <a:ln/>
        </p:spPr>
      </p:sp>
      <p:sp>
        <p:nvSpPr>
          <p:cNvPr id="49" name="Text 40"/>
          <p:cNvSpPr txBox="1"/>
          <p:nvPr/>
        </p:nvSpPr>
        <p:spPr>
          <a:xfrm>
            <a:off x="10033782" y="5193792"/>
            <a:ext cx="548640" cy="219456"/>
          </a:xfrm>
          <a:prstGeom prst="rect">
            <a:avLst/>
          </a:prstGeom>
          <a:noFill/>
          <a:ln/>
        </p:spPr>
        <p:txBody>
          <a:bodyPr wrap="square" lIns="0" tIns="0" rIns="0" bIns="0" rtlCol="0" anchor="ctr"/>
          <a:lstStyle/>
          <a:p>
            <a:pPr indent="0" marL="0">
              <a:buNone/>
            </a:pPr>
            <a:r>
              <a:rPr lang="fr-FR" altLang="en-US" sz="1000" b="1" dirty="0">
                <a:solidFill>
                  <a:schemeClr val="tx1"/>
                </a:solidFill>
              </a:rPr>
              <a:t>38%</a:t>
            </a:r>
            <a:endParaRPr lang="fr-FR" sz="1000" dirty="0"/>
          </a:p>
        </p:txBody>
      </p:sp>
      <p:sp>
        <p:nvSpPr>
          <p:cNvPr id="50" name="Text 41"/>
          <p:cNvSpPr txBox="1"/>
          <p:nvPr/>
        </p:nvSpPr>
        <p:spPr>
          <a:xfrm>
            <a:off x="7086600" y="5522976"/>
            <a:ext cx="1005840" cy="219456"/>
          </a:xfrm>
          <a:prstGeom prst="rect">
            <a:avLst/>
          </a:prstGeom>
          <a:noFill/>
          <a:ln/>
        </p:spPr>
        <p:txBody>
          <a:bodyPr wrap="square" lIns="0" tIns="0" rIns="0" bIns="0" rtlCol="0" anchor="ctr"/>
          <a:lstStyle/>
          <a:p>
            <a:pPr indent="0" marL="0">
              <a:buNone/>
            </a:pPr>
            <a:r>
              <a:rPr lang="fr-FR" altLang="en-US" sz="1000" dirty="0">
                <a:solidFill>
                  <a:schemeClr val="tx2"/>
                </a:solidFill>
              </a:rPr>
              <a:t>YouTube</a:t>
            </a:r>
            <a:endParaRPr lang="fr-FR" sz="1000" dirty="0"/>
          </a:p>
        </p:txBody>
      </p:sp>
      <p:sp>
        <p:nvSpPr>
          <p:cNvPr id="51" name="Shape 42"/>
          <p:cNvSpPr/>
          <p:nvPr/>
        </p:nvSpPr>
        <p:spPr>
          <a:xfrm>
            <a:off x="8138160" y="5559552"/>
            <a:ext cx="474785" cy="146304"/>
          </a:xfrm>
          <a:prstGeom prst="roundRect">
            <a:avLst>
              <a:gd name="adj" fmla="val 18750"/>
            </a:avLst>
          </a:prstGeom>
          <a:solidFill>
            <a:schemeClr val="accent1"/>
          </a:solidFill>
          <a:ln/>
        </p:spPr>
      </p:sp>
      <p:sp>
        <p:nvSpPr>
          <p:cNvPr id="52" name="Text 43"/>
          <p:cNvSpPr txBox="1"/>
          <p:nvPr/>
        </p:nvSpPr>
        <p:spPr>
          <a:xfrm>
            <a:off x="8704385" y="5522976"/>
            <a:ext cx="548640" cy="219456"/>
          </a:xfrm>
          <a:prstGeom prst="rect">
            <a:avLst/>
          </a:prstGeom>
          <a:noFill/>
          <a:ln/>
        </p:spPr>
        <p:txBody>
          <a:bodyPr wrap="square" lIns="0" tIns="0" rIns="0" bIns="0" rtlCol="0" anchor="ctr"/>
          <a:lstStyle/>
          <a:p>
            <a:pPr indent="0" marL="0">
              <a:buNone/>
            </a:pPr>
            <a:r>
              <a:rPr lang="fr-FR" altLang="en-US" sz="1000" b="1" dirty="0">
                <a:solidFill>
                  <a:schemeClr val="tx1"/>
                </a:solidFill>
              </a:rPr>
              <a:t>10%</a:t>
            </a:r>
            <a:endParaRPr lang="fr-FR" sz="1000" dirty="0"/>
          </a:p>
        </p:txBody>
      </p:sp>
      <p:sp>
        <p:nvSpPr>
          <p:cNvPr id="53" name="Text 44"/>
          <p:cNvSpPr txBox="1"/>
          <p:nvPr/>
        </p:nvSpPr>
        <p:spPr>
          <a:xfrm>
            <a:off x="7086600" y="5779008"/>
            <a:ext cx="2926080" cy="201168"/>
          </a:xfrm>
          <a:prstGeom prst="rect">
            <a:avLst/>
          </a:prstGeom>
          <a:noFill/>
          <a:ln/>
        </p:spPr>
        <p:txBody>
          <a:bodyPr wrap="square" lIns="0" tIns="0" rIns="0" bIns="0" rtlCol="0" anchor="t"/>
          <a:lstStyle/>
          <a:p>
            <a:pPr indent="0" marL="0">
              <a:buNone/>
            </a:pPr>
            <a:r>
              <a:rPr lang="fr-FR" altLang="en-US" sz="1000" b="1" i="1" dirty="0">
                <a:solidFill>
                  <a:schemeClr val="accent3"/>
                </a:solidFill>
              </a:rPr>
              <a:t>Exemple de mise en page. Chiffres fictifs.</a:t>
            </a:r>
            <a:endParaRPr lang="fr-FR" sz="1000" dirty="0"/>
          </a:p>
        </p:txBody>
      </p:sp>
      <p:sp>
        <p:nvSpPr>
          <p:cNvPr id="54" name="Text 45"/>
          <p:cNvSpPr txBox="1"/>
          <p:nvPr/>
        </p:nvSpPr>
        <p:spPr>
          <a:xfrm>
            <a:off x="10222992" y="5779008"/>
            <a:ext cx="1005840" cy="201168"/>
          </a:xfrm>
          <a:prstGeom prst="rect">
            <a:avLst/>
          </a:prstGeom>
          <a:noFill/>
          <a:ln/>
        </p:spPr>
        <p:txBody>
          <a:bodyPr wrap="square" lIns="0" tIns="0" rIns="0" bIns="0" rtlCol="0" anchor="t"/>
          <a:lstStyle/>
          <a:p>
            <a:pPr algn="r" indent="0" marL="0">
              <a:buNone/>
            </a:pPr>
            <a:r>
              <a:rPr lang="fr-FR" altLang="en-US" sz="1000" b="1" u="sng" dirty="0">
                <a:solidFill>
                  <a:schemeClr val="accent3"/>
                </a:solidFill>
                <a:hlinkClick r:id="rId8" action="ppaction://hlinksldjump" tooltip="Exemple de rapport, page 2">
                  <a:extLst>
                    <a:ext uri="{A12FA001-AC4F-418D-AE19-62706E023703}">
                      <ahyp:hlinkClr xmlns:ahyp="http://schemas.microsoft.com/office/drawing/2018/hyperlinkcolor" val="tx"/>
                    </a:ext>
                  </a:extLst>
                </a:hlinkClick>
              </a:rPr>
              <a:t>Page 2  →</a:t>
            </a:r>
            <a:endParaRPr lang="fr-FR"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3"/>
                </a:solidFill>
              </a:rPr>
              <a:t>LA PROPOSITION</a:t>
            </a:r>
            <a:endParaRPr lang="fr-FR"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tx1"/>
                </a:solidFill>
              </a:rPr>
              <a:t>Un essai sur la 5e édition. Un rapport complet</a:t>
            </a:r>
            <a:endParaRPr lang="fr-FR"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3"/>
                </a:solidFill>
              </a:rPr>
              <a:t>×</a:t>
            </a:r>
            <a:endParaRPr lang="fr-FR"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Text 3"/>
          <p:cNvSpPr txBox="1"/>
          <p:nvPr/>
        </p:nvSpPr>
        <p:spPr>
          <a:xfrm>
            <a:off x="548640" y="1783080"/>
            <a:ext cx="6492240" cy="868680"/>
          </a:xfrm>
          <a:prstGeom prst="rect">
            <a:avLst/>
          </a:prstGeom>
          <a:noFill/>
          <a:ln/>
        </p:spPr>
        <p:txBody>
          <a:bodyPr wrap="square" lIns="0" tIns="0" rIns="0" bIns="0" rtlCol="0" anchor="t"/>
          <a:lstStyle/>
          <a:p>
            <a:pPr indent="0" marL="0">
              <a:lnSpc>
                <a:spcPct val="110000"/>
              </a:lnSpc>
              <a:buNone/>
            </a:pPr>
            <a:r>
              <a:rPr lang="fr-FR" altLang="en-US" sz="1600" dirty="0">
                <a:solidFill>
                  <a:schemeClr val="tx2"/>
                </a:solidFill>
              </a:rPr>
              <a:t>AToure gère l’activation des créateurs pour la 5e édition et livre un rapport de visibilité complet sur le festival, conçu pour être présenté aux sponsors et aux partenaires.</a:t>
            </a:r>
            <a:endParaRPr lang="fr-FR" sz="1600" dirty="0"/>
          </a:p>
        </p:txBody>
      </p:sp>
      <p:sp>
        <p:nvSpPr>
          <p:cNvPr id="9" name="Shape 4"/>
          <p:cNvSpPr/>
          <p:nvPr/>
        </p:nvSpPr>
        <p:spPr>
          <a:xfrm>
            <a:off x="548640" y="2834640"/>
            <a:ext cx="6492240" cy="384048"/>
          </a:xfrm>
          <a:prstGeom prst="rect">
            <a:avLst/>
          </a:prstGeom>
          <a:solidFill>
            <a:schemeClr val="accent1"/>
          </a:solidFill>
          <a:ln/>
        </p:spPr>
      </p:sp>
      <p:sp>
        <p:nvSpPr>
          <p:cNvPr id="10" name="Text 5"/>
          <p:cNvSpPr txBox="1"/>
          <p:nvPr/>
        </p:nvSpPr>
        <p:spPr>
          <a:xfrm>
            <a:off x="777240" y="2834640"/>
            <a:ext cx="6035040" cy="384048"/>
          </a:xfrm>
          <a:prstGeom prst="rect">
            <a:avLst/>
          </a:prstGeom>
          <a:noFill/>
          <a:ln/>
        </p:spPr>
        <p:txBody>
          <a:bodyPr wrap="square" lIns="0" tIns="0" rIns="0" bIns="0" rtlCol="0" anchor="ctr"/>
          <a:lstStyle/>
          <a:p>
            <a:pPr indent="0" marL="0">
              <a:buNone/>
            </a:pPr>
            <a:r>
              <a:rPr lang="fr-FR" altLang="en-US" sz="1200" b="1" spc="300" kern="0" dirty="0">
                <a:solidFill>
                  <a:schemeClr val="tx1"/>
                </a:solidFill>
              </a:rPr>
              <a:t>L’ACTIVATION</a:t>
            </a:r>
            <a:endParaRPr lang="fr-FR" sz="1200" dirty="0"/>
          </a:p>
        </p:txBody>
      </p:sp>
      <p:sp>
        <p:nvSpPr>
          <p:cNvPr id="11" name="Shape 6"/>
          <p:cNvSpPr/>
          <p:nvPr/>
        </p:nvSpPr>
        <p:spPr>
          <a:xfrm>
            <a:off x="548640" y="3218688"/>
            <a:ext cx="6492240" cy="777240"/>
          </a:xfrm>
          <a:prstGeom prst="rect">
            <a:avLst/>
          </a:prstGeom>
          <a:solidFill>
            <a:schemeClr val="bg1"/>
          </a:solidFill>
          <a:ln w="9525">
            <a:solidFill>
              <a:schemeClr val="tx2">
                <a:alpha val="28000"/>
              </a:schemeClr>
            </a:solidFill>
            <a:prstDash val="solid"/>
          </a:ln>
        </p:spPr>
      </p:sp>
      <p:sp>
        <p:nvSpPr>
          <p:cNvPr id="12" name="Text 7"/>
          <p:cNvSpPr txBox="1"/>
          <p:nvPr/>
        </p:nvSpPr>
        <p:spPr>
          <a:xfrm>
            <a:off x="777240" y="3291840"/>
            <a:ext cx="6035040" cy="640080"/>
          </a:xfrm>
          <a:prstGeom prst="rect">
            <a:avLst/>
          </a:prstGeom>
          <a:noFill/>
          <a:ln/>
        </p:spPr>
        <p:txBody>
          <a:bodyPr wrap="square" lIns="0" tIns="0" rIns="0" bIns="0" rtlCol="0" anchor="t"/>
          <a:lstStyle/>
          <a:p>
            <a:pPr indent="0" marL="0">
              <a:buNone/>
            </a:pPr>
            <a:r>
              <a:rPr lang="fr-FR" altLang="en-US" sz="1500" dirty="0">
                <a:solidFill>
                  <a:schemeClr val="tx1"/>
                </a:solidFill>
              </a:rPr>
              <a:t>Des créateurs adaptés aux publics du festival, gérés sur le terrain avant, pendant et après les 27 et 28 décembre.</a:t>
            </a:r>
            <a:endParaRPr lang="fr-FR" sz="1500" dirty="0"/>
          </a:p>
        </p:txBody>
      </p:sp>
      <p:sp>
        <p:nvSpPr>
          <p:cNvPr id="13" name="Shape 8"/>
          <p:cNvSpPr/>
          <p:nvPr/>
        </p:nvSpPr>
        <p:spPr>
          <a:xfrm>
            <a:off x="548640" y="4160520"/>
            <a:ext cx="6492240" cy="384048"/>
          </a:xfrm>
          <a:prstGeom prst="rect">
            <a:avLst/>
          </a:prstGeom>
          <a:solidFill>
            <a:schemeClr val="accent2"/>
          </a:solidFill>
          <a:ln/>
        </p:spPr>
      </p:sp>
      <p:sp>
        <p:nvSpPr>
          <p:cNvPr id="14" name="Text 9"/>
          <p:cNvSpPr txBox="1"/>
          <p:nvPr/>
        </p:nvSpPr>
        <p:spPr>
          <a:xfrm>
            <a:off x="777240" y="4160520"/>
            <a:ext cx="6035040" cy="384048"/>
          </a:xfrm>
          <a:prstGeom prst="rect">
            <a:avLst/>
          </a:prstGeom>
          <a:noFill/>
          <a:ln/>
        </p:spPr>
        <p:txBody>
          <a:bodyPr wrap="square" lIns="0" tIns="0" rIns="0" bIns="0" rtlCol="0" anchor="ctr"/>
          <a:lstStyle/>
          <a:p>
            <a:pPr indent="0" marL="0">
              <a:buNone/>
            </a:pPr>
            <a:r>
              <a:rPr lang="fr-FR" altLang="en-US" sz="1200" b="1" spc="300" kern="0" dirty="0">
                <a:solidFill>
                  <a:schemeClr val="tx1"/>
                </a:solidFill>
              </a:rPr>
              <a:t>LE RAPPORT</a:t>
            </a:r>
            <a:endParaRPr lang="fr-FR" sz="1200" dirty="0"/>
          </a:p>
        </p:txBody>
      </p:sp>
      <p:sp>
        <p:nvSpPr>
          <p:cNvPr id="15" name="Shape 10"/>
          <p:cNvSpPr/>
          <p:nvPr/>
        </p:nvSpPr>
        <p:spPr>
          <a:xfrm>
            <a:off x="548640" y="4544568"/>
            <a:ext cx="6492240" cy="777240"/>
          </a:xfrm>
          <a:prstGeom prst="rect">
            <a:avLst/>
          </a:prstGeom>
          <a:solidFill>
            <a:schemeClr val="bg1"/>
          </a:solidFill>
          <a:ln w="9525">
            <a:solidFill>
              <a:schemeClr val="tx2">
                <a:alpha val="28000"/>
              </a:schemeClr>
            </a:solidFill>
            <a:prstDash val="solid"/>
          </a:ln>
        </p:spPr>
      </p:sp>
      <p:sp>
        <p:nvSpPr>
          <p:cNvPr id="16" name="Text 11"/>
          <p:cNvSpPr txBox="1"/>
          <p:nvPr/>
        </p:nvSpPr>
        <p:spPr>
          <a:xfrm>
            <a:off x="777240" y="4617720"/>
            <a:ext cx="6035040" cy="640080"/>
          </a:xfrm>
          <a:prstGeom prst="rect">
            <a:avLst/>
          </a:prstGeom>
          <a:noFill/>
          <a:ln/>
        </p:spPr>
        <p:txBody>
          <a:bodyPr wrap="square" lIns="0" tIns="0" rIns="0" bIns="0" rtlCol="0" anchor="t"/>
          <a:lstStyle/>
          <a:p>
            <a:pPr indent="0" marL="0">
              <a:buNone/>
            </a:pPr>
            <a:r>
              <a:rPr lang="fr-FR" altLang="en-US" sz="1500" dirty="0">
                <a:solidFill>
                  <a:schemeClr val="tx1"/>
                </a:solidFill>
              </a:rPr>
              <a:t>Un point à 48 heures et le rapport complet au 14e jour, conçu pour l’équipe du festival et pour chaque sponsor.</a:t>
            </a:r>
            <a:endParaRPr lang="fr-FR" sz="1500" dirty="0"/>
          </a:p>
        </p:txBody>
      </p:sp>
      <p:sp>
        <p:nvSpPr>
          <p:cNvPr id="17" name="Text 12"/>
          <p:cNvSpPr txBox="1"/>
          <p:nvPr/>
        </p:nvSpPr>
        <p:spPr>
          <a:xfrm>
            <a:off x="548640" y="5532120"/>
            <a:ext cx="6492240" cy="502920"/>
          </a:xfrm>
          <a:prstGeom prst="rect">
            <a:avLst/>
          </a:prstGeom>
          <a:noFill/>
          <a:ln/>
        </p:spPr>
        <p:txBody>
          <a:bodyPr wrap="square" lIns="0" tIns="0" rIns="0" bIns="0" rtlCol="0" anchor="t"/>
          <a:lstStyle/>
          <a:p>
            <a:pPr indent="0" marL="0">
              <a:buNone/>
            </a:pPr>
            <a:r>
              <a:rPr lang="fr-FR" altLang="en-US" sz="1900" dirty="0">
                <a:solidFill>
                  <a:schemeClr val="accent3"/>
                </a:solidFill>
                <a:latin typeface="+mj-lt" pitchFamily="34" charset="0"/>
                <a:ea typeface="+mj-lt" pitchFamily="34" charset="-122"/>
                <a:cs typeface="+mj-lt" pitchFamily="34" charset="-120"/>
              </a:rPr>
              <a:t>Un essai, pas un engagement long. C’est ce qui ouvre la discussion sur 2027.</a:t>
            </a:r>
            <a:endParaRPr lang="fr-FR" sz="1900" dirty="0"/>
          </a:p>
        </p:txBody>
      </p:sp>
      <p:sp>
        <p:nvSpPr>
          <p:cNvPr id="18" name="Shape 13"/>
          <p:cNvSpPr/>
          <p:nvPr/>
        </p:nvSpPr>
        <p:spPr>
          <a:xfrm>
            <a:off x="7452360" y="1783080"/>
            <a:ext cx="4190695" cy="4251960"/>
          </a:xfrm>
          <a:prstGeom prst="roundRect">
            <a:avLst>
              <a:gd name="adj" fmla="val 2182"/>
            </a:avLst>
          </a:prstGeom>
          <a:solidFill>
            <a:schemeClr val="tx1"/>
          </a:solidFill>
          <a:ln/>
        </p:spPr>
      </p:sp>
      <p:pic>
        <p:nvPicPr>
          <p:cNvPr id="19" name="Image 2" descr="Mother Africa Festival">    </p:cNvPr>
          <p:cNvPicPr>
            <a:picLocks noChangeAspect="1"/>
          </p:cNvPicPr>
          <p:nvPr/>
        </p:nvPicPr>
        <p:blipFill>
          <a:blip r:embed="rId3"/>
          <a:stretch>
            <a:fillRect/>
          </a:stretch>
        </p:blipFill>
        <p:spPr>
          <a:xfrm>
            <a:off x="8548974" y="2240280"/>
            <a:ext cx="1997467" cy="1417320"/>
          </a:xfrm>
          <a:prstGeom prst="rect">
            <a:avLst/>
          </a:prstGeom>
        </p:spPr>
      </p:pic>
      <p:sp>
        <p:nvSpPr>
          <p:cNvPr id="20" name="Text 14"/>
          <p:cNvSpPr txBox="1"/>
          <p:nvPr/>
        </p:nvSpPr>
        <p:spPr>
          <a:xfrm>
            <a:off x="7452360" y="3749040"/>
            <a:ext cx="4190695" cy="548640"/>
          </a:xfrm>
          <a:prstGeom prst="rect">
            <a:avLst/>
          </a:prstGeom>
          <a:noFill/>
          <a:ln/>
        </p:spPr>
        <p:txBody>
          <a:bodyPr wrap="square" lIns="0" tIns="0" rIns="0" bIns="0" rtlCol="0" anchor="ctr"/>
          <a:lstStyle/>
          <a:p>
            <a:pPr algn="ctr" indent="0" marL="0">
              <a:buNone/>
            </a:pPr>
            <a:r>
              <a:rPr lang="fr-FR" altLang="en-US" sz="3000" dirty="0">
                <a:solidFill>
                  <a:schemeClr val="accent1"/>
                </a:solidFill>
              </a:rPr>
              <a:t>×</a:t>
            </a:r>
            <a:endParaRPr lang="fr-FR" sz="3000" dirty="0"/>
          </a:p>
        </p:txBody>
      </p:sp>
      <p:pic>
        <p:nvPicPr>
          <p:cNvPr id="21" name="Image 3" descr="AToure Management &amp; Consulting">    </p:cNvPr>
          <p:cNvPicPr>
            <a:picLocks noChangeAspect="1"/>
          </p:cNvPicPr>
          <p:nvPr/>
        </p:nvPicPr>
        <p:blipFill>
          <a:blip r:embed="rId4"/>
          <a:stretch>
            <a:fillRect/>
          </a:stretch>
        </p:blipFill>
        <p:spPr>
          <a:xfrm>
            <a:off x="7993228" y="4480560"/>
            <a:ext cx="3108960" cy="497434"/>
          </a:xfrm>
          <a:prstGeom prst="rect">
            <a:avLst/>
          </a:prstGeom>
        </p:spPr>
      </p:pic>
      <p:sp>
        <p:nvSpPr>
          <p:cNvPr id="22" name="Text 15"/>
          <p:cNvSpPr txBox="1"/>
          <p:nvPr/>
        </p:nvSpPr>
        <p:spPr>
          <a:xfrm>
            <a:off x="7452360" y="5349240"/>
            <a:ext cx="4190695" cy="274320"/>
          </a:xfrm>
          <a:prstGeom prst="rect">
            <a:avLst/>
          </a:prstGeom>
          <a:noFill/>
          <a:ln/>
        </p:spPr>
        <p:txBody>
          <a:bodyPr wrap="square" lIns="0" tIns="0" rIns="0" bIns="0" rtlCol="0" anchor="t"/>
          <a:lstStyle/>
          <a:p>
            <a:pPr algn="ctr" indent="0" marL="0">
              <a:buNone/>
            </a:pPr>
            <a:r>
              <a:rPr lang="fr-FR" altLang="en-US" sz="1100" dirty="0">
                <a:solidFill>
                  <a:schemeClr val="accent4"/>
                </a:solidFill>
              </a:rPr>
              <a:t>27 et 28 décembre 2026  ·  Marcory Zone 4</a:t>
            </a:r>
            <a:endParaRPr lang="fr-FR" sz="11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6437376"/>
            <a:ext cx="8229600" cy="237744"/>
          </a:xfrm>
          <a:prstGeom prst="rect">
            <a:avLst/>
          </a:prstGeom>
          <a:noFill/>
          <a:ln/>
        </p:spPr>
        <p:txBody>
          <a:bodyPr wrap="square" lIns="0" tIns="0" rIns="0" bIns="0" rtlCol="0" anchor="ctr"/>
          <a:lstStyle/>
          <a:p>
            <a:pPr indent="0" marL="0">
              <a:buNone/>
            </a:pPr>
            <a:r>
              <a:rPr lang="fr-FR" altLang="en-US" sz="1000" dirty="0">
                <a:solidFill>
                  <a:schemeClr val="accent4"/>
                </a:solidFill>
              </a:rPr>
              <a:t>AToure Management &amp; Consulting</a:t>
            </a:r>
            <a:endParaRPr lang="fr-FR" sz="1000" dirty="0"/>
          </a:p>
        </p:txBody>
      </p:sp>
      <p:sp>
        <p:nvSpPr>
          <p:cNvPr id="4"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1"/>
                </a:solidFill>
              </a:rPr>
              <a:t>POURQUOI ATOURE</a:t>
            </a:r>
            <a:endParaRPr lang="fr-FR" sz="1100" dirty="0"/>
          </a:p>
        </p:txBody>
      </p:sp>
      <p:sp>
        <p:nvSpPr>
          <p:cNvPr id="5"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bg1"/>
                </a:solidFill>
              </a:rPr>
              <a:t>Nous l’avons déjà fait, et mesuré</a:t>
            </a:r>
            <a:endParaRPr lang="fr-FR" sz="3800" dirty="0"/>
          </a:p>
        </p:txBody>
      </p:sp>
      <p:pic>
        <p:nvPicPr>
          <p:cNvPr id="7" name="Image 1" descr="AToure Management &amp; Consulting">    </p:cNvPr>
          <p:cNvPicPr>
            <a:picLocks noChangeAspect="1"/>
          </p:cNvPicPr>
          <p:nvPr/>
        </p:nvPicPr>
        <p:blipFill>
          <a:blip r:embed="rId2"/>
          <a:stretch>
            <a:fillRect/>
          </a:stretch>
        </p:blipFill>
        <p:spPr>
          <a:xfrm>
            <a:off x="9098280" y="301752"/>
            <a:ext cx="1417320" cy="226771"/>
          </a:xfrm>
          <a:prstGeom prst="rect">
            <a:avLst/>
          </a:prstGeom>
        </p:spPr>
      </p:pic>
      <p:sp>
        <p:nvSpPr>
          <p:cNvPr id="8" name="Text 3"/>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1"/>
                </a:solidFill>
              </a:rPr>
              <a:t>×</a:t>
            </a:r>
            <a:endParaRPr lang="fr-FR" sz="1600" dirty="0"/>
          </a:p>
        </p:txBody>
      </p:sp>
      <p:pic>
        <p:nvPicPr>
          <p:cNvPr id="9" name="Image 2" descr="Mother Africa Festival">    </p:cNvPr>
          <p:cNvPicPr>
            <a:picLocks noChangeAspect="1"/>
          </p:cNvPicPr>
          <p:nvPr/>
        </p:nvPicPr>
        <p:blipFill>
          <a:blip r:embed="rId3"/>
          <a:stretch>
            <a:fillRect/>
          </a:stretch>
        </p:blipFill>
        <p:spPr>
          <a:xfrm>
            <a:off x="10984687" y="182880"/>
            <a:ext cx="657231" cy="466344"/>
          </a:xfrm>
          <a:prstGeom prst="rect">
            <a:avLst/>
          </a:prstGeom>
        </p:spPr>
      </p:pic>
      <p:pic>
        <p:nvPicPr>
          <p:cNvPr id="10" name="Photo speed_ci" descr="IShowSpeed en Côte d’Ivoire, Abidjan">    </p:cNvPr>
          <p:cNvPicPr>
            <a:picLocks noChangeAspect="1"/>
          </p:cNvPicPr>
          <p:nvPr/>
        </p:nvPicPr>
        <p:blipFill>
          <a:blip r:embed="rId4"/>
          <a:stretch>
            <a:fillRect/>
          </a:stretch>
        </p:blipFill>
        <p:spPr>
          <a:xfrm>
            <a:off x="548640" y="1783080"/>
            <a:ext cx="4929872" cy="3429000"/>
          </a:xfrm>
          <a:prstGeom prst="rect">
            <a:avLst/>
          </a:prstGeom>
        </p:spPr>
      </p:pic>
      <p:sp>
        <p:nvSpPr>
          <p:cNvPr id="11" name="Shape 4"/>
          <p:cNvSpPr/>
          <p:nvPr/>
        </p:nvSpPr>
        <p:spPr>
          <a:xfrm>
            <a:off x="658368" y="4809744"/>
            <a:ext cx="796442" cy="292608"/>
          </a:xfrm>
          <a:prstGeom prst="roundRect">
            <a:avLst>
              <a:gd name="adj" fmla="val 18750"/>
            </a:avLst>
          </a:prstGeom>
          <a:solidFill>
            <a:schemeClr val="tx1">
              <a:alpha val="70000"/>
            </a:schemeClr>
          </a:solidFill>
          <a:ln/>
        </p:spPr>
      </p:sp>
      <p:sp>
        <p:nvSpPr>
          <p:cNvPr id="12" name="Text 5"/>
          <p:cNvSpPr txBox="1"/>
          <p:nvPr/>
        </p:nvSpPr>
        <p:spPr>
          <a:xfrm>
            <a:off x="658368" y="4809744"/>
            <a:ext cx="796442" cy="292608"/>
          </a:xfrm>
          <a:prstGeom prst="rect">
            <a:avLst/>
          </a:prstGeom>
          <a:noFill/>
          <a:ln/>
        </p:spPr>
        <p:txBody>
          <a:bodyPr wrap="square" lIns="0" tIns="0" rIns="0" bIns="0" rtlCol="0" anchor="ctr"/>
          <a:lstStyle/>
          <a:p>
            <a:pPr algn="ctr" indent="0" marL="0">
              <a:buNone/>
            </a:pPr>
            <a:r>
              <a:rPr lang="fr-FR" altLang="en-US" sz="1000" dirty="0">
                <a:solidFill>
                  <a:schemeClr val="bg1"/>
                </a:solidFill>
              </a:rPr>
              <a:t>Abidjan</a:t>
            </a:r>
            <a:endParaRPr lang="fr-FR" sz="1000" dirty="0"/>
          </a:p>
        </p:txBody>
      </p:sp>
      <p:sp>
        <p:nvSpPr>
          <p:cNvPr id="13" name="Text 6"/>
          <p:cNvSpPr txBox="1"/>
          <p:nvPr/>
        </p:nvSpPr>
        <p:spPr>
          <a:xfrm>
            <a:off x="548640" y="5321808"/>
            <a:ext cx="4929872" cy="411480"/>
          </a:xfrm>
          <a:prstGeom prst="rect">
            <a:avLst/>
          </a:prstGeom>
          <a:noFill/>
          <a:ln/>
        </p:spPr>
        <p:txBody>
          <a:bodyPr wrap="square" lIns="0" tIns="0" rIns="0" bIns="0" rtlCol="0" anchor="t"/>
          <a:lstStyle/>
          <a:p>
            <a:pPr indent="0" marL="0">
              <a:buNone/>
            </a:pPr>
            <a:r>
              <a:rPr lang="fr-FR" altLang="en-US" sz="2600" dirty="0">
                <a:solidFill>
                  <a:schemeClr val="accent4"/>
                </a:solidFill>
              </a:rPr>
              <a:t>55,8 M</a:t>
            </a:r>
            <a:endParaRPr lang="fr-FR" sz="2600" dirty="0"/>
          </a:p>
        </p:txBody>
      </p:sp>
      <p:sp>
        <p:nvSpPr>
          <p:cNvPr id="14" name="Text 7"/>
          <p:cNvSpPr txBox="1"/>
          <p:nvPr/>
        </p:nvSpPr>
        <p:spPr>
          <a:xfrm>
            <a:off x="548640" y="5733288"/>
            <a:ext cx="4929872" cy="347472"/>
          </a:xfrm>
          <a:prstGeom prst="rect">
            <a:avLst/>
          </a:prstGeom>
          <a:noFill/>
          <a:ln/>
        </p:spPr>
        <p:txBody>
          <a:bodyPr wrap="square" lIns="0" tIns="0" rIns="0" bIns="0" rtlCol="0" anchor="t"/>
          <a:lstStyle/>
          <a:p>
            <a:pPr indent="0" marL="0">
              <a:buNone/>
            </a:pPr>
            <a:r>
              <a:rPr lang="fr-FR" altLang="en-US" sz="1050" dirty="0">
                <a:solidFill>
                  <a:schemeClr val="accent5"/>
                </a:solidFill>
              </a:rPr>
              <a:t>Vues Instagram sur un seul reel. IShowSpeed en Côte d’Ivoire.</a:t>
            </a:r>
            <a:endParaRPr lang="fr-FR" sz="1050" dirty="0"/>
          </a:p>
        </p:txBody>
      </p:sp>
      <p:pic>
        <p:nvPicPr>
          <p:cNvPr id="15" name="Photo speed_ma" descr="IShowSpeed au Maroc pour la finale de la CAN 2025">    </p:cNvPr>
          <p:cNvPicPr>
            <a:picLocks noChangeAspect="1"/>
          </p:cNvPicPr>
          <p:nvPr/>
        </p:nvPicPr>
        <p:blipFill>
          <a:blip r:embed="rId5"/>
          <a:stretch>
            <a:fillRect/>
          </a:stretch>
        </p:blipFill>
        <p:spPr>
          <a:xfrm>
            <a:off x="6044279" y="1783080"/>
            <a:ext cx="2289810" cy="3429000"/>
          </a:xfrm>
          <a:prstGeom prst="rect">
            <a:avLst/>
          </a:prstGeom>
        </p:spPr>
      </p:pic>
      <p:sp>
        <p:nvSpPr>
          <p:cNvPr id="16" name="Shape 8"/>
          <p:cNvSpPr/>
          <p:nvPr/>
        </p:nvSpPr>
        <p:spPr>
          <a:xfrm>
            <a:off x="6154007" y="4809744"/>
            <a:ext cx="1864462" cy="292608"/>
          </a:xfrm>
          <a:prstGeom prst="roundRect">
            <a:avLst>
              <a:gd name="adj" fmla="val 18750"/>
            </a:avLst>
          </a:prstGeom>
          <a:solidFill>
            <a:schemeClr val="tx1">
              <a:alpha val="70000"/>
            </a:schemeClr>
          </a:solidFill>
          <a:ln/>
        </p:spPr>
      </p:sp>
      <p:sp>
        <p:nvSpPr>
          <p:cNvPr id="17" name="Text 9"/>
          <p:cNvSpPr txBox="1"/>
          <p:nvPr/>
        </p:nvSpPr>
        <p:spPr>
          <a:xfrm>
            <a:off x="6154007" y="4809744"/>
            <a:ext cx="1864462" cy="292608"/>
          </a:xfrm>
          <a:prstGeom prst="rect">
            <a:avLst/>
          </a:prstGeom>
          <a:noFill/>
          <a:ln/>
        </p:spPr>
        <p:txBody>
          <a:bodyPr wrap="square" lIns="0" tIns="0" rIns="0" bIns="0" rtlCol="0" anchor="ctr"/>
          <a:lstStyle/>
          <a:p>
            <a:pPr algn="ctr" indent="0" marL="0">
              <a:buNone/>
            </a:pPr>
            <a:r>
              <a:rPr lang="fr-FR" altLang="en-US" sz="1000" dirty="0">
                <a:solidFill>
                  <a:schemeClr val="bg1"/>
                </a:solidFill>
              </a:rPr>
              <a:t>Maroc, finale de la CAN</a:t>
            </a:r>
            <a:endParaRPr lang="fr-FR" sz="1000" dirty="0"/>
          </a:p>
        </p:txBody>
      </p:sp>
      <p:sp>
        <p:nvSpPr>
          <p:cNvPr id="18" name="Text 10"/>
          <p:cNvSpPr txBox="1"/>
          <p:nvPr/>
        </p:nvSpPr>
        <p:spPr>
          <a:xfrm>
            <a:off x="6044279" y="5321808"/>
            <a:ext cx="2289810" cy="411480"/>
          </a:xfrm>
          <a:prstGeom prst="rect">
            <a:avLst/>
          </a:prstGeom>
          <a:noFill/>
          <a:ln/>
        </p:spPr>
        <p:txBody>
          <a:bodyPr wrap="square" lIns="0" tIns="0" rIns="0" bIns="0" rtlCol="0" anchor="t"/>
          <a:lstStyle/>
          <a:p>
            <a:pPr indent="0" marL="0">
              <a:buNone/>
            </a:pPr>
            <a:r>
              <a:rPr lang="fr-FR" altLang="en-US" sz="2600" dirty="0">
                <a:solidFill>
                  <a:schemeClr val="accent4"/>
                </a:solidFill>
              </a:rPr>
              <a:t>16 M</a:t>
            </a:r>
            <a:endParaRPr lang="fr-FR" sz="2600" dirty="0"/>
          </a:p>
        </p:txBody>
      </p:sp>
      <p:sp>
        <p:nvSpPr>
          <p:cNvPr id="19" name="Text 11"/>
          <p:cNvSpPr txBox="1"/>
          <p:nvPr/>
        </p:nvSpPr>
        <p:spPr>
          <a:xfrm>
            <a:off x="6044279" y="5733288"/>
            <a:ext cx="2289810" cy="347472"/>
          </a:xfrm>
          <a:prstGeom prst="rect">
            <a:avLst/>
          </a:prstGeom>
          <a:noFill/>
          <a:ln/>
        </p:spPr>
        <p:txBody>
          <a:bodyPr wrap="square" lIns="0" tIns="0" rIns="0" bIns="0" rtlCol="0" anchor="t"/>
          <a:lstStyle/>
          <a:p>
            <a:pPr indent="0" marL="0">
              <a:buNone/>
            </a:pPr>
            <a:r>
              <a:rPr lang="fr-FR" altLang="en-US" sz="1050" dirty="0">
                <a:solidFill>
                  <a:schemeClr val="accent5"/>
                </a:solidFill>
              </a:rPr>
              <a:t>Vues en direct de la révélation de la mascotte de la CAN.</a:t>
            </a:r>
            <a:endParaRPr lang="fr-FR" sz="1050" dirty="0"/>
          </a:p>
        </p:txBody>
      </p:sp>
      <p:pic>
        <p:nvPicPr>
          <p:cNvPr id="20" name="Photo ashton" descr="Ashton Hall Africa Tour, étape du Nigeria">    </p:cNvPr>
          <p:cNvPicPr>
            <a:picLocks noChangeAspect="1"/>
          </p:cNvPicPr>
          <p:nvPr/>
        </p:nvPicPr>
        <p:blipFill>
          <a:blip r:embed="rId6"/>
          <a:stretch>
            <a:fillRect/>
          </a:stretch>
        </p:blipFill>
        <p:spPr>
          <a:xfrm>
            <a:off x="8899855" y="1783080"/>
            <a:ext cx="2743200" cy="3429000"/>
          </a:xfrm>
          <a:prstGeom prst="rect">
            <a:avLst/>
          </a:prstGeom>
        </p:spPr>
      </p:pic>
      <p:sp>
        <p:nvSpPr>
          <p:cNvPr id="21" name="Shape 12"/>
          <p:cNvSpPr/>
          <p:nvPr/>
        </p:nvSpPr>
        <p:spPr>
          <a:xfrm>
            <a:off x="9009583" y="4809744"/>
            <a:ext cx="662940" cy="292608"/>
          </a:xfrm>
          <a:prstGeom prst="roundRect">
            <a:avLst>
              <a:gd name="adj" fmla="val 18750"/>
            </a:avLst>
          </a:prstGeom>
          <a:solidFill>
            <a:schemeClr val="tx1">
              <a:alpha val="70000"/>
            </a:schemeClr>
          </a:solidFill>
          <a:ln/>
        </p:spPr>
      </p:sp>
      <p:sp>
        <p:nvSpPr>
          <p:cNvPr id="22" name="Text 13"/>
          <p:cNvSpPr txBox="1"/>
          <p:nvPr/>
        </p:nvSpPr>
        <p:spPr>
          <a:xfrm>
            <a:off x="9009583" y="4809744"/>
            <a:ext cx="662940" cy="292608"/>
          </a:xfrm>
          <a:prstGeom prst="rect">
            <a:avLst/>
          </a:prstGeom>
          <a:noFill/>
          <a:ln/>
        </p:spPr>
        <p:txBody>
          <a:bodyPr wrap="square" lIns="0" tIns="0" rIns="0" bIns="0" rtlCol="0" anchor="ctr"/>
          <a:lstStyle/>
          <a:p>
            <a:pPr algn="ctr" indent="0" marL="0">
              <a:buNone/>
            </a:pPr>
            <a:r>
              <a:rPr lang="fr-FR" altLang="en-US" sz="1000" dirty="0">
                <a:solidFill>
                  <a:schemeClr val="bg1"/>
                </a:solidFill>
              </a:rPr>
              <a:t>Lagos</a:t>
            </a:r>
            <a:endParaRPr lang="fr-FR" sz="1000" dirty="0"/>
          </a:p>
        </p:txBody>
      </p:sp>
      <p:sp>
        <p:nvSpPr>
          <p:cNvPr id="23" name="Text 14"/>
          <p:cNvSpPr txBox="1"/>
          <p:nvPr/>
        </p:nvSpPr>
        <p:spPr>
          <a:xfrm>
            <a:off x="8899855" y="5321808"/>
            <a:ext cx="2743200" cy="411480"/>
          </a:xfrm>
          <a:prstGeom prst="rect">
            <a:avLst/>
          </a:prstGeom>
          <a:noFill/>
          <a:ln/>
        </p:spPr>
        <p:txBody>
          <a:bodyPr wrap="square" lIns="0" tIns="0" rIns="0" bIns="0" rtlCol="0" anchor="t"/>
          <a:lstStyle/>
          <a:p>
            <a:pPr indent="0" marL="0">
              <a:buNone/>
            </a:pPr>
            <a:r>
              <a:rPr lang="fr-FR" altLang="en-US" sz="2600" dirty="0">
                <a:solidFill>
                  <a:schemeClr val="accent4"/>
                </a:solidFill>
              </a:rPr>
              <a:t>1,57 Md</a:t>
            </a:r>
            <a:endParaRPr lang="fr-FR" sz="2600" dirty="0"/>
          </a:p>
        </p:txBody>
      </p:sp>
      <p:sp>
        <p:nvSpPr>
          <p:cNvPr id="24" name="Text 15"/>
          <p:cNvSpPr txBox="1"/>
          <p:nvPr/>
        </p:nvSpPr>
        <p:spPr>
          <a:xfrm>
            <a:off x="8899855" y="5733288"/>
            <a:ext cx="2743200" cy="347472"/>
          </a:xfrm>
          <a:prstGeom prst="rect">
            <a:avLst/>
          </a:prstGeom>
          <a:noFill/>
          <a:ln/>
        </p:spPr>
        <p:txBody>
          <a:bodyPr wrap="square" lIns="0" tIns="0" rIns="0" bIns="0" rtlCol="0" anchor="t"/>
          <a:lstStyle/>
          <a:p>
            <a:pPr indent="0" marL="0">
              <a:buNone/>
            </a:pPr>
            <a:r>
              <a:rPr lang="fr-FR" altLang="en-US" sz="1050" dirty="0">
                <a:solidFill>
                  <a:schemeClr val="accent5"/>
                </a:solidFill>
              </a:rPr>
              <a:t>Vues de la tournée dans cinq pays, gérée de bout en bout.</a:t>
            </a:r>
            <a:endParaRPr lang="fr-FR" sz="1050" dirty="0"/>
          </a:p>
        </p:txBody>
      </p:sp>
      <p:sp>
        <p:nvSpPr>
          <p:cNvPr id="25" name="Text 16"/>
          <p:cNvSpPr txBox="1"/>
          <p:nvPr/>
        </p:nvSpPr>
        <p:spPr>
          <a:xfrm>
            <a:off x="548640" y="6144768"/>
            <a:ext cx="11094415" cy="201168"/>
          </a:xfrm>
          <a:prstGeom prst="rect">
            <a:avLst/>
          </a:prstGeom>
          <a:noFill/>
          <a:ln/>
        </p:spPr>
        <p:txBody>
          <a:bodyPr wrap="square" lIns="0" tIns="0" rIns="0" bIns="0" rtlCol="0" anchor="t"/>
          <a:lstStyle/>
          <a:p>
            <a:pPr indent="0" marL="0">
              <a:buNone/>
            </a:pPr>
            <a:r>
              <a:rPr lang="fr-FR" altLang="en-US" sz="900" dirty="0">
                <a:solidFill>
                  <a:schemeClr val="accent5"/>
                </a:solidFill>
              </a:rPr>
              <a:t>Sources : statistiques Instagram et YouTube, chiffres de la tournée fournis par le client.</a:t>
            </a:r>
            <a:endParaRPr lang="fr-FR" sz="9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548640" y="411480"/>
            <a:ext cx="5257800" cy="256032"/>
          </a:xfrm>
          <a:prstGeom prst="rect">
            <a:avLst/>
          </a:prstGeom>
          <a:noFill/>
          <a:ln/>
        </p:spPr>
        <p:txBody>
          <a:bodyPr wrap="square" lIns="0" tIns="0" rIns="0" bIns="0" rtlCol="0" anchor="t"/>
          <a:lstStyle/>
          <a:p>
            <a:pPr algn="l" indent="0" marL="0">
              <a:buNone/>
            </a:pPr>
            <a:r>
              <a:rPr lang="fr-FR" altLang="en-US" sz="1100" b="1" spc="300" kern="0" dirty="0">
                <a:solidFill>
                  <a:schemeClr val="accent1"/>
                </a:solidFill>
              </a:rPr>
              <a:t>LA DEMANDE</a:t>
            </a:r>
            <a:endParaRPr lang="fr-FR" sz="1100" dirty="0"/>
          </a:p>
        </p:txBody>
      </p:sp>
      <p:sp>
        <p:nvSpPr>
          <p:cNvPr id="4" name="Text 0"/>
          <p:cNvSpPr/>
          <p:nvPr>
            <p:ph idx="101" type="title" hasCustomPrompt="1"/>
          </p:nvPr>
        </p:nvSpPr>
        <p:spPr>
          <a:xfrm>
            <a:off x="548640" y="676656"/>
            <a:ext cx="5257800" cy="1188720"/>
          </a:xfrm>
          <a:prstGeom prst="rect">
            <a:avLst/>
          </a:prstGeom>
          <a:noFill/>
          <a:ln/>
        </p:spPr>
        <p:txBody>
          <a:bodyPr wrap="square" lIns="0" tIns="0" rIns="0" bIns="0" rtlCol="0" anchor="t"/>
          <a:lstStyle/>
          <a:p>
            <a:pPr algn="l" indent="0" marL="0">
              <a:buNone/>
            </a:pPr>
            <a:r>
              <a:rPr lang="fr-FR" altLang="en-US" sz="3800" dirty="0">
                <a:solidFill>
                  <a:schemeClr val="bg1"/>
                </a:solidFill>
              </a:rPr>
              <a:t>Construisons ensemble la 5e édition</a:t>
            </a:r>
            <a:endParaRPr lang="fr-FR" sz="3800" dirty="0"/>
          </a:p>
        </p:txBody>
      </p:sp>
      <p:pic>
        <p:nvPicPr>
          <p:cNvPr id="6" name="Photo poster2026" descr="Affiche Mother Africa Festival 2026 : Davido, 27 et 28 décembre, Marcory Zone 4, Abidjan">    </p:cNvPr>
          <p:cNvPicPr>
            <a:picLocks noChangeAspect="1"/>
          </p:cNvPicPr>
          <p:nvPr/>
        </p:nvPicPr>
        <p:blipFill>
          <a:blip r:embed="rId2"/>
          <a:stretch>
            <a:fillRect/>
          </a:stretch>
        </p:blipFill>
        <p:spPr>
          <a:xfrm>
            <a:off x="8641080" y="685800"/>
            <a:ext cx="2998102" cy="4023360"/>
          </a:xfrm>
          <a:prstGeom prst="rect">
            <a:avLst/>
          </a:prstGeom>
        </p:spPr>
      </p:pic>
      <p:sp>
        <p:nvSpPr>
          <p:cNvPr id="7" name="Shape 2"/>
          <p:cNvSpPr/>
          <p:nvPr/>
        </p:nvSpPr>
        <p:spPr>
          <a:xfrm>
            <a:off x="548640" y="2148840"/>
            <a:ext cx="457200" cy="457200"/>
          </a:xfrm>
          <a:prstGeom prst="ellipse">
            <a:avLst/>
          </a:prstGeom>
          <a:solidFill>
            <a:schemeClr val="accent1"/>
          </a:solidFill>
          <a:ln/>
        </p:spPr>
      </p:sp>
      <p:sp>
        <p:nvSpPr>
          <p:cNvPr id="8" name="Text 3"/>
          <p:cNvSpPr txBox="1"/>
          <p:nvPr/>
        </p:nvSpPr>
        <p:spPr>
          <a:xfrm>
            <a:off x="548640" y="2148840"/>
            <a:ext cx="457200" cy="457200"/>
          </a:xfrm>
          <a:prstGeom prst="rect">
            <a:avLst/>
          </a:prstGeom>
          <a:noFill/>
          <a:ln/>
        </p:spPr>
        <p:txBody>
          <a:bodyPr wrap="square" lIns="0" tIns="0" rIns="0" bIns="0" rtlCol="0" anchor="ctr"/>
          <a:lstStyle/>
          <a:p>
            <a:pPr algn="ctr" indent="0" marL="0">
              <a:buNone/>
            </a:pPr>
            <a:r>
              <a:rPr lang="fr-FR" altLang="en-US" sz="1400" b="1" dirty="0">
                <a:solidFill>
                  <a:schemeClr val="tx1"/>
                </a:solidFill>
              </a:rPr>
              <a:t>1</a:t>
            </a:r>
            <a:endParaRPr lang="fr-FR" sz="1400" dirty="0"/>
          </a:p>
        </p:txBody>
      </p:sp>
      <p:sp>
        <p:nvSpPr>
          <p:cNvPr id="9" name="Text 4"/>
          <p:cNvSpPr txBox="1"/>
          <p:nvPr/>
        </p:nvSpPr>
        <p:spPr>
          <a:xfrm>
            <a:off x="1188720" y="2112264"/>
            <a:ext cx="5943600" cy="329184"/>
          </a:xfrm>
          <a:prstGeom prst="rect">
            <a:avLst/>
          </a:prstGeom>
          <a:noFill/>
          <a:ln/>
        </p:spPr>
        <p:txBody>
          <a:bodyPr wrap="square" lIns="0" tIns="0" rIns="0" bIns="0" rtlCol="0" anchor="t"/>
          <a:lstStyle/>
          <a:p>
            <a:pPr indent="0" marL="0">
              <a:buNone/>
            </a:pPr>
            <a:r>
              <a:rPr lang="fr-FR" altLang="en-US" sz="2000" dirty="0">
                <a:solidFill>
                  <a:schemeClr val="bg1"/>
                </a:solidFill>
                <a:latin typeface="+mj-lt" pitchFamily="34" charset="0"/>
                <a:ea typeface="+mj-lt" pitchFamily="34" charset="-122"/>
                <a:cs typeface="+mj-lt" pitchFamily="34" charset="-120"/>
              </a:rPr>
              <a:t>Valider le périmètre et fixer les objectifs</a:t>
            </a:r>
            <a:endParaRPr lang="fr-FR" sz="2000" dirty="0"/>
          </a:p>
        </p:txBody>
      </p:sp>
      <p:sp>
        <p:nvSpPr>
          <p:cNvPr id="10" name="Text 5"/>
          <p:cNvSpPr txBox="1"/>
          <p:nvPr/>
        </p:nvSpPr>
        <p:spPr>
          <a:xfrm>
            <a:off x="1188720" y="2441448"/>
            <a:ext cx="5943600" cy="237744"/>
          </a:xfrm>
          <a:prstGeom prst="rect">
            <a:avLst/>
          </a:prstGeom>
          <a:noFill/>
          <a:ln/>
        </p:spPr>
        <p:txBody>
          <a:bodyPr wrap="square" lIns="0" tIns="0" rIns="0" bIns="0" rtlCol="0" anchor="t"/>
          <a:lstStyle/>
          <a:p>
            <a:pPr indent="0" marL="0">
              <a:buNone/>
            </a:pPr>
            <a:r>
              <a:rPr lang="fr-FR" altLang="en-US" sz="1200" dirty="0">
                <a:solidFill>
                  <a:schemeClr val="accent4"/>
                </a:solidFill>
              </a:rPr>
              <a:t>Cette semaine</a:t>
            </a:r>
            <a:endParaRPr lang="fr-FR" sz="1200" dirty="0"/>
          </a:p>
        </p:txBody>
      </p:sp>
      <p:sp>
        <p:nvSpPr>
          <p:cNvPr id="11" name="Shape 6"/>
          <p:cNvSpPr/>
          <p:nvPr/>
        </p:nvSpPr>
        <p:spPr>
          <a:xfrm>
            <a:off x="548640" y="2880360"/>
            <a:ext cx="457200" cy="457200"/>
          </a:xfrm>
          <a:prstGeom prst="ellipse">
            <a:avLst/>
          </a:prstGeom>
          <a:solidFill>
            <a:schemeClr val="accent1"/>
          </a:solidFill>
          <a:ln/>
        </p:spPr>
      </p:sp>
      <p:sp>
        <p:nvSpPr>
          <p:cNvPr id="12" name="Text 7"/>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fr-FR" altLang="en-US" sz="1400" b="1" dirty="0">
                <a:solidFill>
                  <a:schemeClr val="tx1"/>
                </a:solidFill>
              </a:rPr>
              <a:t>2</a:t>
            </a:r>
            <a:endParaRPr lang="fr-FR" sz="1400" dirty="0"/>
          </a:p>
        </p:txBody>
      </p:sp>
      <p:sp>
        <p:nvSpPr>
          <p:cNvPr id="13" name="Text 8"/>
          <p:cNvSpPr txBox="1"/>
          <p:nvPr/>
        </p:nvSpPr>
        <p:spPr>
          <a:xfrm>
            <a:off x="1188720" y="2843784"/>
            <a:ext cx="5943600" cy="329184"/>
          </a:xfrm>
          <a:prstGeom prst="rect">
            <a:avLst/>
          </a:prstGeom>
          <a:noFill/>
          <a:ln/>
        </p:spPr>
        <p:txBody>
          <a:bodyPr wrap="square" lIns="0" tIns="0" rIns="0" bIns="0" rtlCol="0" anchor="t"/>
          <a:lstStyle/>
          <a:p>
            <a:pPr indent="0" marL="0">
              <a:buNone/>
            </a:pPr>
            <a:r>
              <a:rPr lang="fr-FR" altLang="en-US" sz="2000" dirty="0">
                <a:solidFill>
                  <a:schemeClr val="bg1"/>
                </a:solidFill>
                <a:latin typeface="+mj-lt" pitchFamily="34" charset="0"/>
                <a:ea typeface="+mj-lt" pitchFamily="34" charset="-122"/>
                <a:cs typeface="+mj-lt" pitchFamily="34" charset="-120"/>
              </a:rPr>
              <a:t>Approuver la sélection de créateurs</a:t>
            </a:r>
            <a:endParaRPr lang="fr-FR" sz="2000" dirty="0"/>
          </a:p>
        </p:txBody>
      </p:sp>
      <p:sp>
        <p:nvSpPr>
          <p:cNvPr id="14" name="Text 9"/>
          <p:cNvSpPr txBox="1"/>
          <p:nvPr/>
        </p:nvSpPr>
        <p:spPr>
          <a:xfrm>
            <a:off x="1188720" y="3172968"/>
            <a:ext cx="5943600" cy="237744"/>
          </a:xfrm>
          <a:prstGeom prst="rect">
            <a:avLst/>
          </a:prstGeom>
          <a:noFill/>
          <a:ln/>
        </p:spPr>
        <p:txBody>
          <a:bodyPr wrap="square" lIns="0" tIns="0" rIns="0" bIns="0" rtlCol="0" anchor="t"/>
          <a:lstStyle/>
          <a:p>
            <a:pPr indent="0" marL="0">
              <a:buNone/>
            </a:pPr>
            <a:r>
              <a:rPr lang="fr-FR" altLang="en-US" sz="1200" dirty="0">
                <a:solidFill>
                  <a:schemeClr val="accent4"/>
                </a:solidFill>
              </a:rPr>
              <a:t>Avant le vendredi 13 novembre</a:t>
            </a:r>
            <a:endParaRPr lang="fr-FR" sz="1200" dirty="0"/>
          </a:p>
        </p:txBody>
      </p:sp>
      <p:sp>
        <p:nvSpPr>
          <p:cNvPr id="15" name="Shape 10"/>
          <p:cNvSpPr/>
          <p:nvPr/>
        </p:nvSpPr>
        <p:spPr>
          <a:xfrm>
            <a:off x="548640" y="3611880"/>
            <a:ext cx="457200" cy="457200"/>
          </a:xfrm>
          <a:prstGeom prst="ellipse">
            <a:avLst/>
          </a:prstGeom>
          <a:solidFill>
            <a:schemeClr val="accent1"/>
          </a:solidFill>
          <a:ln/>
        </p:spPr>
      </p:sp>
      <p:sp>
        <p:nvSpPr>
          <p:cNvPr id="16" name="Text 11"/>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fr-FR" altLang="en-US" sz="1400" b="1" dirty="0">
                <a:solidFill>
                  <a:schemeClr val="tx1"/>
                </a:solidFill>
              </a:rPr>
              <a:t>3</a:t>
            </a:r>
            <a:endParaRPr lang="fr-FR" sz="1400" dirty="0"/>
          </a:p>
        </p:txBody>
      </p:sp>
      <p:sp>
        <p:nvSpPr>
          <p:cNvPr id="17" name="Text 12"/>
          <p:cNvSpPr txBox="1"/>
          <p:nvPr/>
        </p:nvSpPr>
        <p:spPr>
          <a:xfrm>
            <a:off x="1188720" y="3575304"/>
            <a:ext cx="5943600" cy="329184"/>
          </a:xfrm>
          <a:prstGeom prst="rect">
            <a:avLst/>
          </a:prstGeom>
          <a:noFill/>
          <a:ln/>
        </p:spPr>
        <p:txBody>
          <a:bodyPr wrap="square" lIns="0" tIns="0" rIns="0" bIns="0" rtlCol="0" anchor="t"/>
          <a:lstStyle/>
          <a:p>
            <a:pPr indent="0" marL="0">
              <a:buNone/>
            </a:pPr>
            <a:r>
              <a:rPr lang="fr-FR" altLang="en-US" sz="2000" dirty="0">
                <a:solidFill>
                  <a:schemeClr val="bg1"/>
                </a:solidFill>
                <a:latin typeface="+mj-lt" pitchFamily="34" charset="0"/>
                <a:ea typeface="+mj-lt" pitchFamily="34" charset="-122"/>
                <a:cs typeface="+mj-lt" pitchFamily="34" charset="-120"/>
              </a:rPr>
              <a:t>Créateurs engagés et briefés</a:t>
            </a:r>
            <a:endParaRPr lang="fr-FR" sz="2000" dirty="0"/>
          </a:p>
        </p:txBody>
      </p:sp>
      <p:sp>
        <p:nvSpPr>
          <p:cNvPr id="18" name="Text 13"/>
          <p:cNvSpPr txBox="1"/>
          <p:nvPr/>
        </p:nvSpPr>
        <p:spPr>
          <a:xfrm>
            <a:off x="1188720" y="3904488"/>
            <a:ext cx="5943600" cy="237744"/>
          </a:xfrm>
          <a:prstGeom prst="rect">
            <a:avLst/>
          </a:prstGeom>
          <a:noFill/>
          <a:ln/>
        </p:spPr>
        <p:txBody>
          <a:bodyPr wrap="square" lIns="0" tIns="0" rIns="0" bIns="0" rtlCol="0" anchor="t"/>
          <a:lstStyle/>
          <a:p>
            <a:pPr indent="0" marL="0">
              <a:buNone/>
            </a:pPr>
            <a:r>
              <a:rPr lang="fr-FR" altLang="en-US" sz="1200" dirty="0">
                <a:solidFill>
                  <a:schemeClr val="accent4"/>
                </a:solidFill>
              </a:rPr>
              <a:t>Avant le vendredi 20 novembre</a:t>
            </a:r>
            <a:endParaRPr lang="fr-FR" sz="1200" dirty="0"/>
          </a:p>
        </p:txBody>
      </p:sp>
      <p:sp>
        <p:nvSpPr>
          <p:cNvPr id="19" name="Shape 14"/>
          <p:cNvSpPr/>
          <p:nvPr/>
        </p:nvSpPr>
        <p:spPr>
          <a:xfrm>
            <a:off x="548640" y="4343400"/>
            <a:ext cx="457200" cy="457200"/>
          </a:xfrm>
          <a:prstGeom prst="ellipse">
            <a:avLst/>
          </a:prstGeom>
          <a:solidFill>
            <a:schemeClr val="accent1"/>
          </a:solidFill>
          <a:ln/>
        </p:spPr>
      </p:sp>
      <p:sp>
        <p:nvSpPr>
          <p:cNvPr id="20" name="Text 15"/>
          <p:cNvSpPr txBox="1"/>
          <p:nvPr/>
        </p:nvSpPr>
        <p:spPr>
          <a:xfrm>
            <a:off x="548640" y="4343400"/>
            <a:ext cx="457200" cy="457200"/>
          </a:xfrm>
          <a:prstGeom prst="rect">
            <a:avLst/>
          </a:prstGeom>
          <a:noFill/>
          <a:ln/>
        </p:spPr>
        <p:txBody>
          <a:bodyPr wrap="square" lIns="0" tIns="0" rIns="0" bIns="0" rtlCol="0" anchor="ctr"/>
          <a:lstStyle/>
          <a:p>
            <a:pPr algn="ctr" indent="0" marL="0">
              <a:buNone/>
            </a:pPr>
            <a:r>
              <a:rPr lang="fr-FR" altLang="en-US" sz="1400" b="1" dirty="0">
                <a:solidFill>
                  <a:schemeClr val="tx1"/>
                </a:solidFill>
              </a:rPr>
              <a:t>4</a:t>
            </a:r>
            <a:endParaRPr lang="fr-FR" sz="1400" dirty="0"/>
          </a:p>
        </p:txBody>
      </p:sp>
      <p:sp>
        <p:nvSpPr>
          <p:cNvPr id="21" name="Text 16"/>
          <p:cNvSpPr txBox="1"/>
          <p:nvPr/>
        </p:nvSpPr>
        <p:spPr>
          <a:xfrm>
            <a:off x="1188720" y="4306824"/>
            <a:ext cx="5943600" cy="329184"/>
          </a:xfrm>
          <a:prstGeom prst="rect">
            <a:avLst/>
          </a:prstGeom>
          <a:noFill/>
          <a:ln/>
        </p:spPr>
        <p:txBody>
          <a:bodyPr wrap="square" lIns="0" tIns="0" rIns="0" bIns="0" rtlCol="0" anchor="t"/>
          <a:lstStyle/>
          <a:p>
            <a:pPr indent="0" marL="0">
              <a:buNone/>
            </a:pPr>
            <a:r>
              <a:rPr lang="fr-FR" altLang="en-US" sz="2000" dirty="0">
                <a:solidFill>
                  <a:schemeClr val="bg1"/>
                </a:solidFill>
                <a:latin typeface="+mj-lt" pitchFamily="34" charset="0"/>
                <a:ea typeface="+mj-lt" pitchFamily="34" charset="-122"/>
                <a:cs typeface="+mj-lt" pitchFamily="34" charset="-120"/>
              </a:rPr>
              <a:t>Premiers contenus en ligne</a:t>
            </a:r>
            <a:endParaRPr lang="fr-FR" sz="2000" dirty="0"/>
          </a:p>
        </p:txBody>
      </p:sp>
      <p:sp>
        <p:nvSpPr>
          <p:cNvPr id="22" name="Text 17"/>
          <p:cNvSpPr txBox="1"/>
          <p:nvPr/>
        </p:nvSpPr>
        <p:spPr>
          <a:xfrm>
            <a:off x="1188720" y="4636008"/>
            <a:ext cx="5943600" cy="237744"/>
          </a:xfrm>
          <a:prstGeom prst="rect">
            <a:avLst/>
          </a:prstGeom>
          <a:noFill/>
          <a:ln/>
        </p:spPr>
        <p:txBody>
          <a:bodyPr wrap="square" lIns="0" tIns="0" rIns="0" bIns="0" rtlCol="0" anchor="t"/>
          <a:lstStyle/>
          <a:p>
            <a:pPr indent="0" marL="0">
              <a:buNone/>
            </a:pPr>
            <a:r>
              <a:rPr lang="fr-FR" altLang="en-US" sz="1200" dirty="0">
                <a:solidFill>
                  <a:schemeClr val="accent4"/>
                </a:solidFill>
              </a:rPr>
              <a:t>À partir du lundi 23 novembre</a:t>
            </a:r>
            <a:endParaRPr lang="fr-FR" sz="1200" dirty="0"/>
          </a:p>
        </p:txBody>
      </p:sp>
      <p:sp>
        <p:nvSpPr>
          <p:cNvPr id="23" name="Shape 18"/>
          <p:cNvSpPr/>
          <p:nvPr/>
        </p:nvSpPr>
        <p:spPr>
          <a:xfrm>
            <a:off x="548640" y="5257800"/>
            <a:ext cx="11094415" cy="0"/>
          </a:xfrm>
          <a:prstGeom prst="line">
            <a:avLst/>
          </a:prstGeom>
          <a:noFill/>
          <a:ln w="12700">
            <a:solidFill>
              <a:schemeClr val="accent1"/>
            </a:solidFill>
            <a:prstDash val="solid"/>
          </a:ln>
        </p:spPr>
      </p:sp>
      <p:sp>
        <p:nvSpPr>
          <p:cNvPr id="24" name="Text 19"/>
          <p:cNvSpPr txBox="1"/>
          <p:nvPr/>
        </p:nvSpPr>
        <p:spPr>
          <a:xfrm>
            <a:off x="548640" y="5440680"/>
            <a:ext cx="2743200" cy="256032"/>
          </a:xfrm>
          <a:prstGeom prst="rect">
            <a:avLst/>
          </a:prstGeom>
          <a:noFill/>
          <a:ln/>
        </p:spPr>
        <p:txBody>
          <a:bodyPr wrap="square" lIns="0" tIns="0" rIns="0" bIns="0" rtlCol="0" anchor="t"/>
          <a:lstStyle/>
          <a:p>
            <a:pPr indent="0" marL="0">
              <a:buNone/>
            </a:pPr>
            <a:r>
              <a:rPr lang="fr-FR" altLang="en-US" sz="1100" b="1" spc="300" kern="0" dirty="0">
                <a:solidFill>
                  <a:schemeClr val="accent1"/>
                </a:solidFill>
              </a:rPr>
              <a:t>COURRIEL</a:t>
            </a:r>
            <a:endParaRPr lang="fr-FR" sz="1100" dirty="0"/>
          </a:p>
        </p:txBody>
      </p:sp>
      <p:sp>
        <p:nvSpPr>
          <p:cNvPr id="25" name="Text 20"/>
          <p:cNvSpPr txBox="1"/>
          <p:nvPr/>
        </p:nvSpPr>
        <p:spPr>
          <a:xfrm>
            <a:off x="548640" y="5715000"/>
            <a:ext cx="3291840" cy="274320"/>
          </a:xfrm>
          <a:prstGeom prst="rect">
            <a:avLst/>
          </a:prstGeom>
          <a:noFill/>
          <a:ln/>
        </p:spPr>
        <p:txBody>
          <a:bodyPr wrap="square" lIns="0" tIns="0" rIns="0" bIns="0" rtlCol="0" anchor="t"/>
          <a:lstStyle/>
          <a:p>
            <a:pPr indent="0" marL="0">
              <a:buNone/>
            </a:pPr>
            <a:r>
              <a:rPr lang="fr-FR" altLang="en-US" sz="1300" dirty="0">
                <a:solidFill>
                  <a:schemeClr val="bg1"/>
                </a:solidFill>
              </a:rPr>
              <a:t>baba@atoureconsulting.com</a:t>
            </a:r>
            <a:endParaRPr lang="fr-FR" sz="1300" dirty="0"/>
          </a:p>
        </p:txBody>
      </p:sp>
      <p:sp>
        <p:nvSpPr>
          <p:cNvPr id="26" name="Text 21"/>
          <p:cNvSpPr txBox="1"/>
          <p:nvPr/>
        </p:nvSpPr>
        <p:spPr>
          <a:xfrm>
            <a:off x="4114800" y="5440680"/>
            <a:ext cx="2743200" cy="256032"/>
          </a:xfrm>
          <a:prstGeom prst="rect">
            <a:avLst/>
          </a:prstGeom>
          <a:noFill/>
          <a:ln/>
        </p:spPr>
        <p:txBody>
          <a:bodyPr wrap="square" lIns="0" tIns="0" rIns="0" bIns="0" rtlCol="0" anchor="t"/>
          <a:lstStyle/>
          <a:p>
            <a:pPr indent="0" marL="0">
              <a:buNone/>
            </a:pPr>
            <a:r>
              <a:rPr lang="fr-FR" altLang="en-US" sz="1100" b="1" spc="300" kern="0" dirty="0">
                <a:solidFill>
                  <a:schemeClr val="accent1"/>
                </a:solidFill>
              </a:rPr>
              <a:t>WHATSAPP</a:t>
            </a:r>
            <a:endParaRPr lang="fr-FR" sz="1100" dirty="0"/>
          </a:p>
        </p:txBody>
      </p:sp>
      <p:sp>
        <p:nvSpPr>
          <p:cNvPr id="27" name="Text 22"/>
          <p:cNvSpPr txBox="1"/>
          <p:nvPr/>
        </p:nvSpPr>
        <p:spPr>
          <a:xfrm>
            <a:off x="4114800" y="5715000"/>
            <a:ext cx="3291840" cy="274320"/>
          </a:xfrm>
          <a:prstGeom prst="rect">
            <a:avLst/>
          </a:prstGeom>
          <a:noFill/>
          <a:ln/>
        </p:spPr>
        <p:txBody>
          <a:bodyPr wrap="square" lIns="0" tIns="0" rIns="0" bIns="0" rtlCol="0" anchor="t"/>
          <a:lstStyle/>
          <a:p>
            <a:pPr indent="0" marL="0">
              <a:buNone/>
            </a:pPr>
            <a:r>
              <a:rPr lang="fr-FR" altLang="en-US" sz="1300" dirty="0">
                <a:solidFill>
                  <a:schemeClr val="bg1"/>
                </a:solidFill>
              </a:rPr>
              <a:t>+44 7456 728616</a:t>
            </a:r>
            <a:endParaRPr lang="fr-FR" sz="1300" dirty="0"/>
          </a:p>
        </p:txBody>
      </p:sp>
      <p:sp>
        <p:nvSpPr>
          <p:cNvPr id="28" name="Text 23"/>
          <p:cNvSpPr txBox="1"/>
          <p:nvPr/>
        </p:nvSpPr>
        <p:spPr>
          <a:xfrm>
            <a:off x="7132320" y="5440680"/>
            <a:ext cx="2743200" cy="256032"/>
          </a:xfrm>
          <a:prstGeom prst="rect">
            <a:avLst/>
          </a:prstGeom>
          <a:noFill/>
          <a:ln/>
        </p:spPr>
        <p:txBody>
          <a:bodyPr wrap="square" lIns="0" tIns="0" rIns="0" bIns="0" rtlCol="0" anchor="t"/>
          <a:lstStyle/>
          <a:p>
            <a:pPr indent="0" marL="0">
              <a:buNone/>
            </a:pPr>
            <a:r>
              <a:rPr lang="fr-FR" altLang="en-US" sz="1100" b="1" spc="300" kern="0" dirty="0">
                <a:solidFill>
                  <a:schemeClr val="accent1"/>
                </a:solidFill>
              </a:rPr>
              <a:t>EN LIGNE</a:t>
            </a:r>
            <a:endParaRPr lang="fr-FR" sz="1100" dirty="0"/>
          </a:p>
        </p:txBody>
      </p:sp>
      <p:sp>
        <p:nvSpPr>
          <p:cNvPr id="29" name="Text 24"/>
          <p:cNvSpPr txBox="1"/>
          <p:nvPr/>
        </p:nvSpPr>
        <p:spPr>
          <a:xfrm>
            <a:off x="7132320" y="5715000"/>
            <a:ext cx="5029200" cy="274320"/>
          </a:xfrm>
          <a:prstGeom prst="rect">
            <a:avLst/>
          </a:prstGeom>
          <a:noFill/>
          <a:ln/>
        </p:spPr>
        <p:txBody>
          <a:bodyPr wrap="square" lIns="0" tIns="0" rIns="0" bIns="0" rtlCol="0" anchor="t"/>
          <a:lstStyle/>
          <a:p>
            <a:pPr indent="0" marL="0">
              <a:buNone/>
            </a:pPr>
            <a:r>
              <a:rPr lang="fr-FR" altLang="en-US" sz="1300" dirty="0">
                <a:solidFill>
                  <a:schemeClr val="bg1"/>
                </a:solidFill>
              </a:rPr>
              <a:t>atoureconsulting.com  ·  @atoure.management</a:t>
            </a:r>
            <a:endParaRPr lang="fr-FR" sz="1300" dirty="0"/>
          </a:p>
        </p:txBody>
      </p:sp>
      <p:sp>
        <p:nvSpPr>
          <p:cNvPr id="30" name="Text 25"/>
          <p:cNvSpPr txBox="1"/>
          <p:nvPr/>
        </p:nvSpPr>
        <p:spPr>
          <a:xfrm>
            <a:off x="548640" y="6263640"/>
            <a:ext cx="7315200" cy="237744"/>
          </a:xfrm>
          <a:prstGeom prst="rect">
            <a:avLst/>
          </a:prstGeom>
          <a:noFill/>
          <a:ln/>
        </p:spPr>
        <p:txBody>
          <a:bodyPr wrap="square" lIns="0" tIns="0" rIns="0" bIns="0" rtlCol="0" anchor="t"/>
          <a:lstStyle/>
          <a:p>
            <a:pPr indent="0" marL="0">
              <a:buNone/>
            </a:pPr>
            <a:r>
              <a:rPr lang="fr-FR" altLang="en-US" sz="1100" dirty="0">
                <a:solidFill>
                  <a:schemeClr val="accent5"/>
                </a:solidFill>
              </a:rPr>
              <a:t>Baba Touré, Directeur. AToure Management &amp; Consulting.</a:t>
            </a:r>
            <a:endParaRPr lang="fr-FR" sz="1100" dirty="0"/>
          </a:p>
        </p:txBody>
      </p:sp>
      <p:pic>
        <p:nvPicPr>
          <p:cNvPr id="31" name="Image 2" descr="AToure Management &amp; Consulting">    </p:cNvPr>
          <p:cNvPicPr>
            <a:picLocks noChangeAspect="1"/>
          </p:cNvPicPr>
          <p:nvPr/>
        </p:nvPicPr>
        <p:blipFill>
          <a:blip r:embed="rId3"/>
          <a:stretch>
            <a:fillRect/>
          </a:stretch>
        </p:blipFill>
        <p:spPr>
          <a:xfrm>
            <a:off x="9631375" y="6236208"/>
            <a:ext cx="2011680" cy="32186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fr-FR" altLang="en-US" sz="1100" b="1" spc="300" kern="0" dirty="0">
                <a:solidFill>
                  <a:schemeClr val="accent3"/>
                </a:solidFill>
              </a:rPr>
              <a:t>ANNEXE  ·  EXEMPLE DE RAPPORT, PAGE 2</a:t>
            </a:r>
            <a:endParaRPr lang="fr-FR"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fr-FR" altLang="en-US" sz="3800" dirty="0">
                <a:solidFill>
                  <a:schemeClr val="tx1"/>
                </a:solidFill>
              </a:rPr>
              <a:t>Chaque chiffre se détaille, créateur par créateur</a:t>
            </a:r>
            <a:endParaRPr lang="fr-FR"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fr-FR" altLang="en-US" sz="1600" dirty="0">
                <a:solidFill>
                  <a:schemeClr val="accent3"/>
                </a:solidFill>
              </a:rPr>
              <a:t>×</a:t>
            </a:r>
            <a:endParaRPr lang="fr-FR"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783080"/>
            <a:ext cx="11094415" cy="4434840"/>
          </a:xfrm>
          <a:prstGeom prst="roundRect">
            <a:avLst>
              <a:gd name="adj" fmla="val 1649"/>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9" name="Text 4"/>
          <p:cNvSpPr txBox="1"/>
          <p:nvPr/>
        </p:nvSpPr>
        <p:spPr>
          <a:xfrm>
            <a:off x="822960" y="1984248"/>
            <a:ext cx="3657600" cy="201168"/>
          </a:xfrm>
          <a:prstGeom prst="rect">
            <a:avLst/>
          </a:prstGeom>
          <a:noFill/>
          <a:ln/>
        </p:spPr>
        <p:txBody>
          <a:bodyPr wrap="square" lIns="0" tIns="0" rIns="0" bIns="0" rtlCol="0" anchor="t"/>
          <a:lstStyle/>
          <a:p>
            <a:pPr indent="0" marL="0">
              <a:buNone/>
            </a:pPr>
            <a:r>
              <a:rPr lang="fr-FR" altLang="en-US" sz="900" b="1" spc="300" kern="0" dirty="0">
                <a:solidFill>
                  <a:schemeClr val="accent3"/>
                </a:solidFill>
              </a:rPr>
              <a:t>RAPPORT DE VISIBILITÉ  ·  PAGE 2</a:t>
            </a:r>
            <a:endParaRPr lang="fr-FR" sz="900" dirty="0"/>
          </a:p>
        </p:txBody>
      </p:sp>
      <p:sp>
        <p:nvSpPr>
          <p:cNvPr id="10" name="Text 5"/>
          <p:cNvSpPr txBox="1"/>
          <p:nvPr/>
        </p:nvSpPr>
        <p:spPr>
          <a:xfrm>
            <a:off x="822960" y="2185416"/>
            <a:ext cx="5486400" cy="365760"/>
          </a:xfrm>
          <a:prstGeom prst="rect">
            <a:avLst/>
          </a:prstGeom>
          <a:noFill/>
          <a:ln/>
        </p:spPr>
        <p:txBody>
          <a:bodyPr wrap="square" lIns="0" tIns="0" rIns="0" bIns="0" rtlCol="0" anchor="t"/>
          <a:lstStyle/>
          <a:p>
            <a:pPr indent="0" marL="0">
              <a:buNone/>
            </a:pPr>
            <a:r>
              <a:rPr lang="fr-FR" altLang="en-US" sz="1800" dirty="0">
                <a:solidFill>
                  <a:schemeClr val="tx1"/>
                </a:solidFill>
                <a:latin typeface="+mj-lt" pitchFamily="34" charset="0"/>
                <a:ea typeface="+mj-lt" pitchFamily="34" charset="-122"/>
                <a:cs typeface="+mj-lt" pitchFamily="34" charset="-120"/>
              </a:rPr>
              <a:t>Mother Africa Festival 2026</a:t>
            </a:r>
            <a:endParaRPr lang="fr-FR" sz="1800" dirty="0"/>
          </a:p>
        </p:txBody>
      </p:sp>
      <p:pic>
        <p:nvPicPr>
          <p:cNvPr id="11" name="Image 2" descr="Mother Africa Festival">    </p:cNvPr>
          <p:cNvPicPr>
            <a:picLocks noChangeAspect="1"/>
          </p:cNvPicPr>
          <p:nvPr/>
        </p:nvPicPr>
        <p:blipFill>
          <a:blip r:embed="rId3"/>
          <a:stretch>
            <a:fillRect/>
          </a:stretch>
        </p:blipFill>
        <p:spPr>
          <a:xfrm>
            <a:off x="10865815" y="1984248"/>
            <a:ext cx="541249" cy="384048"/>
          </a:xfrm>
          <a:prstGeom prst="rect">
            <a:avLst/>
          </a:prstGeom>
        </p:spPr>
      </p:pic>
      <p:sp>
        <p:nvSpPr>
          <p:cNvPr id="12" name="Shape 6"/>
          <p:cNvSpPr/>
          <p:nvPr/>
        </p:nvSpPr>
        <p:spPr>
          <a:xfrm>
            <a:off x="822960" y="2624328"/>
            <a:ext cx="10545775" cy="0"/>
          </a:xfrm>
          <a:prstGeom prst="line">
            <a:avLst/>
          </a:prstGeom>
          <a:noFill/>
          <a:ln w="12700">
            <a:solidFill>
              <a:schemeClr val="accent1"/>
            </a:solidFill>
            <a:prstDash val="solid"/>
          </a:ln>
        </p:spPr>
      </p:sp>
      <p:sp>
        <p:nvSpPr>
          <p:cNvPr id="13" name="Text 7"/>
          <p:cNvSpPr txBox="1"/>
          <p:nvPr/>
        </p:nvSpPr>
        <p:spPr>
          <a:xfrm>
            <a:off x="822960" y="2770632"/>
            <a:ext cx="3657600" cy="256032"/>
          </a:xfrm>
          <a:prstGeom prst="rect">
            <a:avLst/>
          </a:prstGeom>
          <a:noFill/>
          <a:ln/>
        </p:spPr>
        <p:txBody>
          <a:bodyPr wrap="square" lIns="0" tIns="0" rIns="0" bIns="0" rtlCol="0" anchor="t"/>
          <a:lstStyle/>
          <a:p>
            <a:pPr indent="0" marL="0">
              <a:buNone/>
            </a:pPr>
            <a:r>
              <a:rPr lang="fr-FR" altLang="en-US" sz="1100" b="1" spc="300" kern="0" dirty="0">
                <a:solidFill>
                  <a:schemeClr val="accent3"/>
                </a:solidFill>
              </a:rPr>
              <a:t>PAR CRÉATEUR</a:t>
            </a:r>
            <a:endParaRPr lang="fr-FR" sz="1100" dirty="0"/>
          </a:p>
        </p:txBody>
      </p:sp>
      <p:graphicFrame>
        <p:nvGraphicFramePr>
          <p:cNvPr id="13" name="Sample table by creator"/>
          <p:cNvGraphicFramePr>
            <a:graphicFrameLocks noGrp="1"/>
          </p:cNvGraphicFramePr>
          <p:nvPr>
            <p:extLst>
              <p:ext uri="{D42A27DB-BD31-4B8C-83A1-F6EECF244321}">
                <p14:modId xmlns:p14="http://schemas.microsoft.com/office/powerpoint/2010/main" val="1579011935"/>
              </p:ext>
            </p:extLst>
          </p:nvPr>
        </p:nvGraphicFramePr>
        <p:xfrm>
          <a:off x="822960" y="3026664"/>
          <a:ext cx="6126480" cy="914400"/>
        </p:xfrm>
        <a:graphic>
          <a:graphicData uri="http://schemas.openxmlformats.org/drawingml/2006/table">
            <a:tbl>
              <a:tblPr/>
              <a:tblGrid>
                <a:gridCol w="1828800"/>
                <a:gridCol w="731520"/>
                <a:gridCol w="1188720"/>
                <a:gridCol w="1188720"/>
                <a:gridCol w="1188720"/>
              </a:tblGrid>
              <a:tr h="274320">
                <a:tc>
                  <a:txBody>
                    <a:bodyPr/>
                    <a:lstStyle/>
                    <a:p>
                      <a:pPr indent="0" marL="0">
                        <a:buNone/>
                      </a:pPr>
                      <a:r>
                        <a:rPr lang="en-US" sz="1000" b="1" dirty="0">
                          <a:solidFill>
                            <a:schemeClr val="bg1"/>
                          </a:solidFill>
                        </a:rPr>
                        <a:t>Créateur</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Posts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Vues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Interactions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Clics billetterie</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r>
              <a:tr h="274320">
                <a:tc>
                  <a:txBody>
                    <a:bodyPr/>
                    <a:lstStyle/>
                    <a:p>
                      <a:pPr indent="0" marL="0">
                        <a:buNone/>
                      </a:pPr>
                      <a:r>
                        <a:rPr lang="en-US" sz="1000" b="1" dirty="0">
                          <a:solidFill>
                            <a:schemeClr val="tx1"/>
                          </a:solidFill>
                        </a:rPr>
                        <a:t>Créateur 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820 000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61 000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2 100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Créateur B</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5</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610 000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48 500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1 650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Créateur C</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455 000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39 200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1 240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Créateur D</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380 000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27 800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980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Créateur E</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290 000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22 100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730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13 autres créateurs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42</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645 000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51 400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2 700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Total</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64</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3 200 000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250 000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9 400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bl>
          </a:graphicData>
        </a:graphic>
      </p:graphicFrame>
      <p:sp>
        <p:nvSpPr>
          <p:cNvPr id="15" name="Text 8"/>
          <p:cNvSpPr txBox="1"/>
          <p:nvPr/>
        </p:nvSpPr>
        <p:spPr>
          <a:xfrm>
            <a:off x="822960" y="5486400"/>
            <a:ext cx="6309360" cy="384048"/>
          </a:xfrm>
          <a:prstGeom prst="rect">
            <a:avLst/>
          </a:prstGeom>
          <a:noFill/>
          <a:ln/>
        </p:spPr>
        <p:txBody>
          <a:bodyPr wrap="square" lIns="0" tIns="0" rIns="0" bIns="0" rtlCol="0" anchor="t"/>
          <a:lstStyle/>
          <a:p>
            <a:pPr indent="0" marL="0">
              <a:buNone/>
            </a:pPr>
            <a:r>
              <a:rPr lang="fr-FR" altLang="en-US" sz="1000" dirty="0">
                <a:solidFill>
                  <a:schemeClr val="tx2"/>
                </a:solidFill>
              </a:rPr>
              <a:t>Le rapport complet liste aussi chaque publication et se termine par des recommandations. Chaque chiffre vient des statistiques des créateurs, des liens suivis ou de la billetterie.</a:t>
            </a:r>
            <a:endParaRPr lang="fr-FR" sz="1000" dirty="0"/>
          </a:p>
        </p:txBody>
      </p:sp>
      <p:sp>
        <p:nvSpPr>
          <p:cNvPr id="16" name="Text 9"/>
          <p:cNvSpPr txBox="1"/>
          <p:nvPr/>
        </p:nvSpPr>
        <p:spPr>
          <a:xfrm>
            <a:off x="7269480" y="2770632"/>
            <a:ext cx="2743200" cy="256032"/>
          </a:xfrm>
          <a:prstGeom prst="rect">
            <a:avLst/>
          </a:prstGeom>
          <a:noFill/>
          <a:ln/>
        </p:spPr>
        <p:txBody>
          <a:bodyPr wrap="square" lIns="0" tIns="0" rIns="0" bIns="0" rtlCol="0" anchor="t"/>
          <a:lstStyle/>
          <a:p>
            <a:pPr indent="0" marL="0">
              <a:buNone/>
            </a:pPr>
            <a:r>
              <a:rPr lang="fr-FR" altLang="en-US" sz="1100" b="1" spc="300" kern="0" dirty="0">
                <a:solidFill>
                  <a:schemeClr val="accent3"/>
                </a:solidFill>
              </a:rPr>
              <a:t>PUBLIC</a:t>
            </a:r>
            <a:endParaRPr lang="fr-FR" sz="1100" dirty="0"/>
          </a:p>
        </p:txBody>
      </p:sp>
      <p:sp>
        <p:nvSpPr>
          <p:cNvPr id="17" name="Text 10"/>
          <p:cNvSpPr txBox="1"/>
          <p:nvPr/>
        </p:nvSpPr>
        <p:spPr>
          <a:xfrm>
            <a:off x="7269480" y="3063240"/>
            <a:ext cx="1417320" cy="219456"/>
          </a:xfrm>
          <a:prstGeom prst="rect">
            <a:avLst/>
          </a:prstGeom>
          <a:noFill/>
          <a:ln/>
        </p:spPr>
        <p:txBody>
          <a:bodyPr wrap="square" lIns="0" tIns="0" rIns="0" bIns="0" rtlCol="0" anchor="ctr"/>
          <a:lstStyle/>
          <a:p>
            <a:pPr indent="0" marL="0">
              <a:buNone/>
            </a:pPr>
            <a:r>
              <a:rPr lang="fr-FR" altLang="en-US" sz="1000" dirty="0">
                <a:solidFill>
                  <a:schemeClr val="tx2"/>
                </a:solidFill>
              </a:rPr>
              <a:t>Côte d’Ivoire</a:t>
            </a:r>
            <a:endParaRPr lang="fr-FR" sz="1000" dirty="0"/>
          </a:p>
        </p:txBody>
      </p:sp>
      <p:sp>
        <p:nvSpPr>
          <p:cNvPr id="18" name="Shape 11"/>
          <p:cNvSpPr/>
          <p:nvPr/>
        </p:nvSpPr>
        <p:spPr>
          <a:xfrm>
            <a:off x="8732520" y="3099816"/>
            <a:ext cx="1737360" cy="146304"/>
          </a:xfrm>
          <a:prstGeom prst="roundRect">
            <a:avLst>
              <a:gd name="adj" fmla="val 18750"/>
            </a:avLst>
          </a:prstGeom>
          <a:solidFill>
            <a:schemeClr val="accent2"/>
          </a:solidFill>
          <a:ln/>
        </p:spPr>
      </p:sp>
      <p:sp>
        <p:nvSpPr>
          <p:cNvPr id="19" name="Text 12"/>
          <p:cNvSpPr txBox="1"/>
          <p:nvPr/>
        </p:nvSpPr>
        <p:spPr>
          <a:xfrm>
            <a:off x="10561320" y="3063240"/>
            <a:ext cx="548640" cy="219456"/>
          </a:xfrm>
          <a:prstGeom prst="rect">
            <a:avLst/>
          </a:prstGeom>
          <a:noFill/>
          <a:ln/>
        </p:spPr>
        <p:txBody>
          <a:bodyPr wrap="square" lIns="0" tIns="0" rIns="0" bIns="0" rtlCol="0" anchor="ctr"/>
          <a:lstStyle/>
          <a:p>
            <a:pPr indent="0" marL="0">
              <a:buNone/>
            </a:pPr>
            <a:r>
              <a:rPr lang="fr-FR" altLang="en-US" sz="1000" b="1" dirty="0">
                <a:solidFill>
                  <a:schemeClr val="tx1"/>
                </a:solidFill>
              </a:rPr>
              <a:t>58%</a:t>
            </a:r>
            <a:endParaRPr lang="fr-FR" sz="1000" dirty="0"/>
          </a:p>
        </p:txBody>
      </p:sp>
      <p:sp>
        <p:nvSpPr>
          <p:cNvPr id="20" name="Text 13"/>
          <p:cNvSpPr txBox="1"/>
          <p:nvPr/>
        </p:nvSpPr>
        <p:spPr>
          <a:xfrm>
            <a:off x="7269480" y="3374136"/>
            <a:ext cx="1417320" cy="219456"/>
          </a:xfrm>
          <a:prstGeom prst="rect">
            <a:avLst/>
          </a:prstGeom>
          <a:noFill/>
          <a:ln/>
        </p:spPr>
        <p:txBody>
          <a:bodyPr wrap="square" lIns="0" tIns="0" rIns="0" bIns="0" rtlCol="0" anchor="ctr"/>
          <a:lstStyle/>
          <a:p>
            <a:pPr indent="0" marL="0">
              <a:buNone/>
            </a:pPr>
            <a:r>
              <a:rPr lang="fr-FR" altLang="en-US" sz="1000" dirty="0">
                <a:solidFill>
                  <a:schemeClr val="tx2"/>
                </a:solidFill>
              </a:rPr>
              <a:t>Diaspora</a:t>
            </a:r>
            <a:endParaRPr lang="fr-FR" sz="1000" dirty="0"/>
          </a:p>
        </p:txBody>
      </p:sp>
      <p:sp>
        <p:nvSpPr>
          <p:cNvPr id="21" name="Shape 14"/>
          <p:cNvSpPr/>
          <p:nvPr/>
        </p:nvSpPr>
        <p:spPr>
          <a:xfrm>
            <a:off x="8732520" y="3410712"/>
            <a:ext cx="718908" cy="146304"/>
          </a:xfrm>
          <a:prstGeom prst="roundRect">
            <a:avLst>
              <a:gd name="adj" fmla="val 18750"/>
            </a:avLst>
          </a:prstGeom>
          <a:solidFill>
            <a:schemeClr val="accent1"/>
          </a:solidFill>
          <a:ln/>
        </p:spPr>
      </p:sp>
      <p:sp>
        <p:nvSpPr>
          <p:cNvPr id="22" name="Text 15"/>
          <p:cNvSpPr txBox="1"/>
          <p:nvPr/>
        </p:nvSpPr>
        <p:spPr>
          <a:xfrm>
            <a:off x="9542868" y="3374136"/>
            <a:ext cx="548640" cy="219456"/>
          </a:xfrm>
          <a:prstGeom prst="rect">
            <a:avLst/>
          </a:prstGeom>
          <a:noFill/>
          <a:ln/>
        </p:spPr>
        <p:txBody>
          <a:bodyPr wrap="square" lIns="0" tIns="0" rIns="0" bIns="0" rtlCol="0" anchor="ctr"/>
          <a:lstStyle/>
          <a:p>
            <a:pPr indent="0" marL="0">
              <a:buNone/>
            </a:pPr>
            <a:r>
              <a:rPr lang="fr-FR" altLang="en-US" sz="1000" b="1" dirty="0">
                <a:solidFill>
                  <a:schemeClr val="tx1"/>
                </a:solidFill>
              </a:rPr>
              <a:t>24%</a:t>
            </a:r>
            <a:endParaRPr lang="fr-FR" sz="1000" dirty="0"/>
          </a:p>
        </p:txBody>
      </p:sp>
      <p:sp>
        <p:nvSpPr>
          <p:cNvPr id="23" name="Text 16"/>
          <p:cNvSpPr txBox="1"/>
          <p:nvPr/>
        </p:nvSpPr>
        <p:spPr>
          <a:xfrm>
            <a:off x="7269480" y="3685032"/>
            <a:ext cx="1417320" cy="219456"/>
          </a:xfrm>
          <a:prstGeom prst="rect">
            <a:avLst/>
          </a:prstGeom>
          <a:noFill/>
          <a:ln/>
        </p:spPr>
        <p:txBody>
          <a:bodyPr wrap="square" lIns="0" tIns="0" rIns="0" bIns="0" rtlCol="0" anchor="ctr"/>
          <a:lstStyle/>
          <a:p>
            <a:pPr indent="0" marL="0">
              <a:buNone/>
            </a:pPr>
            <a:r>
              <a:rPr lang="fr-FR" altLang="en-US" sz="1000" dirty="0">
                <a:solidFill>
                  <a:schemeClr val="tx2"/>
                </a:solidFill>
              </a:rPr>
              <a:t>Reste de l’Afrique</a:t>
            </a:r>
            <a:endParaRPr lang="fr-FR" sz="1000" dirty="0"/>
          </a:p>
        </p:txBody>
      </p:sp>
      <p:sp>
        <p:nvSpPr>
          <p:cNvPr id="24" name="Shape 17"/>
          <p:cNvSpPr/>
          <p:nvPr/>
        </p:nvSpPr>
        <p:spPr>
          <a:xfrm>
            <a:off x="8732520" y="3721608"/>
            <a:ext cx="539181" cy="146304"/>
          </a:xfrm>
          <a:prstGeom prst="roundRect">
            <a:avLst>
              <a:gd name="adj" fmla="val 18750"/>
            </a:avLst>
          </a:prstGeom>
          <a:solidFill>
            <a:schemeClr val="accent1"/>
          </a:solidFill>
          <a:ln/>
        </p:spPr>
      </p:sp>
      <p:sp>
        <p:nvSpPr>
          <p:cNvPr id="25" name="Text 18"/>
          <p:cNvSpPr txBox="1"/>
          <p:nvPr/>
        </p:nvSpPr>
        <p:spPr>
          <a:xfrm>
            <a:off x="9363141" y="3685032"/>
            <a:ext cx="548640" cy="219456"/>
          </a:xfrm>
          <a:prstGeom prst="rect">
            <a:avLst/>
          </a:prstGeom>
          <a:noFill/>
          <a:ln/>
        </p:spPr>
        <p:txBody>
          <a:bodyPr wrap="square" lIns="0" tIns="0" rIns="0" bIns="0" rtlCol="0" anchor="ctr"/>
          <a:lstStyle/>
          <a:p>
            <a:pPr indent="0" marL="0">
              <a:buNone/>
            </a:pPr>
            <a:r>
              <a:rPr lang="fr-FR" altLang="en-US" sz="1000" b="1" dirty="0">
                <a:solidFill>
                  <a:schemeClr val="tx1"/>
                </a:solidFill>
              </a:rPr>
              <a:t>18%</a:t>
            </a:r>
            <a:endParaRPr lang="fr-FR" sz="1000" dirty="0"/>
          </a:p>
        </p:txBody>
      </p:sp>
      <p:sp>
        <p:nvSpPr>
          <p:cNvPr id="26" name="Text 19"/>
          <p:cNvSpPr txBox="1"/>
          <p:nvPr/>
        </p:nvSpPr>
        <p:spPr>
          <a:xfrm>
            <a:off x="7269480" y="4069080"/>
            <a:ext cx="2743200" cy="256032"/>
          </a:xfrm>
          <a:prstGeom prst="rect">
            <a:avLst/>
          </a:prstGeom>
          <a:noFill/>
          <a:ln/>
        </p:spPr>
        <p:txBody>
          <a:bodyPr wrap="square" lIns="0" tIns="0" rIns="0" bIns="0" rtlCol="0" anchor="t"/>
          <a:lstStyle/>
          <a:p>
            <a:pPr indent="0" marL="0">
              <a:buNone/>
            </a:pPr>
            <a:r>
              <a:rPr lang="fr-FR" altLang="en-US" sz="1100" b="1" spc="300" kern="0" dirty="0">
                <a:solidFill>
                  <a:schemeClr val="accent3"/>
                </a:solidFill>
              </a:rPr>
              <a:t>VALEUR SPONSORS</a:t>
            </a:r>
            <a:endParaRPr lang="fr-FR" sz="1100" dirty="0"/>
          </a:p>
        </p:txBody>
      </p:sp>
      <p:graphicFrame>
        <p:nvGraphicFramePr>
          <p:cNvPr id="25" name="Sample table by sponsor"/>
          <p:cNvGraphicFramePr>
            <a:graphicFrameLocks noGrp="1"/>
          </p:cNvGraphicFramePr>
          <p:nvPr>
            <p:extLst>
              <p:ext uri="{D42A27DB-BD31-4B8C-83A1-F6EECF244321}">
                <p14:modId xmlns:p14="http://schemas.microsoft.com/office/powerpoint/2010/main" val="1579011935"/>
              </p:ext>
            </p:extLst>
          </p:nvPr>
        </p:nvGraphicFramePr>
        <p:xfrm>
          <a:off x="7269480" y="4343400"/>
          <a:ext cx="4099255" cy="914400"/>
        </p:xfrm>
        <a:graphic>
          <a:graphicData uri="http://schemas.openxmlformats.org/drawingml/2006/table">
            <a:tbl>
              <a:tblPr/>
              <a:tblGrid>
                <a:gridCol w="960120"/>
                <a:gridCol w="868680"/>
                <a:gridCol w="914400"/>
                <a:gridCol w="1356055"/>
              </a:tblGrid>
              <a:tr h="274320">
                <a:tc>
                  <a:txBody>
                    <a:bodyPr/>
                    <a:lstStyle/>
                    <a:p>
                      <a:pPr indent="0" marL="0">
                        <a:buNone/>
                      </a:pPr>
                      <a:r>
                        <a:rPr lang="en-US" sz="1000" b="1" dirty="0">
                          <a:solidFill>
                            <a:schemeClr val="bg1"/>
                          </a:solidFill>
                        </a:rPr>
                        <a:t>Marque</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Moments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Temps à l’écran</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Valeur média, estimée</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r>
              <a:tr h="274320">
                <a:tc>
                  <a:txBody>
                    <a:bodyPr/>
                    <a:lstStyle/>
                    <a:p>
                      <a:pPr indent="0" marL="0">
                        <a:buNone/>
                      </a:pPr>
                      <a:r>
                        <a:rPr lang="en-US" sz="1000" b="1" dirty="0">
                          <a:solidFill>
                            <a:schemeClr val="tx1"/>
                          </a:solidFill>
                        </a:rPr>
                        <a:t>Marque 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42</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 min 10 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18,5 M FCFA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Marque B</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31</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 min 25 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12,7 M FCFA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Marque C</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18</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 min 40 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7,3 M FCFA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bl>
          </a:graphicData>
        </a:graphic>
      </p:graphicFrame>
      <p:sp>
        <p:nvSpPr>
          <p:cNvPr id="28" name="Text 20"/>
          <p:cNvSpPr txBox="1"/>
          <p:nvPr/>
        </p:nvSpPr>
        <p:spPr>
          <a:xfrm>
            <a:off x="822960" y="5925312"/>
            <a:ext cx="3657600" cy="219456"/>
          </a:xfrm>
          <a:prstGeom prst="rect">
            <a:avLst/>
          </a:prstGeom>
          <a:noFill/>
          <a:ln/>
        </p:spPr>
        <p:txBody>
          <a:bodyPr wrap="square" lIns="0" tIns="0" rIns="0" bIns="0" rtlCol="0" anchor="t"/>
          <a:lstStyle/>
          <a:p>
            <a:pPr indent="0" marL="0">
              <a:buNone/>
            </a:pPr>
            <a:r>
              <a:rPr lang="fr-FR" altLang="en-US" sz="1000" b="1" i="1" dirty="0">
                <a:solidFill>
                  <a:schemeClr val="accent3"/>
                </a:solidFill>
              </a:rPr>
              <a:t>Exemple de mise en page. Chiffres fictifs.</a:t>
            </a:r>
            <a:endParaRPr lang="fr-FR" sz="1000" dirty="0"/>
          </a:p>
        </p:txBody>
      </p:sp>
      <p:sp>
        <p:nvSpPr>
          <p:cNvPr id="29" name="Text 21"/>
          <p:cNvSpPr txBox="1"/>
          <p:nvPr/>
        </p:nvSpPr>
        <p:spPr>
          <a:xfrm>
            <a:off x="9539935" y="5925312"/>
            <a:ext cx="1828800" cy="219456"/>
          </a:xfrm>
          <a:prstGeom prst="rect">
            <a:avLst/>
          </a:prstGeom>
          <a:noFill/>
          <a:ln/>
        </p:spPr>
        <p:txBody>
          <a:bodyPr wrap="square" lIns="0" tIns="0" rIns="0" bIns="0" rtlCol="0" anchor="t"/>
          <a:lstStyle/>
          <a:p>
            <a:pPr algn="r" indent="0" marL="0">
              <a:buNone/>
            </a:pPr>
            <a:r>
              <a:rPr lang="fr-FR" altLang="en-US" sz="1000" b="1" u="sng" dirty="0">
                <a:solidFill>
                  <a:schemeClr val="accent3"/>
                </a:solidFill>
                <a:hlinkClick r:id="rId4" action="ppaction://hlinksldjump" tooltip="Retour au rapport">
                  <a:extLst>
                    <a:ext uri="{A12FA001-AC4F-418D-AE19-62706E023703}">
                      <ahyp:hlinkClr xmlns:ahyp="http://schemas.microsoft.com/office/drawing/2018/hyperlinkcolor" val="tx"/>
                    </a:ext>
                  </a:extLst>
                </a:hlinkClick>
              </a:rPr>
              <a:t>←  Retour à la page 1</a:t>
            </a:r>
            <a:endParaRPr lang="fr-FR"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Mother Africa">
  <a:themeElements>
    <a:clrScheme name="Mother Africa">
      <a:dk1>
        <a:srgbClr val="133524"/>
      </a:dk1>
      <a:lt1>
        <a:srgbClr val="FFFDF8"/>
      </a:lt1>
      <a:dk2>
        <a:srgbClr val="4D5A50"/>
      </a:dk2>
      <a:lt2>
        <a:srgbClr val="F5EEE0"/>
      </a:lt2>
      <a:accent1>
        <a:srgbClr val="C8A951"/>
      </a:accent1>
      <a:accent2>
        <a:srgbClr val="EE7D3A"/>
      </a:accent2>
      <a:accent3>
        <a:srgbClr val="B4471B"/>
      </a:accent3>
      <a:accent4>
        <a:srgbClr val="E0C47A"/>
      </a:accent4>
      <a:accent5>
        <a:srgbClr val="E3EDE6"/>
      </a:accent5>
      <a:accent6>
        <a:srgbClr val="1C4630"/>
      </a:accent6>
      <a:hlink>
        <a:srgbClr val="B4471B"/>
      </a:hlink>
      <a:folHlink>
        <a:srgbClr val="4D5A50"/>
      </a:folHlink>
    </a:clrScheme>
    <a:fontScheme name="Mother Africa">
      <a:majorFont>
        <a:latin typeface="Cormorant Garamond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o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AToure x Mother Africa Festival, proposition pour la 5e édition</dc:title>
  <dc:subject>Accès aux talents, gestion des créateurs sur le terrain et rapport de visibilité</dc:subject>
  <dc:creator>AToure Management &amp; Consulting</dc:creator>
  <cp:lastModifiedBy>AToure Management &amp; Consulting</cp:lastModifiedBy>
  <cp:revision>1</cp:revision>
  <dcterms:created xsi:type="dcterms:W3CDTF">2026-10-30T12:07:02Z</dcterms:created>
  <dcterms:modified xsi:type="dcterms:W3CDTF">2026-10-30T12:07:02Z</dcterms:modified>
</cp:coreProperties>
</file>