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8a9d837-92de-7623-a0ec-bc67f42d092a}">
          <p14:sldIdLst>
            <p14:sldId id="256"/>
          </p14:sldIdLst>
        </p14:section>
        <p14:section name="Où en est le festival" id="{79c5a66e-b3e3-de1a-99ea-4c88f45c8122}">
          <p14:sldIdLst>
            <p14:sldId id="257"/>
            <p14:sldId id="258"/>
          </p14:sldIdLst>
        </p14:section>
        <p14:section name="La réponse AToure" id="{81344f10-5ed3-341d-2d46-ab1ce4ae3bb8}">
          <p14:sldIdLst>
            <p14:sldId id="259"/>
            <p14:sldId id="260"/>
          </p14:sldIdLst>
        </p14:section>
        <p14:section name="Visibilité" id="{793ef9b3-8d9f-0dfa-6d85-5cc63085888d}">
          <p14:sldIdLst>
            <p14:sldId id="261"/>
            <p14:sldId id="262"/>
          </p14:sldIdLst>
        </p14:section>
        <p14:section name="Le rapport de visibilité" id="{6ce68016-12d6-d306-1a18-1506c25aabf2}">
          <p14:sldIdLst>
            <p14:sldId id="263"/>
          </p14:sldIdLst>
        </p14:section>
        <p14:section name="La proposition" id="{7bd4eac2-8e3d-8423-90fb-5672eeb720e1}">
          <p14:sldIdLst>
            <p14:sldId id="264"/>
          </p14:sldIdLst>
        </p14:section>
        <p14:section name="Références" id="{87a5c1d9-24d7-b3fa-7bab-a07cb6e06b16}">
          <p14:sldIdLst>
            <p14:sldId id="265"/>
          </p14:sldIdLst>
        </p14:section>
        <p14:section name="La demande" id="{32ad4d10-b2a4-3285-9bf1-1fdbd224e463}">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Remerciez l’équipe de Mother Africa pour son temps. Cette proposition porte sur une seule chose : rendre mesurable la visibilité que les créateurs apportent au festival, pour que le festival puisse la montrer à ses sponsors. Tout ce qui figure sur la diapositive suivante vient des affiches et de la communication du festival : demandez à l’équipe de corriger ce qui serait inexact. Les images de la couverture et des diapositives 5, 6 et 9 sont des illustrations, pas des photos du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ce qui figure à gauche vient de la presse et des annonces du festival : demandez à l’équipe de corriger ce qui serait inexact. 15 000 et 40 % sont les chiffres rapportés pour la première édition, en décembre 2022. 20 000 est ce que les organisateurs attendent pour la 5e édition, pas un résultat. Le chiffre de plus d’un milliard de FCFA correspond au poids du festival comme instrument de sponsoring. La partie droite décrit ce dont tout festival a besoin dès qu’il vend son audience à des sponsors : à présenter comme l’étape suivante, pas comme une liste de manques. Sources : Africa Radio, Music In Africa, Abidjan.net, Liferadio, France 24, Pulse et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édition anniversaire avec une tête d’affiche de la taille de Davido, c’est le moment où les sponsors regardent le plus : c’est l’année pour commencer à mesurer. Regardez n’importe quelle photo du festival : des téléphones levés partout. Ce contenu existe déjà, mais personne ne le dirige et personne ne le compte. Le modèle de revenus est la chaîne du bas : plus de créateurs apportent plus de visibilité, la visibilité atteint les objectifs des marques, et les objectifs atteints ramènent l’argent des sponsors et des investisseurs pour 2027. AToure fournit les créateurs et la preuve à chaque maillon.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colonnes : ce que le festival apporte, en orange, et ce qu’AToure réalise, en or. La part du festival est volontairement réduite : l’accès pour les créateurs, sa charte de marque et ses messages clés, les liens de billetterie et un contact à la production. Tout le reste revient à AToure : les créateurs, leur gestion sur le terrain en tant qu’opérateur, et le rapport qui rend la visibilité mesurable.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partie que l’équipe du festival n’a jamais à gérer. AToure repère et vérifie, fixe les livrables par écrit, briefe, fait accréditer chaque créateur pour les deux soirs et valide les contenus avant publication. Après le festival, chaque créateur est vérifié par rapport au brief sous 48 heures, et les statistiques sont collectées par enregistrement d’écran. Un seul contact chez AToure, et un suivi partagé que l’équipe peut consulter à tout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visibilité arrive en trois vagues. La montée en puissance dure environ cinq semaines et n’a qu’un objectif : vendre des billets. Les deux soirs du festival visent l’attention en direct, pour que ceux qui ne sont pas là regrettent de ne pas y être. L’après festival garde Mother Africa dans les fils d’actualité jusqu’en janvier et donne aux sponsors du contenu à montrer. Si le festival prévoit une annonce pour 2027, c’est là qu’elle trouve sa place. Chaque vague suit un seul calendrier de contenus, validé par le festival avant toute publication. Les images sont des illustrations.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sponsors paient pour de la visibilité, et les créateurs sont l’un des meilleurs moyens de la leur offrir. Les mentions sponsors entrent dans chaque brief, les créateurs sont guidés vers chaque activation et chaque bannière de scène pendant les deux soirs, et chaque partenaire a sa propre page dans le rapport. Le modèle de revenus est la même chaîne que plus haut, vue du côté du sponsor : plus de créateurs apportent plus de visibilité, la visibilité atteint les objectifs des marques, et les objectifs atteints ramènent l’argent des sponsors pour 2027. Toute valeur média est une estimation, présentée comme 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points fixes. Chaque publication des créateurs pendant la montée en puissance est suivie dès sa mise en ligne, pour que le rapport couvre les semaines avant le festival, pas seulement les deux soirs. Un point 48 heures après le festival : qui a publié, où, et selon quel brief. Le rapport complet au 14e jour, le 11 janvier 2027, en PDF pour la direction et les sponsors, avec une version web. La page de droite est un exemple de mise en page : ses chiffres sont fictifs, pour montrer le format, et ne sont pas une prévision pour le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 essai, pas un engagement long. Si le festival travaille déjà avec des créateurs, ils restent : AToure les gère sur le terrain avec les nouveaux, met chaque créateur sous contrat avec des livrables pour l’événement, suit chaque publication dès l’avant festival et livre un rapport complet à date fixe. L’essai est ce qui ouvre la discussion sur 2027. Il n’y a volontairement aucun prix sur cette diapositive : le périmètre et les honoraires se fixent une fois que le festival dit oui.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une capacité nouvelle. En Côte d’Ivoire, AToure a monté l’opération IShowSpeed à partir de zéro, en relation directe avec le ministre du Tourisme. Au Maroc, elle a livré la révélation de la mascotte lors de la finale de la CAN avec la CAF et la Fédération Royale Marocaine de Football. L’Ashton Hall Africa Tour a couvert cinq pays, gérés de bout en bout : Ghana, Cameroun, Nigeria, Bénin et Rwanda.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Concluez ici. Quatre étapes : valider le périmètre et fixer les objectifs, approuver la sélection de créateurs, engager et briefer les créateurs, puis mettre en ligne les premiers contenus. N’allez pas plus loin que cette diapositive : laissez la demande faire son effet, et laissez l’équipe de Mother Africa répondre.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4846320" cy="1600200"/>
          </a:xfrm>
          <a:prstGeom prst="rect">
            <a:avLst/>
          </a:prstGeom>
          <a:noFill/>
          <a:ln/>
        </p:spPr>
        <p:txBody>
          <a:bodyPr wrap="square" rtlCol="0"/>
          <a:lstStyle>
            <a:lvl1pPr algn="l" indent="0" marL="0">
              <a:lnSpc>
                <a:spcPct val="95000"/>
              </a:lnSpc>
              <a:buNone/>
              <a:defRPr lang="en-US" sz="4600" dirty="0">
                <a:solidFill>
                  <a:schemeClr val="bg1"/>
                </a:solidFill>
              </a:defRPr>
            </a:lvl1pPr>
          </a:lstStyle>
          <a:p>
            <a:pPr algn="l" indent="0" marL="0">
              <a:lnSpc>
                <a:spcPct val="95000"/>
              </a:lnSpc>
              <a:buNone/>
            </a:pPr>
            <a:endParaRPr lang="en-US" sz="46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2.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oto ai_phone" descr="Illustration : une festivalière filme la scène avec son téléphone, au milieu d’une foule de téléphones levés">    </p:cNvPr>
          <p:cNvPicPr>
            <a:picLocks noChangeAspect="1"/>
          </p:cNvPicPr>
          <p:nvPr/>
        </p:nvPicPr>
        <p:blipFill>
          <a:blip r:embed="rId1"/>
          <a:stretch>
            <a:fillRect/>
          </a:stretch>
        </p:blipFill>
        <p:spPr>
          <a:xfrm>
            <a:off x="0" y="-634898"/>
            <a:ext cx="12191695" cy="8127797"/>
          </a:xfrm>
          <a:prstGeom prst="rect">
            <a:avLst/>
          </a:prstGeom>
        </p:spPr>
      </p:pic>
      <p:pic>
        <p:nvPicPr>
          <p:cNvPr id="3" name="Fade overlay" descr="preencoded.png">    </p:cNvPr>
          <p:cNvPicPr>
            <a:picLocks noChangeAspect="1"/>
          </p:cNvPicPr>
          <p:nvPr/>
        </p:nvPicPr>
        <p:blipFill>
          <a:blip r:embed="rId2"/>
          <a:stretch>
            <a:fillRect/>
          </a:stretch>
        </p:blipFill>
        <p:spPr>
          <a:xfrm>
            <a:off x="0" y="0"/>
            <a:ext cx="6949440" cy="6858000"/>
          </a:xfrm>
          <a:prstGeom prst="rect">
            <a:avLst/>
          </a:prstGeom>
        </p:spPr>
      </p:pic>
      <p:pic>
        <p:nvPicPr>
          <p:cNvPr id="4" name="Fade overlay" descr="preencoded.png">    </p:cNvPr>
          <p:cNvPicPr>
            <a:picLocks noChangeAspect="1"/>
          </p:cNvPicPr>
          <p:nvPr/>
        </p:nvPicPr>
        <p:blipFill>
          <a:blip r:embed="rId3"/>
          <a:stretch>
            <a:fillRect/>
          </a:stretch>
        </p:blipFill>
        <p:spPr>
          <a:xfrm>
            <a:off x="0" y="4846320"/>
            <a:ext cx="12191695" cy="2011680"/>
          </a:xfrm>
          <a:prstGeom prst="rect">
            <a:avLst/>
          </a:prstGeom>
        </p:spPr>
      </p:pic>
      <p:sp>
        <p:nvSpPr>
          <p:cNvPr id="5" name="Text 0"/>
          <p:cNvSpPr/>
          <p:nvPr>
            <p:ph idx="100" type="title" hasCustomPrompt="1"/>
          </p:nvPr>
        </p:nvSpPr>
        <p:spPr>
          <a:xfrm>
            <a:off x="548640" y="2377440"/>
            <a:ext cx="4846320" cy="1600200"/>
          </a:xfrm>
          <a:prstGeom prst="rect">
            <a:avLst/>
          </a:prstGeom>
          <a:noFill/>
          <a:ln/>
        </p:spPr>
        <p:txBody>
          <a:bodyPr wrap="square" lIns="0" tIns="0" rIns="0" bIns="0" rtlCol="0" anchor="t"/>
          <a:lstStyle/>
          <a:p>
            <a:pPr algn="l" indent="0" marL="0">
              <a:lnSpc>
                <a:spcPct val="95000"/>
              </a:lnSpc>
              <a:buNone/>
            </a:pPr>
            <a:r>
              <a:rPr lang="fr-FR" altLang="en-US" sz="4600" dirty="0">
                <a:solidFill>
                  <a:schemeClr val="bg1"/>
                </a:solidFill>
              </a:rPr>
              <a:t>Mother Africa, plus visible que jamais</a:t>
            </a:r>
            <a:endParaRPr lang="fr-FR" sz="4600" dirty="0"/>
          </a:p>
        </p:txBody>
      </p:sp>
      <p:sp>
        <p:nvSpPr>
          <p:cNvPr id="7" name="Text 1"/>
          <p:cNvSpPr txBox="1"/>
          <p:nvPr/>
        </p:nvSpPr>
        <p:spPr>
          <a:xfrm>
            <a:off x="548640" y="411480"/>
            <a:ext cx="3657600" cy="237744"/>
          </a:xfrm>
          <a:prstGeom prst="rect">
            <a:avLst/>
          </a:prstGeom>
          <a:noFill/>
          <a:ln/>
        </p:spPr>
        <p:txBody>
          <a:bodyPr wrap="square" lIns="0" tIns="0" rIns="0" bIns="0" rtlCol="0" anchor="t"/>
          <a:lstStyle/>
          <a:p>
            <a:pPr indent="0" marL="0">
              <a:buNone/>
            </a:pPr>
            <a:r>
              <a:rPr lang="fr-FR" altLang="en-US" sz="1000" dirty="0">
                <a:solidFill>
                  <a:schemeClr val="accent5"/>
                </a:solidFill>
              </a:rPr>
              <a:t>atoureconsulting.com</a:t>
            </a:r>
            <a:endParaRPr lang="fr-FR" sz="1000" dirty="0"/>
          </a:p>
        </p:txBody>
      </p:sp>
      <p:pic>
        <p:nvPicPr>
          <p:cNvPr id="8" name="Image 3" descr="AToure Management &amp; Consulting">    </p:cNvPr>
          <p:cNvPicPr>
            <a:picLocks noChangeAspect="1"/>
          </p:cNvPicPr>
          <p:nvPr/>
        </p:nvPicPr>
        <p:blipFill>
          <a:blip r:embed="rId4"/>
          <a:stretch>
            <a:fillRect/>
          </a:stretch>
        </p:blipFill>
        <p:spPr>
          <a:xfrm>
            <a:off x="548640" y="1371600"/>
            <a:ext cx="2377440" cy="380390"/>
          </a:xfrm>
          <a:prstGeom prst="rect">
            <a:avLst/>
          </a:prstGeom>
        </p:spPr>
      </p:pic>
      <p:sp>
        <p:nvSpPr>
          <p:cNvPr id="9" name="Text 2"/>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fr-FR" altLang="en-US" sz="2000" dirty="0">
                <a:solidFill>
                  <a:schemeClr val="accent1"/>
                </a:solidFill>
              </a:rPr>
              <a:t>×</a:t>
            </a:r>
            <a:endParaRPr lang="fr-FR" sz="2000" dirty="0"/>
          </a:p>
        </p:txBody>
      </p:sp>
      <p:pic>
        <p:nvPicPr>
          <p:cNvPr id="10" name="Image 4" descr="Mother Africa Festival">    </p:cNvPr>
          <p:cNvPicPr>
            <a:picLocks noChangeAspect="1"/>
          </p:cNvPicPr>
          <p:nvPr/>
        </p:nvPicPr>
        <p:blipFill>
          <a:blip r:embed="rId5"/>
          <a:stretch>
            <a:fillRect/>
          </a:stretch>
        </p:blipFill>
        <p:spPr>
          <a:xfrm>
            <a:off x="3474720" y="1005840"/>
            <a:ext cx="1224254" cy="868680"/>
          </a:xfrm>
          <a:prstGeom prst="rect">
            <a:avLst/>
          </a:prstGeom>
        </p:spPr>
      </p:pic>
      <p:sp>
        <p:nvSpPr>
          <p:cNvPr id="11" name="Text 3"/>
          <p:cNvSpPr txBox="1"/>
          <p:nvPr/>
        </p:nvSpPr>
        <p:spPr>
          <a:xfrm>
            <a:off x="548640" y="4224528"/>
            <a:ext cx="4480560" cy="868680"/>
          </a:xfrm>
          <a:prstGeom prst="rect">
            <a:avLst/>
          </a:prstGeom>
          <a:noFill/>
          <a:ln/>
        </p:spPr>
        <p:txBody>
          <a:bodyPr wrap="square" lIns="0" tIns="0" rIns="0" bIns="0" rtlCol="0" anchor="t"/>
          <a:lstStyle/>
          <a:p>
            <a:pPr indent="0" marL="0">
              <a:lnSpc>
                <a:spcPct val="115000"/>
              </a:lnSpc>
              <a:buNone/>
            </a:pPr>
            <a:r>
              <a:rPr lang="fr-FR" altLang="en-US" sz="1500" dirty="0">
                <a:solidFill>
                  <a:schemeClr val="bg1"/>
                </a:solidFill>
              </a:rPr>
              <a:t>Une proposition pour la 5e édition de Mother Africa Festival : accès aux talents, gestion des créateurs sur le terrain et un rapport de visibilité.</a:t>
            </a:r>
            <a:endParaRPr lang="fr-FR" sz="1500" dirty="0"/>
          </a:p>
        </p:txBody>
      </p:sp>
      <p:sp>
        <p:nvSpPr>
          <p:cNvPr id="12" name="Shape 4"/>
          <p:cNvSpPr/>
          <p:nvPr/>
        </p:nvSpPr>
        <p:spPr>
          <a:xfrm>
            <a:off x="548640" y="5760720"/>
            <a:ext cx="1463040" cy="0"/>
          </a:xfrm>
          <a:prstGeom prst="line">
            <a:avLst/>
          </a:prstGeom>
          <a:noFill/>
          <a:ln w="25400">
            <a:solidFill>
              <a:schemeClr val="accent2"/>
            </a:solidFill>
            <a:prstDash val="solid"/>
          </a:ln>
        </p:spPr>
      </p:sp>
      <p:sp>
        <p:nvSpPr>
          <p:cNvPr id="13" name="Text 5"/>
          <p:cNvSpPr txBox="1"/>
          <p:nvPr/>
        </p:nvSpPr>
        <p:spPr>
          <a:xfrm>
            <a:off x="548640" y="5897880"/>
            <a:ext cx="6400800" cy="274320"/>
          </a:xfrm>
          <a:prstGeom prst="rect">
            <a:avLst/>
          </a:prstGeom>
          <a:noFill/>
          <a:ln/>
        </p:spPr>
        <p:txBody>
          <a:bodyPr wrap="square" lIns="0" tIns="0" rIns="0" bIns="0" rtlCol="0" anchor="t"/>
          <a:lstStyle/>
          <a:p>
            <a:pPr indent="0" marL="0">
              <a:buNone/>
            </a:pPr>
            <a:r>
              <a:rPr lang="fr-FR" altLang="en-US" sz="1200" dirty="0">
                <a:solidFill>
                  <a:schemeClr val="accent4"/>
                </a:solidFill>
              </a:rPr>
              <a:t>Préparé par Baba Touré, Directeur  ·  30.10.2026</a:t>
            </a:r>
            <a:endParaRPr lang="fr-FR" sz="1200" dirty="0"/>
          </a:p>
        </p:txBody>
      </p:sp>
      <p:sp>
        <p:nvSpPr>
          <p:cNvPr id="14"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OÙ EN EST LE FESTIVAL</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Après 4 éditions, le modèle économique fonctionne déjà</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fr-FR" altLang="en-US" sz="2800" b="1" dirty="0">
                <a:solidFill>
                  <a:schemeClr val="accent3"/>
                </a:solidFill>
              </a:rPr>
              <a:t>15 000+</a:t>
            </a:r>
            <a:endParaRPr lang="fr-FR"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fr-FR" altLang="en-US" sz="1200" dirty="0">
                <a:solidFill>
                  <a:schemeClr val="tx2"/>
                </a:solidFill>
              </a:rPr>
              <a:t>Festivaliers à la première édition, décembre 2022</a:t>
            </a:r>
            <a:endParaRPr lang="fr-FR"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fr-FR" altLang="en-US" sz="2800" b="1" dirty="0">
                <a:solidFill>
                  <a:schemeClr val="accent3"/>
                </a:solidFill>
              </a:rPr>
              <a:t>40 %</a:t>
            </a:r>
            <a:endParaRPr lang="fr-FR"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fr-FR" altLang="en-US" sz="1200" dirty="0">
                <a:solidFill>
                  <a:schemeClr val="tx2"/>
                </a:solidFill>
              </a:rPr>
              <a:t>D’entre eux venaient d’autres pays, selon la presse</a:t>
            </a:r>
            <a:endParaRPr lang="fr-FR"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fr-FR" altLang="en-US" sz="2800" b="1" dirty="0">
                <a:solidFill>
                  <a:schemeClr val="accent3"/>
                </a:solidFill>
              </a:rPr>
              <a:t>20 000+</a:t>
            </a:r>
            <a:endParaRPr lang="fr-FR"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fr-FR" altLang="en-US" sz="1200" dirty="0">
                <a:solidFill>
                  <a:schemeClr val="tx2"/>
                </a:solidFill>
              </a:rPr>
              <a:t>Attendus à la 5e édition, selon les organisateurs</a:t>
            </a:r>
            <a:endParaRPr lang="fr-FR"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fr-FR" altLang="en-US" sz="2800" b="1" dirty="0">
                <a:solidFill>
                  <a:schemeClr val="accent4"/>
                </a:solidFill>
              </a:rPr>
              <a:t>+1 Md FCFA</a:t>
            </a:r>
            <a:endParaRPr lang="fr-FR"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fr-FR" altLang="en-US" sz="1200" dirty="0">
                <a:solidFill>
                  <a:schemeClr val="accent5"/>
                </a:solidFill>
              </a:rPr>
              <a:t>Plus d’un milliard de FCFA : le festival comme instrument de sponsoring</a:t>
            </a:r>
            <a:endParaRPr lang="fr-FR"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L’HISTOIRE JUSQU’ICI</a:t>
            </a:r>
            <a:endParaRPr lang="fr-FR"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2022</a:t>
            </a:r>
            <a:endParaRPr lang="fr-FR"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Première édition, du 28 au 30 décembre à Abidjan</a:t>
            </a:r>
            <a:endParaRPr lang="fr-FR"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2023</a:t>
            </a:r>
            <a:endParaRPr lang="fr-FR"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2e édition : Aya Nakamura, Ayra Starr</a:t>
            </a:r>
            <a:endParaRPr lang="fr-FR"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2024</a:t>
            </a:r>
            <a:endParaRPr lang="fr-FR"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3e édition : Dadju et Tayc</a:t>
            </a:r>
            <a:endParaRPr lang="fr-FR"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fr-FR" altLang="en-US" sz="1300" b="1" dirty="0">
                <a:solidFill>
                  <a:schemeClr val="tx1"/>
                </a:solidFill>
              </a:rPr>
              <a:t>2025</a:t>
            </a:r>
            <a:endParaRPr lang="fr-FR"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4e édition : Gims, Asake. Sur France 24</a:t>
            </a:r>
            <a:endParaRPr lang="fr-FR"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fr-FR" altLang="en-US" sz="1300" b="1" dirty="0">
                <a:solidFill>
                  <a:schemeClr val="accent3"/>
                </a:solidFill>
              </a:rPr>
              <a:t>2026</a:t>
            </a:r>
            <a:endParaRPr lang="fr-FR"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fr-FR" altLang="en-US" sz="1050" dirty="0">
                <a:solidFill>
                  <a:schemeClr val="tx2"/>
                </a:solidFill>
              </a:rPr>
              <a:t>5e édition : Davido en tête d’affiche</a:t>
            </a:r>
            <a:endParaRPr lang="fr-FR"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fr-FR" altLang="en-US" sz="950" i="1" dirty="0">
                <a:solidFill>
                  <a:schemeClr val="tx2"/>
                </a:solidFill>
              </a:rPr>
              <a:t>Sources : Africa Radio, Music In Africa, Abidjan.net, Liferadio, France 24, Pulse, allAfrica. 20 000+ est le chiffre attendu par les organisateurs.</a:t>
            </a:r>
            <a:endParaRPr lang="fr-FR"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CE QU’IL FAUT EN 2026</a:t>
            </a:r>
            <a:endParaRPr lang="fr-FR"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Des créateurs choisis pour les publics que le festival vise en priorité</a:t>
            </a:r>
            <a:endParaRPr lang="fr-FR"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Des livrables et des messages clés fixés pour chaque créateur</a:t>
            </a:r>
            <a:endParaRPr lang="fr-FR"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Une vue claire de ce que publie chaque créateur, et quand</a:t>
            </a:r>
            <a:endParaRPr lang="fr-FR"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Une visibilité sponsor prouvée, partenaire par partenaire</a:t>
            </a:r>
            <a:endParaRPr lang="fr-FR"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fr-FR" altLang="en-US" sz="1400" dirty="0">
                <a:solidFill>
                  <a:schemeClr val="bg1"/>
                </a:solidFill>
              </a:rPr>
              <a:t>Les chiffres du festival : vues, publics, diaspora, billets</a:t>
            </a:r>
            <a:endParaRPr lang="fr-FR"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fr-FR" altLang="en-US" sz="1000" dirty="0">
                <a:solidFill>
                  <a:schemeClr val="accent4"/>
                </a:solidFill>
              </a:rPr>
              <a:t>AToure Management &amp; Consulting</a:t>
            </a:r>
            <a:endParaRPr lang="fr-FR"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POURQUOI MAINTENANT</a:t>
            </a:r>
            <a:endParaRPr lang="fr-FR"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bg1"/>
                </a:solidFill>
              </a:rPr>
              <a:t>Poser les bases l’année de l’anniversaire</a:t>
            </a:r>
            <a:endParaRPr lang="fr-FR"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1"/>
                </a:solidFill>
              </a:rPr>
              <a:t>×</a:t>
            </a:r>
            <a:endParaRPr lang="fr-FR"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fr-FR" altLang="en-US" sz="1500" dirty="0">
                <a:solidFill>
                  <a:schemeClr val="accent5"/>
                </a:solidFill>
              </a:rPr>
              <a:t>Cinq éditions, Davido en tête d’affiche : les sponsors vont demander ce que vaut l’audience de Mother Africa. Chaque chiffre produit aujourd’hui prépare cette réponse.</a:t>
            </a:r>
            <a:endParaRPr lang="fr-FR"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fr-FR" altLang="en-US" sz="2800" b="1" dirty="0">
                <a:solidFill>
                  <a:schemeClr val="accent4"/>
                </a:solidFill>
              </a:rPr>
              <a:t>5e</a:t>
            </a:r>
            <a:endParaRPr lang="fr-FR"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fr-FR" altLang="en-US" sz="950" b="1" spc="100" kern="0" dirty="0">
                <a:solidFill>
                  <a:schemeClr val="accent5"/>
                </a:solidFill>
              </a:rPr>
              <a:t>ÉDITION ANNIVERSAIRE</a:t>
            </a:r>
            <a:endParaRPr lang="fr-FR"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fr-FR" altLang="en-US" sz="2800" b="1" dirty="0">
                <a:solidFill>
                  <a:schemeClr val="accent4"/>
                </a:solidFill>
              </a:rPr>
              <a:t>2 nuits</a:t>
            </a:r>
            <a:endParaRPr lang="fr-FR"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fr-FR" altLang="en-US" sz="950" b="1" spc="100" kern="0" dirty="0">
                <a:solidFill>
                  <a:schemeClr val="accent5"/>
                </a:solidFill>
              </a:rPr>
              <a:t>27 ET 28 DÉCEMBRE, MARCORY ZONE 4</a:t>
            </a:r>
            <a:endParaRPr lang="fr-FR"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fr-FR" altLang="en-US" sz="2800" b="1" dirty="0">
                <a:solidFill>
                  <a:schemeClr val="accent2"/>
                </a:solidFill>
              </a:rPr>
              <a:t>Davido</a:t>
            </a:r>
            <a:endParaRPr lang="fr-FR"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fr-FR" altLang="en-US" sz="950" b="1" spc="100" kern="0" dirty="0">
                <a:solidFill>
                  <a:schemeClr val="accent5"/>
                </a:solidFill>
              </a:rPr>
              <a:t>TÊTE D’AFFICHE SUIVIE EN AFRIQUE ET DANS LA DIASPORA</a:t>
            </a:r>
            <a:endParaRPr lang="fr-FR"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fr-FR" altLang="en-US" sz="1700" b="1" spc="100" kern="0" dirty="0">
                <a:solidFill>
                  <a:schemeClr val="accent1"/>
                </a:solidFill>
              </a:rPr>
              <a:t>LE MODÈLE DE REVENUS</a:t>
            </a:r>
            <a:endParaRPr lang="fr-FR"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fr-FR" altLang="en-US" sz="950" b="1" spc="200" kern="0" dirty="0">
                <a:solidFill>
                  <a:schemeClr val="bg1"/>
                </a:solidFill>
              </a:rPr>
              <a:t>D’OÙ VIENT L’ARGENT</a:t>
            </a:r>
            <a:endParaRPr lang="fr-FR"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CRÉATEURS</a:t>
            </a:r>
            <a:endParaRPr lang="fr-FR"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VISIBILITÉ</a:t>
            </a:r>
            <a:endParaRPr lang="fr-FR"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OBJECTIFS DES MARQUES ATTEINTS</a:t>
            </a:r>
            <a:endParaRPr lang="fr-FR"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fr-FR" altLang="en-US" sz="1150" b="1" dirty="0">
                <a:solidFill>
                  <a:schemeClr val="tx1"/>
                </a:solidFill>
              </a:rPr>
              <a:t>ARGENT DES SPONSORS ET INVESTISSEURS</a:t>
            </a:r>
            <a:endParaRPr lang="fr-FR"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Une foule lève ses téléphones pour filmer un artiste sur scène, la nui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fr-FR" altLang="en-US" sz="2200" dirty="0">
                <a:solidFill>
                  <a:schemeClr val="bg1"/>
                </a:solidFill>
                <a:latin typeface="+mj-lt" pitchFamily="34" charset="0"/>
                <a:ea typeface="+mj-lt" pitchFamily="34" charset="-122"/>
                <a:cs typeface="+mj-lt" pitchFamily="34" charset="-120"/>
              </a:rPr>
              <a:t>Votre public filme déjà</a:t>
            </a:r>
            <a:endParaRPr lang="fr-FR"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fr-FR" altLang="en-US" sz="1300" dirty="0">
                <a:solidFill>
                  <a:schemeClr val="accent5"/>
                </a:solidFill>
              </a:rPr>
              <a:t>Chaque téléphone dans la foule est une caméra. AToure veille à ce que les bons créateurs les tiennent, et compte ce qu’ils rapportent.</a:t>
            </a:r>
            <a:endParaRPr lang="fr-FR"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LA RÉPONSE ATOURE</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Mother Africa ouvre les portes. AToure fait le reste</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5396332" cy="3246120"/>
          </a:xfrm>
          <a:prstGeom prst="rect">
            <a:avLst/>
          </a:prstGeom>
          <a:solidFill>
            <a:srgbClr val="FCE9DA"/>
          </a:solidFill>
          <a:ln/>
        </p:spPr>
      </p:sp>
      <p:sp>
        <p:nvSpPr>
          <p:cNvPr id="9" name="Shape 4"/>
          <p:cNvSpPr/>
          <p:nvPr/>
        </p:nvSpPr>
        <p:spPr>
          <a:xfrm>
            <a:off x="548640" y="1783080"/>
            <a:ext cx="5396332" cy="457200"/>
          </a:xfrm>
          <a:prstGeom prst="rect">
            <a:avLst/>
          </a:prstGeom>
          <a:solidFill>
            <a:schemeClr val="accent2"/>
          </a:solidFill>
          <a:ln/>
        </p:spPr>
      </p:sp>
      <p:sp>
        <p:nvSpPr>
          <p:cNvPr id="10" name="Text 5"/>
          <p:cNvSpPr txBox="1"/>
          <p:nvPr/>
        </p:nvSpPr>
        <p:spPr>
          <a:xfrm>
            <a:off x="822960" y="1783080"/>
            <a:ext cx="4939132" cy="457200"/>
          </a:xfrm>
          <a:prstGeom prst="rect">
            <a:avLst/>
          </a:prstGeom>
          <a:noFill/>
          <a:ln/>
        </p:spPr>
        <p:txBody>
          <a:bodyPr wrap="square" lIns="0" tIns="0" rIns="0" bIns="0" rtlCol="0" anchor="ctr"/>
          <a:lstStyle/>
          <a:p>
            <a:pPr indent="0" marL="0">
              <a:buNone/>
            </a:pPr>
            <a:r>
              <a:rPr lang="fr-FR" altLang="en-US" sz="1200" b="1" spc="200" kern="0" dirty="0">
                <a:solidFill>
                  <a:schemeClr val="tx1"/>
                </a:solidFill>
              </a:rPr>
              <a:t>CE QUE MOTHER AFRICA APPORTE</a:t>
            </a:r>
            <a:endParaRPr lang="fr-FR" sz="1200" dirty="0"/>
          </a:p>
        </p:txBody>
      </p:sp>
      <p:sp>
        <p:nvSpPr>
          <p:cNvPr id="11" name="Shape 6"/>
          <p:cNvSpPr/>
          <p:nvPr/>
        </p:nvSpPr>
        <p:spPr>
          <a:xfrm>
            <a:off x="6246724" y="1783080"/>
            <a:ext cx="5396332" cy="3246120"/>
          </a:xfrm>
          <a:prstGeom prst="rect">
            <a:avLst/>
          </a:prstGeom>
          <a:solidFill>
            <a:srgbClr val="F7F1E0"/>
          </a:solidFill>
          <a:ln/>
        </p:spPr>
      </p:sp>
      <p:sp>
        <p:nvSpPr>
          <p:cNvPr id="12" name="Shape 7"/>
          <p:cNvSpPr/>
          <p:nvPr/>
        </p:nvSpPr>
        <p:spPr>
          <a:xfrm>
            <a:off x="6246724" y="1783080"/>
            <a:ext cx="5396332" cy="457200"/>
          </a:xfrm>
          <a:prstGeom prst="rect">
            <a:avLst/>
          </a:prstGeom>
          <a:solidFill>
            <a:schemeClr val="accent1"/>
          </a:solidFill>
          <a:ln/>
        </p:spPr>
      </p:sp>
      <p:sp>
        <p:nvSpPr>
          <p:cNvPr id="13" name="Text 8"/>
          <p:cNvSpPr txBox="1"/>
          <p:nvPr/>
        </p:nvSpPr>
        <p:spPr>
          <a:xfrm>
            <a:off x="6521044" y="1783080"/>
            <a:ext cx="4939132" cy="457200"/>
          </a:xfrm>
          <a:prstGeom prst="rect">
            <a:avLst/>
          </a:prstGeom>
          <a:noFill/>
          <a:ln/>
        </p:spPr>
        <p:txBody>
          <a:bodyPr wrap="square" lIns="0" tIns="0" rIns="0" bIns="0" rtlCol="0" anchor="ctr"/>
          <a:lstStyle/>
          <a:p>
            <a:pPr indent="0" marL="0">
              <a:buNone/>
            </a:pPr>
            <a:r>
              <a:rPr lang="fr-FR" altLang="en-US" sz="1200" b="1" spc="200" kern="0" dirty="0">
                <a:solidFill>
                  <a:schemeClr val="tx1"/>
                </a:solidFill>
              </a:rPr>
              <a:t>CE QU’ATOURE RÉALISE</a:t>
            </a:r>
            <a:endParaRPr lang="fr-FR" sz="1200" dirty="0"/>
          </a:p>
        </p:txBody>
      </p:sp>
      <p:sp>
        <p:nvSpPr>
          <p:cNvPr id="14" name="Shape 9"/>
          <p:cNvSpPr/>
          <p:nvPr/>
        </p:nvSpPr>
        <p:spPr>
          <a:xfrm>
            <a:off x="822960" y="2450592"/>
            <a:ext cx="438912" cy="438912"/>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928299" y="2555931"/>
            <a:ext cx="228234" cy="228234"/>
          </a:xfrm>
          <a:prstGeom prst="rect">
            <a:avLst/>
          </a:prstGeom>
        </p:spPr>
      </p:pic>
      <p:sp>
        <p:nvSpPr>
          <p:cNvPr id="16" name="Text 10"/>
          <p:cNvSpPr txBox="1"/>
          <p:nvPr/>
        </p:nvSpPr>
        <p:spPr>
          <a:xfrm>
            <a:off x="1417320" y="245059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Accréditations et zones d’accès pour les créateurs</a:t>
            </a:r>
            <a:endParaRPr lang="fr-FR" sz="1400" dirty="0"/>
          </a:p>
        </p:txBody>
      </p:sp>
      <p:sp>
        <p:nvSpPr>
          <p:cNvPr id="17" name="Shape 11"/>
          <p:cNvSpPr/>
          <p:nvPr/>
        </p:nvSpPr>
        <p:spPr>
          <a:xfrm>
            <a:off x="822960" y="3090672"/>
            <a:ext cx="438912" cy="438912"/>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928299" y="3196011"/>
            <a:ext cx="228234" cy="228234"/>
          </a:xfrm>
          <a:prstGeom prst="rect">
            <a:avLst/>
          </a:prstGeom>
        </p:spPr>
      </p:pic>
      <p:sp>
        <p:nvSpPr>
          <p:cNvPr id="19" name="Text 12"/>
          <p:cNvSpPr txBox="1"/>
          <p:nvPr/>
        </p:nvSpPr>
        <p:spPr>
          <a:xfrm>
            <a:off x="1417320" y="309067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La charte de marque et les messages clés</a:t>
            </a:r>
            <a:endParaRPr lang="fr-FR" sz="1400" dirty="0"/>
          </a:p>
        </p:txBody>
      </p:sp>
      <p:sp>
        <p:nvSpPr>
          <p:cNvPr id="20" name="Shape 13"/>
          <p:cNvSpPr/>
          <p:nvPr/>
        </p:nvSpPr>
        <p:spPr>
          <a:xfrm>
            <a:off x="822960" y="3730752"/>
            <a:ext cx="438912" cy="438912"/>
          </a:xfrm>
          <a:prstGeom prst="ellipse">
            <a:avLst/>
          </a:prstGeom>
          <a:solidFill>
            <a:schemeClr val="accent2"/>
          </a:solidFill>
          <a:ln/>
        </p:spPr>
      </p:sp>
      <p:pic>
        <p:nvPicPr>
          <p:cNvPr id="21" name="Image 4" descr="preencoded.png">    </p:cNvPr>
          <p:cNvPicPr>
            <a:picLocks noChangeAspect="1"/>
          </p:cNvPicPr>
          <p:nvPr/>
        </p:nvPicPr>
        <p:blipFill>
          <a:blip r:embed="rId5"/>
          <a:stretch>
            <a:fillRect/>
          </a:stretch>
        </p:blipFill>
        <p:spPr>
          <a:xfrm>
            <a:off x="928299" y="3836091"/>
            <a:ext cx="228234" cy="228234"/>
          </a:xfrm>
          <a:prstGeom prst="rect">
            <a:avLst/>
          </a:prstGeom>
        </p:spPr>
      </p:pic>
      <p:sp>
        <p:nvSpPr>
          <p:cNvPr id="22" name="Text 14"/>
          <p:cNvSpPr txBox="1"/>
          <p:nvPr/>
        </p:nvSpPr>
        <p:spPr>
          <a:xfrm>
            <a:off x="1417320" y="373075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Les liens de billetterie, et des codes si le festival le souhaite</a:t>
            </a:r>
            <a:endParaRPr lang="fr-FR" sz="1400" dirty="0"/>
          </a:p>
        </p:txBody>
      </p:sp>
      <p:sp>
        <p:nvSpPr>
          <p:cNvPr id="23" name="Shape 15"/>
          <p:cNvSpPr/>
          <p:nvPr/>
        </p:nvSpPr>
        <p:spPr>
          <a:xfrm>
            <a:off x="822960" y="4370832"/>
            <a:ext cx="438912" cy="438912"/>
          </a:xfrm>
          <a:prstGeom prst="ellipse">
            <a:avLst/>
          </a:prstGeom>
          <a:solidFill>
            <a:schemeClr val="accent2"/>
          </a:solidFill>
          <a:ln/>
        </p:spPr>
      </p:sp>
      <p:pic>
        <p:nvPicPr>
          <p:cNvPr id="24" name="Image 5" descr="preencoded.png">    </p:cNvPr>
          <p:cNvPicPr>
            <a:picLocks noChangeAspect="1"/>
          </p:cNvPicPr>
          <p:nvPr/>
        </p:nvPicPr>
        <p:blipFill>
          <a:blip r:embed="rId6"/>
          <a:stretch>
            <a:fillRect/>
          </a:stretch>
        </p:blipFill>
        <p:spPr>
          <a:xfrm>
            <a:off x="928299" y="4476171"/>
            <a:ext cx="228234" cy="228234"/>
          </a:xfrm>
          <a:prstGeom prst="rect">
            <a:avLst/>
          </a:prstGeom>
        </p:spPr>
      </p:pic>
      <p:sp>
        <p:nvSpPr>
          <p:cNvPr id="25" name="Text 16"/>
          <p:cNvSpPr txBox="1"/>
          <p:nvPr/>
        </p:nvSpPr>
        <p:spPr>
          <a:xfrm>
            <a:off x="1417320" y="4370832"/>
            <a:ext cx="4299052" cy="438912"/>
          </a:xfrm>
          <a:prstGeom prst="rect">
            <a:avLst/>
          </a:prstGeom>
          <a:noFill/>
          <a:ln/>
        </p:spPr>
        <p:txBody>
          <a:bodyPr wrap="square" lIns="0" tIns="0" rIns="0" bIns="0" rtlCol="0" anchor="ctr"/>
          <a:lstStyle/>
          <a:p>
            <a:pPr indent="0" marL="0">
              <a:buNone/>
            </a:pPr>
            <a:r>
              <a:rPr lang="fr-FR" altLang="en-US" sz="1400" dirty="0">
                <a:solidFill>
                  <a:schemeClr val="tx1"/>
                </a:solidFill>
              </a:rPr>
              <a:t>Un contact dans l’équipe de production</a:t>
            </a:r>
            <a:endParaRPr lang="fr-FR" sz="1400" dirty="0"/>
          </a:p>
        </p:txBody>
      </p:sp>
      <p:sp>
        <p:nvSpPr>
          <p:cNvPr id="26" name="Shape 17"/>
          <p:cNvSpPr/>
          <p:nvPr/>
        </p:nvSpPr>
        <p:spPr>
          <a:xfrm>
            <a:off x="6521044" y="2450592"/>
            <a:ext cx="438912" cy="438912"/>
          </a:xfrm>
          <a:prstGeom prst="ellipse">
            <a:avLst/>
          </a:prstGeom>
          <a:solidFill>
            <a:schemeClr val="accent1"/>
          </a:solidFill>
          <a:ln/>
        </p:spPr>
      </p:sp>
      <p:sp>
        <p:nvSpPr>
          <p:cNvPr id="27" name="Text 18"/>
          <p:cNvSpPr txBox="1"/>
          <p:nvPr/>
        </p:nvSpPr>
        <p:spPr>
          <a:xfrm>
            <a:off x="6521044" y="2450592"/>
            <a:ext cx="438912" cy="438912"/>
          </a:xfrm>
          <a:prstGeom prst="rect">
            <a:avLst/>
          </a:prstGeom>
          <a:noFill/>
          <a:ln/>
        </p:spPr>
        <p:txBody>
          <a:bodyPr wrap="square" lIns="0" tIns="0" rIns="0" bIns="0" rtlCol="0" anchor="ctr"/>
          <a:lstStyle/>
          <a:p>
            <a:pPr algn="ctr" indent="0" marL="0">
              <a:buNone/>
            </a:pPr>
            <a:r>
              <a:rPr lang="fr-FR" altLang="en-US" sz="1300" b="1" dirty="0">
                <a:solidFill>
                  <a:schemeClr val="tx1"/>
                </a:solidFill>
              </a:rPr>
              <a:t>1</a:t>
            </a:r>
            <a:endParaRPr lang="fr-FR" sz="1300" dirty="0"/>
          </a:p>
        </p:txBody>
      </p:sp>
      <p:sp>
        <p:nvSpPr>
          <p:cNvPr id="28" name="Text 19"/>
          <p:cNvSpPr txBox="1"/>
          <p:nvPr/>
        </p:nvSpPr>
        <p:spPr>
          <a:xfrm>
            <a:off x="7115404" y="2404872"/>
            <a:ext cx="4299052" cy="347472"/>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Accès aux talents</a:t>
            </a:r>
            <a:endParaRPr lang="fr-FR" sz="1800" dirty="0"/>
          </a:p>
        </p:txBody>
      </p:sp>
      <p:sp>
        <p:nvSpPr>
          <p:cNvPr id="29" name="Text 20"/>
          <p:cNvSpPr txBox="1"/>
          <p:nvPr/>
        </p:nvSpPr>
        <p:spPr>
          <a:xfrm>
            <a:off x="7115404" y="2752344"/>
            <a:ext cx="4299052" cy="310896"/>
          </a:xfrm>
          <a:prstGeom prst="rect">
            <a:avLst/>
          </a:prstGeom>
          <a:noFill/>
          <a:ln/>
        </p:spPr>
        <p:txBody>
          <a:bodyPr wrap="square" lIns="0" tIns="0" rIns="0" bIns="0" rtlCol="0" anchor="t"/>
          <a:lstStyle/>
          <a:p>
            <a:pPr indent="0" marL="0">
              <a:buNone/>
            </a:pPr>
            <a:r>
              <a:rPr lang="fr-FR" altLang="en-US" sz="1300" dirty="0">
                <a:solidFill>
                  <a:schemeClr val="tx2"/>
                </a:solidFill>
              </a:rPr>
              <a:t>Des créateurs adaptés aux publics que vise Mother Africa</a:t>
            </a:r>
            <a:endParaRPr lang="fr-FR" sz="1300" dirty="0"/>
          </a:p>
        </p:txBody>
      </p:sp>
      <p:sp>
        <p:nvSpPr>
          <p:cNvPr id="30" name="Shape 21"/>
          <p:cNvSpPr/>
          <p:nvPr/>
        </p:nvSpPr>
        <p:spPr>
          <a:xfrm>
            <a:off x="6521044" y="3291840"/>
            <a:ext cx="438912" cy="438912"/>
          </a:xfrm>
          <a:prstGeom prst="ellipse">
            <a:avLst/>
          </a:prstGeom>
          <a:solidFill>
            <a:schemeClr val="accent1"/>
          </a:solidFill>
          <a:ln/>
        </p:spPr>
      </p:sp>
      <p:sp>
        <p:nvSpPr>
          <p:cNvPr id="31" name="Text 22"/>
          <p:cNvSpPr txBox="1"/>
          <p:nvPr/>
        </p:nvSpPr>
        <p:spPr>
          <a:xfrm>
            <a:off x="6521044" y="3291840"/>
            <a:ext cx="438912" cy="438912"/>
          </a:xfrm>
          <a:prstGeom prst="rect">
            <a:avLst/>
          </a:prstGeom>
          <a:noFill/>
          <a:ln/>
        </p:spPr>
        <p:txBody>
          <a:bodyPr wrap="square" lIns="0" tIns="0" rIns="0" bIns="0" rtlCol="0" anchor="ctr"/>
          <a:lstStyle/>
          <a:p>
            <a:pPr algn="ctr" indent="0" marL="0">
              <a:buNone/>
            </a:pPr>
            <a:r>
              <a:rPr lang="fr-FR" altLang="en-US" sz="1300" b="1" dirty="0">
                <a:solidFill>
                  <a:schemeClr val="tx1"/>
                </a:solidFill>
              </a:rPr>
              <a:t>2</a:t>
            </a:r>
            <a:endParaRPr lang="fr-FR" sz="1300" dirty="0"/>
          </a:p>
        </p:txBody>
      </p:sp>
      <p:sp>
        <p:nvSpPr>
          <p:cNvPr id="32" name="Text 23"/>
          <p:cNvSpPr txBox="1"/>
          <p:nvPr/>
        </p:nvSpPr>
        <p:spPr>
          <a:xfrm>
            <a:off x="7115404" y="3246120"/>
            <a:ext cx="4299052" cy="347472"/>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Gestion des créateurs sur le terrain</a:t>
            </a:r>
            <a:endParaRPr lang="fr-FR" sz="1800" dirty="0"/>
          </a:p>
        </p:txBody>
      </p:sp>
      <p:sp>
        <p:nvSpPr>
          <p:cNvPr id="33" name="Text 24"/>
          <p:cNvSpPr txBox="1"/>
          <p:nvPr/>
        </p:nvSpPr>
        <p:spPr>
          <a:xfrm>
            <a:off x="7115404" y="3593592"/>
            <a:ext cx="4299052" cy="310896"/>
          </a:xfrm>
          <a:prstGeom prst="rect">
            <a:avLst/>
          </a:prstGeom>
          <a:noFill/>
          <a:ln/>
        </p:spPr>
        <p:txBody>
          <a:bodyPr wrap="square" lIns="0" tIns="0" rIns="0" bIns="0" rtlCol="0" anchor="t"/>
          <a:lstStyle/>
          <a:p>
            <a:pPr indent="0" marL="0">
              <a:buNone/>
            </a:pPr>
            <a:r>
              <a:rPr lang="fr-FR" altLang="en-US" sz="1300" dirty="0">
                <a:solidFill>
                  <a:schemeClr val="tx2"/>
                </a:solidFill>
              </a:rPr>
              <a:t>Briefs, accréditations, validations et un seul interlocuteur</a:t>
            </a:r>
            <a:endParaRPr lang="fr-FR" sz="1300" dirty="0"/>
          </a:p>
        </p:txBody>
      </p:sp>
      <p:sp>
        <p:nvSpPr>
          <p:cNvPr id="34" name="Shape 25"/>
          <p:cNvSpPr/>
          <p:nvPr/>
        </p:nvSpPr>
        <p:spPr>
          <a:xfrm>
            <a:off x="6521044" y="4133088"/>
            <a:ext cx="438912" cy="438912"/>
          </a:xfrm>
          <a:prstGeom prst="ellipse">
            <a:avLst/>
          </a:prstGeom>
          <a:solidFill>
            <a:schemeClr val="accent1"/>
          </a:solidFill>
          <a:ln/>
        </p:spPr>
      </p:sp>
      <p:sp>
        <p:nvSpPr>
          <p:cNvPr id="35" name="Text 26"/>
          <p:cNvSpPr txBox="1"/>
          <p:nvPr/>
        </p:nvSpPr>
        <p:spPr>
          <a:xfrm>
            <a:off x="6521044" y="4133088"/>
            <a:ext cx="438912" cy="438912"/>
          </a:xfrm>
          <a:prstGeom prst="rect">
            <a:avLst/>
          </a:prstGeom>
          <a:noFill/>
          <a:ln/>
        </p:spPr>
        <p:txBody>
          <a:bodyPr wrap="square" lIns="0" tIns="0" rIns="0" bIns="0" rtlCol="0" anchor="ctr"/>
          <a:lstStyle/>
          <a:p>
            <a:pPr algn="ctr" indent="0" marL="0">
              <a:buNone/>
            </a:pPr>
            <a:r>
              <a:rPr lang="fr-FR" altLang="en-US" sz="1300" b="1" dirty="0">
                <a:solidFill>
                  <a:schemeClr val="tx1"/>
                </a:solidFill>
              </a:rPr>
              <a:t>3</a:t>
            </a:r>
            <a:endParaRPr lang="fr-FR" sz="1300" dirty="0"/>
          </a:p>
        </p:txBody>
      </p:sp>
      <p:sp>
        <p:nvSpPr>
          <p:cNvPr id="36" name="Text 27"/>
          <p:cNvSpPr txBox="1"/>
          <p:nvPr/>
        </p:nvSpPr>
        <p:spPr>
          <a:xfrm>
            <a:off x="7115404" y="4087368"/>
            <a:ext cx="4299052" cy="347472"/>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Le rapport de visibilité</a:t>
            </a:r>
            <a:endParaRPr lang="fr-FR" sz="1800" dirty="0"/>
          </a:p>
        </p:txBody>
      </p:sp>
      <p:sp>
        <p:nvSpPr>
          <p:cNvPr id="37" name="Text 28"/>
          <p:cNvSpPr txBox="1"/>
          <p:nvPr/>
        </p:nvSpPr>
        <p:spPr>
          <a:xfrm>
            <a:off x="7115404" y="4434840"/>
            <a:ext cx="4299052" cy="310896"/>
          </a:xfrm>
          <a:prstGeom prst="rect">
            <a:avLst/>
          </a:prstGeom>
          <a:noFill/>
          <a:ln/>
        </p:spPr>
        <p:txBody>
          <a:bodyPr wrap="square" lIns="0" tIns="0" rIns="0" bIns="0" rtlCol="0" anchor="t"/>
          <a:lstStyle/>
          <a:p>
            <a:pPr indent="0" marL="0">
              <a:buNone/>
            </a:pPr>
            <a:r>
              <a:rPr lang="fr-FR" altLang="en-US" sz="1300" dirty="0">
                <a:solidFill>
                  <a:schemeClr val="tx2"/>
                </a:solidFill>
              </a:rPr>
              <a:t>Un point à 48 heures, le rapport complet au 14e jour</a:t>
            </a:r>
            <a:endParaRPr lang="fr-FR" sz="1300" dirty="0"/>
          </a:p>
        </p:txBody>
      </p:sp>
      <p:sp>
        <p:nvSpPr>
          <p:cNvPr id="38" name="Shape 29"/>
          <p:cNvSpPr/>
          <p:nvPr/>
        </p:nvSpPr>
        <p:spPr>
          <a:xfrm>
            <a:off x="548640" y="5257800"/>
            <a:ext cx="11094415" cy="731520"/>
          </a:xfrm>
          <a:prstGeom prst="roundRect">
            <a:avLst>
              <a:gd name="adj" fmla="val 12500"/>
            </a:avLst>
          </a:prstGeom>
          <a:solidFill>
            <a:schemeClr val="tx1"/>
          </a:solidFill>
          <a:ln/>
        </p:spPr>
      </p:sp>
      <p:sp>
        <p:nvSpPr>
          <p:cNvPr id="39" name="Text 30"/>
          <p:cNvSpPr txBox="1"/>
          <p:nvPr/>
        </p:nvSpPr>
        <p:spPr>
          <a:xfrm>
            <a:off x="822960" y="5257800"/>
            <a:ext cx="10515600" cy="731520"/>
          </a:xfrm>
          <a:prstGeom prst="rect">
            <a:avLst/>
          </a:prstGeom>
          <a:noFill/>
          <a:ln/>
        </p:spPr>
        <p:txBody>
          <a:bodyPr wrap="square" lIns="0" tIns="0" rIns="0" bIns="0" rtlCol="0" anchor="ctr"/>
          <a:lstStyle/>
          <a:p>
            <a:pPr indent="0" marL="0">
              <a:buNone/>
            </a:pPr>
            <a:r>
              <a:rPr lang="fr-FR" altLang="en-US" sz="1900" dirty="0">
                <a:solidFill>
                  <a:schemeClr val="bg1"/>
                </a:solidFill>
                <a:latin typeface="+mj-lt" pitchFamily="34" charset="0"/>
                <a:ea typeface="+mj-lt" pitchFamily="34" charset="-122"/>
                <a:cs typeface="+mj-lt" pitchFamily="34" charset="-120"/>
              </a:rPr>
              <a:t>Les créateurs produisent la visibilité. AToure la rend mesurable, pour que le festival puisse la vendre à ses sponsors.</a:t>
            </a:r>
            <a:endParaRPr lang="fr-FR"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GESTION DES CRÉATEURS SUR LE TERRAIN</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AToure gère chaque créateur, du début à la fin</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1</a:t>
            </a:r>
            <a:endParaRPr lang="fr-FR"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Repérage</a:t>
            </a:r>
            <a:endParaRPr lang="fr-FR"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Des créateurs adaptés au festival, aux audiences vérifiées.</a:t>
            </a:r>
            <a:endParaRPr lang="fr-FR"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2</a:t>
            </a:r>
            <a:endParaRPr lang="fr-FR"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Contrat</a:t>
            </a:r>
            <a:endParaRPr lang="fr-FR"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Livrables, calendrier et droits d’usage fixés par écrit.</a:t>
            </a:r>
            <a:endParaRPr lang="fr-FR"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3</a:t>
            </a:r>
            <a:endParaRPr lang="fr-FR"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Brief</a:t>
            </a:r>
            <a:endParaRPr lang="fr-FR"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Messages clés, hashtags, lien de billetterie et mentions sponsors.</a:t>
            </a:r>
            <a:endParaRPr lang="fr-FR"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4</a:t>
            </a:r>
            <a:endParaRPr lang="fr-FR"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Accréditation</a:t>
            </a:r>
            <a:endParaRPr lang="fr-FR"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Pass, zones d’accès et horaires d’arrivée pour les deux soirs.</a:t>
            </a:r>
            <a:endParaRPr lang="fr-FR"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5</a:t>
            </a:r>
            <a:endParaRPr lang="fr-FR"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fr-FR" altLang="en-US" sz="1900" dirty="0">
                <a:solidFill>
                  <a:schemeClr val="tx1"/>
                </a:solidFill>
                <a:latin typeface="+mj-lt" pitchFamily="34" charset="0"/>
                <a:ea typeface="+mj-lt" pitchFamily="34" charset="-122"/>
                <a:cs typeface="+mj-lt" pitchFamily="34" charset="-120"/>
              </a:rPr>
              <a:t>Validation</a:t>
            </a:r>
            <a:endParaRPr lang="fr-FR"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fr-FR" altLang="en-US" sz="1300" dirty="0">
                <a:solidFill>
                  <a:schemeClr val="tx2"/>
                </a:solidFill>
              </a:rPr>
              <a:t>Contenus vérifiés selon le brief, puis publiés au calendrier.</a:t>
            </a:r>
            <a:endParaRPr lang="fr-FR"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fr-FR" altLang="en-US" sz="1300" b="1" i="1" dirty="0">
                <a:solidFill>
                  <a:schemeClr val="accent3"/>
                </a:solidFill>
              </a:rPr>
              <a:t>et plus encore…</a:t>
            </a:r>
            <a:endParaRPr lang="fr-FR" sz="1300" dirty="0"/>
          </a:p>
        </p:txBody>
      </p:sp>
      <p:sp>
        <p:nvSpPr>
          <p:cNvPr id="42" name="Shape 37"/>
          <p:cNvSpPr/>
          <p:nvPr/>
        </p:nvSpPr>
        <p:spPr>
          <a:xfrm>
            <a:off x="548640" y="4709160"/>
            <a:ext cx="4572000" cy="1463040"/>
          </a:xfrm>
          <a:prstGeom prst="roundRect">
            <a:avLst>
              <a:gd name="adj" fmla="val 6250"/>
            </a:avLst>
          </a:prstGeom>
          <a:solidFill>
            <a:schemeClr val="tx1"/>
          </a:solidFill>
          <a:ln/>
        </p:spPr>
      </p:sp>
      <p:sp>
        <p:nvSpPr>
          <p:cNvPr id="43" name="Text 38"/>
          <p:cNvSpPr txBox="1"/>
          <p:nvPr/>
        </p:nvSpPr>
        <p:spPr>
          <a:xfrm>
            <a:off x="822960" y="4846320"/>
            <a:ext cx="402336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APRÈS LE FESTIVAL</a:t>
            </a:r>
            <a:endParaRPr lang="fr-FR" sz="1100" dirty="0"/>
          </a:p>
        </p:txBody>
      </p:sp>
      <p:sp>
        <p:nvSpPr>
          <p:cNvPr id="44" name="Text 39"/>
          <p:cNvSpPr txBox="1"/>
          <p:nvPr/>
        </p:nvSpPr>
        <p:spPr>
          <a:xfrm>
            <a:off x="822960" y="5138928"/>
            <a:ext cx="4160520" cy="548640"/>
          </a:xfrm>
          <a:prstGeom prst="rect">
            <a:avLst/>
          </a:prstGeom>
          <a:noFill/>
          <a:ln/>
        </p:spPr>
        <p:txBody>
          <a:bodyPr wrap="square" lIns="0" tIns="0" rIns="0" bIns="0" rtlCol="0" anchor="t"/>
          <a:lstStyle/>
          <a:p>
            <a:pPr marL="177800" indent="-177800">
              <a:spcAft>
                <a:spcPts val="400"/>
              </a:spcAft>
              <a:buSzPct val="100000"/>
              <a:buChar char="•"/>
            </a:pPr>
            <a:r>
              <a:rPr lang="fr-FR" altLang="en-US" sz="1200" dirty="0">
                <a:solidFill>
                  <a:schemeClr val="bg1"/>
                </a:solidFill>
              </a:rPr>
              <a:t>Chaque créateur vérifié selon le brief sous 48 heures</a:t>
            </a:r>
            <a:endParaRPr lang="fr-FR" sz="1200" dirty="0"/>
          </a:p>
          <a:p>
            <a:pPr marL="177800" indent="-177800">
              <a:spcAft>
                <a:spcPts val="400"/>
              </a:spcAft>
              <a:buSzPct val="100000"/>
              <a:buChar char="•"/>
            </a:pPr>
            <a:r>
              <a:rPr lang="fr-FR" altLang="en-US" sz="1200" dirty="0">
                <a:solidFill>
                  <a:schemeClr val="bg1"/>
                </a:solidFill>
              </a:rPr>
              <a:t>Statistiques collectées par enregistrement d’écran</a:t>
            </a:r>
            <a:endParaRPr lang="fr-FR" sz="12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fr-FR" altLang="en-US" sz="1300" b="1" i="1" dirty="0">
                <a:solidFill>
                  <a:schemeClr val="accent1"/>
                </a:solidFill>
              </a:rPr>
              <a:t>et plus encore…</a:t>
            </a:r>
            <a:endParaRPr lang="fr-FR" sz="1300" dirty="0"/>
          </a:p>
        </p:txBody>
      </p:sp>
      <p:pic>
        <p:nvPicPr>
          <p:cNvPr id="46" name="Photo ai_briefing" descr="Illustration : un responsable de production briefe des créateurs avec une tablette, en coulisses, avant l’ouverture">    </p:cNvPr>
          <p:cNvPicPr>
            <a:picLocks noChangeAspect="1"/>
          </p:cNvPicPr>
          <p:nvPr/>
        </p:nvPicPr>
        <p:blipFill>
          <a:blip r:embed="rId3"/>
          <a:stretch>
            <a:fillRect/>
          </a:stretch>
        </p:blipFill>
        <p:spPr>
          <a:xfrm>
            <a:off x="5394960" y="4709160"/>
            <a:ext cx="2599578" cy="1463040"/>
          </a:xfrm>
          <a:prstGeom prst="rect">
            <a:avLst/>
          </a:prstGeom>
        </p:spPr>
      </p:pic>
      <p:pic>
        <p:nvPicPr>
          <p:cNvPr id="47" name="Image 3" descr="preencoded.png">    </p:cNvPr>
          <p:cNvPicPr>
            <a:picLocks noChangeAspect="1"/>
          </p:cNvPicPr>
          <p:nvPr/>
        </p:nvPicPr>
        <p:blipFill>
          <a:blip r:embed="rId4"/>
          <a:stretch>
            <a:fillRect/>
          </a:stretch>
        </p:blipFill>
        <p:spPr>
          <a:xfrm>
            <a:off x="8268858" y="4727448"/>
            <a:ext cx="256032" cy="256032"/>
          </a:xfrm>
          <a:prstGeom prst="rect">
            <a:avLst/>
          </a:prstGeom>
        </p:spPr>
      </p:pic>
      <p:sp>
        <p:nvSpPr>
          <p:cNvPr id="48" name="Text 41"/>
          <p:cNvSpPr txBox="1"/>
          <p:nvPr/>
        </p:nvSpPr>
        <p:spPr>
          <a:xfrm>
            <a:off x="8634618" y="4709160"/>
            <a:ext cx="3008437" cy="438912"/>
          </a:xfrm>
          <a:prstGeom prst="rect">
            <a:avLst/>
          </a:prstGeom>
          <a:noFill/>
          <a:ln/>
        </p:spPr>
        <p:txBody>
          <a:bodyPr wrap="square" lIns="0" tIns="0" rIns="0" bIns="0" rtlCol="0" anchor="t"/>
          <a:lstStyle/>
          <a:p>
            <a:pPr indent="0" marL="0">
              <a:buNone/>
            </a:pPr>
            <a:r>
              <a:rPr lang="fr-FR" altLang="en-US" sz="1250" dirty="0">
                <a:solidFill>
                  <a:schemeClr val="tx1"/>
                </a:solidFill>
              </a:rPr>
              <a:t>Un seul interlocuteur pour l’équipe du festival</a:t>
            </a:r>
            <a:endParaRPr lang="fr-FR" sz="1250" dirty="0"/>
          </a:p>
        </p:txBody>
      </p:sp>
      <p:pic>
        <p:nvPicPr>
          <p:cNvPr id="49" name="Image 4" descr="preencoded.png">    </p:cNvPr>
          <p:cNvPicPr>
            <a:picLocks noChangeAspect="1"/>
          </p:cNvPicPr>
          <p:nvPr/>
        </p:nvPicPr>
        <p:blipFill>
          <a:blip r:embed="rId5"/>
          <a:stretch>
            <a:fillRect/>
          </a:stretch>
        </p:blipFill>
        <p:spPr>
          <a:xfrm>
            <a:off x="8268858" y="5230368"/>
            <a:ext cx="256032" cy="256032"/>
          </a:xfrm>
          <a:prstGeom prst="rect">
            <a:avLst/>
          </a:prstGeom>
        </p:spPr>
      </p:pic>
      <p:sp>
        <p:nvSpPr>
          <p:cNvPr id="50" name="Text 42"/>
          <p:cNvSpPr txBox="1"/>
          <p:nvPr/>
        </p:nvSpPr>
        <p:spPr>
          <a:xfrm>
            <a:off x="8634618" y="5212080"/>
            <a:ext cx="3008437" cy="438912"/>
          </a:xfrm>
          <a:prstGeom prst="rect">
            <a:avLst/>
          </a:prstGeom>
          <a:noFill/>
          <a:ln/>
        </p:spPr>
        <p:txBody>
          <a:bodyPr wrap="square" lIns="0" tIns="0" rIns="0" bIns="0" rtlCol="0" anchor="t"/>
          <a:lstStyle/>
          <a:p>
            <a:pPr indent="0" marL="0">
              <a:buNone/>
            </a:pPr>
            <a:r>
              <a:rPr lang="fr-FR" altLang="en-US" sz="1250" dirty="0">
                <a:solidFill>
                  <a:schemeClr val="tx1"/>
                </a:solidFill>
              </a:rPr>
              <a:t>Un suivi partagé de chaque créateur et publication</a:t>
            </a:r>
            <a:endParaRPr lang="fr-FR" sz="1250" dirty="0"/>
          </a:p>
        </p:txBody>
      </p:sp>
      <p:pic>
        <p:nvPicPr>
          <p:cNvPr id="51" name="Image 5" descr="preencoded.png">    </p:cNvPr>
          <p:cNvPicPr>
            <a:picLocks noChangeAspect="1"/>
          </p:cNvPicPr>
          <p:nvPr/>
        </p:nvPicPr>
        <p:blipFill>
          <a:blip r:embed="rId6"/>
          <a:stretch>
            <a:fillRect/>
          </a:stretch>
        </p:blipFill>
        <p:spPr>
          <a:xfrm>
            <a:off x="8268858" y="5733288"/>
            <a:ext cx="256032" cy="256032"/>
          </a:xfrm>
          <a:prstGeom prst="rect">
            <a:avLst/>
          </a:prstGeom>
        </p:spPr>
      </p:pic>
      <p:sp>
        <p:nvSpPr>
          <p:cNvPr id="52" name="Text 43"/>
          <p:cNvSpPr txBox="1"/>
          <p:nvPr/>
        </p:nvSpPr>
        <p:spPr>
          <a:xfrm>
            <a:off x="8634618" y="5715000"/>
            <a:ext cx="3008437" cy="438912"/>
          </a:xfrm>
          <a:prstGeom prst="rect">
            <a:avLst/>
          </a:prstGeom>
          <a:noFill/>
          <a:ln/>
        </p:spPr>
        <p:txBody>
          <a:bodyPr wrap="square" lIns="0" tIns="0" rIns="0" bIns="0" rtlCol="0" anchor="t"/>
          <a:lstStyle/>
          <a:p>
            <a:pPr indent="0" marL="0">
              <a:buNone/>
            </a:pPr>
            <a:r>
              <a:rPr lang="fr-FR" altLang="en-US" sz="1250" dirty="0">
                <a:solidFill>
                  <a:schemeClr val="tx1"/>
                </a:solidFill>
              </a:rPr>
              <a:t>Des règles de marque validées avec vous avant publication</a:t>
            </a:r>
            <a:endParaRPr lang="fr-FR"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fr-FR" altLang="en-US" sz="1000" dirty="0">
                <a:solidFill>
                  <a:schemeClr val="accent4"/>
                </a:solidFill>
              </a:rPr>
              <a:t>AToure Management &amp; Consulting</a:t>
            </a:r>
            <a:endParaRPr lang="fr-FR"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VISIBILITÉ</a:t>
            </a:r>
            <a:endParaRPr lang="fr-FR"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bg1"/>
                </a:solidFill>
              </a:rPr>
              <a:t>La visibilité se construit en trois vagues</a:t>
            </a:r>
            <a:endParaRPr lang="fr-FR"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1"/>
                </a:solidFill>
              </a:rPr>
              <a:t>×</a:t>
            </a:r>
            <a:endParaRPr lang="fr-FR"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40280"/>
            <a:ext cx="4218127" cy="3931920"/>
          </a:xfrm>
          <a:prstGeom prst="roundRect">
            <a:avLst>
              <a:gd name="adj" fmla="val 2326"/>
            </a:avLst>
          </a:prstGeom>
          <a:solidFill>
            <a:schemeClr val="accent6"/>
          </a:solidFill>
          <a:ln/>
        </p:spPr>
      </p:sp>
      <p:pic>
        <p:nvPicPr>
          <p:cNvPr id="13" name="Photo ai_grwm" descr="Illustration : une créatrice filme sa préparation avant le festival">    </p:cNvPr>
          <p:cNvPicPr>
            <a:picLocks noChangeAspect="1"/>
          </p:cNvPicPr>
          <p:nvPr/>
        </p:nvPicPr>
        <p:blipFill>
          <a:blip r:embed="rId4"/>
          <a:stretch>
            <a:fillRect/>
          </a:stretch>
        </p:blipFill>
        <p:spPr>
          <a:xfrm>
            <a:off x="822960" y="2487168"/>
            <a:ext cx="1783080" cy="1188720"/>
          </a:xfrm>
          <a:prstGeom prst="rect">
            <a:avLst/>
          </a:prstGeom>
        </p:spPr>
      </p:pic>
      <p:sp>
        <p:nvSpPr>
          <p:cNvPr id="14" name="Text 7"/>
          <p:cNvSpPr txBox="1"/>
          <p:nvPr/>
        </p:nvSpPr>
        <p:spPr>
          <a:xfrm>
            <a:off x="822960" y="3822192"/>
            <a:ext cx="3669487"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DU 23 NOV. AU 26 DÉC.</a:t>
            </a:r>
            <a:endParaRPr lang="fr-FR" sz="1100" dirty="0"/>
          </a:p>
        </p:txBody>
      </p:sp>
      <p:sp>
        <p:nvSpPr>
          <p:cNvPr id="15" name="Text 8"/>
          <p:cNvSpPr txBox="1"/>
          <p:nvPr/>
        </p:nvSpPr>
        <p:spPr>
          <a:xfrm>
            <a:off x="822960" y="4069080"/>
            <a:ext cx="3669487" cy="411480"/>
          </a:xfrm>
          <a:prstGeom prst="rect">
            <a:avLst/>
          </a:prstGeom>
          <a:noFill/>
          <a:ln/>
        </p:spPr>
        <p:txBody>
          <a:bodyPr wrap="square" lIns="0" tIns="0" rIns="0" bIns="0" rtlCol="0" anchor="t"/>
          <a:lstStyle/>
          <a:p>
            <a:pPr indent="0" marL="0">
              <a:buNone/>
            </a:pPr>
            <a:r>
              <a:rPr lang="fr-FR" altLang="en-US" sz="2400" dirty="0">
                <a:solidFill>
                  <a:schemeClr val="bg1"/>
                </a:solidFill>
                <a:latin typeface="+mj-lt" pitchFamily="34" charset="0"/>
                <a:ea typeface="+mj-lt" pitchFamily="34" charset="-122"/>
                <a:cs typeface="+mj-lt" pitchFamily="34" charset="-120"/>
              </a:rPr>
              <a:t>Avant le festival</a:t>
            </a:r>
            <a:endParaRPr lang="fr-FR" sz="2400" dirty="0"/>
          </a:p>
        </p:txBody>
      </p:sp>
      <p:sp>
        <p:nvSpPr>
          <p:cNvPr id="16" name="Text 9"/>
          <p:cNvSpPr txBox="1"/>
          <p:nvPr/>
        </p:nvSpPr>
        <p:spPr>
          <a:xfrm>
            <a:off x="822960" y="4526280"/>
            <a:ext cx="3669487" cy="292608"/>
          </a:xfrm>
          <a:prstGeom prst="rect">
            <a:avLst/>
          </a:prstGeom>
          <a:noFill/>
          <a:ln/>
        </p:spPr>
        <p:txBody>
          <a:bodyPr wrap="square" lIns="0" tIns="0" rIns="0" bIns="0" rtlCol="0" anchor="t"/>
          <a:lstStyle/>
          <a:p>
            <a:pPr indent="0" marL="0">
              <a:buNone/>
            </a:pPr>
            <a:r>
              <a:rPr lang="fr-FR" altLang="en-US" sz="1300" b="1" dirty="0">
                <a:solidFill>
                  <a:schemeClr val="accent4"/>
                </a:solidFill>
              </a:rPr>
              <a:t>Objectif : notoriété et ventes de billets</a:t>
            </a:r>
            <a:endParaRPr lang="fr-FR" sz="1300" dirty="0"/>
          </a:p>
        </p:txBody>
      </p:sp>
      <p:sp>
        <p:nvSpPr>
          <p:cNvPr id="17" name="Text 10"/>
          <p:cNvSpPr txBox="1"/>
          <p:nvPr/>
        </p:nvSpPr>
        <p:spPr>
          <a:xfrm>
            <a:off x="822960" y="4892040"/>
            <a:ext cx="3669487" cy="1188720"/>
          </a:xfrm>
          <a:prstGeom prst="rect">
            <a:avLst/>
          </a:prstGeom>
          <a:noFill/>
          <a:ln/>
        </p:spPr>
        <p:txBody>
          <a:bodyPr wrap="square" lIns="0" tIns="0" rIns="0" bIns="0" rtlCol="0" anchor="t"/>
          <a:lstStyle/>
          <a:p>
            <a:pPr marL="177800" indent="-177800">
              <a:spcAft>
                <a:spcPts val="400"/>
              </a:spcAft>
              <a:buSzPct val="100000"/>
              <a:buChar char="•"/>
            </a:pPr>
            <a:r>
              <a:rPr lang="fr-FR" altLang="en-US" sz="1250" dirty="0">
                <a:solidFill>
                  <a:schemeClr val="accent5"/>
                </a:solidFill>
              </a:rPr>
              <a:t>Annonce des créateurs</a:t>
            </a:r>
            <a:endParaRPr lang="fr-FR" sz="1250" dirty="0"/>
          </a:p>
          <a:p>
            <a:pPr marL="177800" indent="-177800">
              <a:spcAft>
                <a:spcPts val="400"/>
              </a:spcAft>
              <a:buSzPct val="100000"/>
              <a:buChar char="•"/>
            </a:pPr>
            <a:r>
              <a:rPr lang="fr-FR" altLang="en-US" sz="1250" dirty="0">
                <a:solidFill>
                  <a:schemeClr val="accent5"/>
                </a:solidFill>
              </a:rPr>
              <a:t>Compte à rebours Davido</a:t>
            </a:r>
            <a:endParaRPr lang="fr-FR" sz="1250" dirty="0"/>
          </a:p>
          <a:p>
            <a:pPr marL="177800" indent="-177800">
              <a:spcAft>
                <a:spcPts val="400"/>
              </a:spcAft>
              <a:buSzPct val="100000"/>
              <a:buChar char="•"/>
            </a:pPr>
            <a:r>
              <a:rPr lang="fr-FR" altLang="en-US" sz="1250" dirty="0">
                <a:solidFill>
                  <a:schemeClr val="accent5"/>
                </a:solidFill>
              </a:rPr>
              <a:t>Relances billetterie chaque semaine, liens suivis</a:t>
            </a:r>
            <a:endParaRPr lang="fr-FR" sz="1250" dirty="0"/>
          </a:p>
          <a:p>
            <a:pPr marL="177800" indent="-177800">
              <a:spcAft>
                <a:spcPts val="400"/>
              </a:spcAft>
              <a:buSzPct val="100000"/>
              <a:buChar char="•"/>
            </a:pPr>
            <a:r>
              <a:rPr lang="fr-FR" altLang="en-US" sz="1250" dirty="0">
                <a:solidFill>
                  <a:schemeClr val="accent5"/>
                </a:solidFill>
              </a:rPr>
              <a:t>Un dernier appel avant Noël</a:t>
            </a:r>
            <a:endParaRPr lang="fr-FR" sz="1250" dirty="0"/>
          </a:p>
        </p:txBody>
      </p:sp>
      <p:sp>
        <p:nvSpPr>
          <p:cNvPr id="18" name="Shape 11"/>
          <p:cNvSpPr/>
          <p:nvPr/>
        </p:nvSpPr>
        <p:spPr>
          <a:xfrm>
            <a:off x="5269687" y="1828800"/>
            <a:ext cx="274320" cy="274320"/>
          </a:xfrm>
          <a:prstGeom prst="ellipse">
            <a:avLst/>
          </a:prstGeom>
          <a:solidFill>
            <a:schemeClr val="accent2"/>
          </a:solidFill>
          <a:ln/>
        </p:spPr>
      </p:sp>
      <p:sp>
        <p:nvSpPr>
          <p:cNvPr id="19" name="Shape 12"/>
          <p:cNvSpPr/>
          <p:nvPr/>
        </p:nvSpPr>
        <p:spPr>
          <a:xfrm>
            <a:off x="5041087" y="2240280"/>
            <a:ext cx="3163824" cy="3931920"/>
          </a:xfrm>
          <a:prstGeom prst="roundRect">
            <a:avLst>
              <a:gd name="adj" fmla="val 2890"/>
            </a:avLst>
          </a:prstGeom>
          <a:solidFill>
            <a:schemeClr val="accent2"/>
          </a:solidFill>
          <a:ln/>
        </p:spPr>
      </p:sp>
      <p:pic>
        <p:nvPicPr>
          <p:cNvPr id="20" name="Photo ai_floor" descr="Illustration : un créateur se filme avec un stabilisateur au milieu de la foule">    </p:cNvPr>
          <p:cNvPicPr>
            <a:picLocks noChangeAspect="1"/>
          </p:cNvPicPr>
          <p:nvPr/>
        </p:nvPicPr>
        <p:blipFill>
          <a:blip r:embed="rId5"/>
          <a:stretch>
            <a:fillRect/>
          </a:stretch>
        </p:blipFill>
        <p:spPr>
          <a:xfrm>
            <a:off x="5315407" y="2487168"/>
            <a:ext cx="2114404" cy="1188720"/>
          </a:xfrm>
          <a:prstGeom prst="rect">
            <a:avLst/>
          </a:prstGeom>
        </p:spPr>
      </p:pic>
      <p:sp>
        <p:nvSpPr>
          <p:cNvPr id="21" name="Text 13"/>
          <p:cNvSpPr txBox="1"/>
          <p:nvPr/>
        </p:nvSpPr>
        <p:spPr>
          <a:xfrm>
            <a:off x="5315407" y="3822192"/>
            <a:ext cx="2615184" cy="256032"/>
          </a:xfrm>
          <a:prstGeom prst="rect">
            <a:avLst/>
          </a:prstGeom>
          <a:noFill/>
          <a:ln/>
        </p:spPr>
        <p:txBody>
          <a:bodyPr wrap="square" lIns="0" tIns="0" rIns="0" bIns="0" rtlCol="0" anchor="t"/>
          <a:lstStyle/>
          <a:p>
            <a:pPr indent="0" marL="0">
              <a:buNone/>
            </a:pPr>
            <a:r>
              <a:rPr lang="fr-FR" altLang="en-US" sz="1100" b="1" spc="300" kern="0" dirty="0">
                <a:solidFill>
                  <a:schemeClr val="tx1"/>
                </a:solidFill>
              </a:rPr>
              <a:t>27 ET 28 DÉC.</a:t>
            </a:r>
            <a:endParaRPr lang="fr-FR" sz="1100" dirty="0"/>
          </a:p>
        </p:txBody>
      </p:sp>
      <p:sp>
        <p:nvSpPr>
          <p:cNvPr id="22" name="Text 14"/>
          <p:cNvSpPr txBox="1"/>
          <p:nvPr/>
        </p:nvSpPr>
        <p:spPr>
          <a:xfrm>
            <a:off x="5315407" y="4069080"/>
            <a:ext cx="2615184" cy="411480"/>
          </a:xfrm>
          <a:prstGeom prst="rect">
            <a:avLst/>
          </a:prstGeom>
          <a:noFill/>
          <a:ln/>
        </p:spPr>
        <p:txBody>
          <a:bodyPr wrap="square" lIns="0" tIns="0" rIns="0" bIns="0" rtlCol="0" anchor="t"/>
          <a:lstStyle/>
          <a:p>
            <a:pPr indent="0" marL="0">
              <a:buNone/>
            </a:pPr>
            <a:r>
              <a:rPr lang="fr-FR" altLang="en-US" sz="2400" dirty="0">
                <a:solidFill>
                  <a:schemeClr val="tx1"/>
                </a:solidFill>
                <a:latin typeface="+mj-lt" pitchFamily="34" charset="0"/>
                <a:ea typeface="+mj-lt" pitchFamily="34" charset="-122"/>
                <a:cs typeface="+mj-lt" pitchFamily="34" charset="-120"/>
              </a:rPr>
              <a:t>Les deux soirs</a:t>
            </a:r>
            <a:endParaRPr lang="fr-FR" sz="2400" dirty="0"/>
          </a:p>
        </p:txBody>
      </p:sp>
      <p:sp>
        <p:nvSpPr>
          <p:cNvPr id="23" name="Text 15"/>
          <p:cNvSpPr txBox="1"/>
          <p:nvPr/>
        </p:nvSpPr>
        <p:spPr>
          <a:xfrm>
            <a:off x="5315407" y="4526280"/>
            <a:ext cx="2615184" cy="292608"/>
          </a:xfrm>
          <a:prstGeom prst="rect">
            <a:avLst/>
          </a:prstGeom>
          <a:noFill/>
          <a:ln/>
        </p:spPr>
        <p:txBody>
          <a:bodyPr wrap="square" lIns="0" tIns="0" rIns="0" bIns="0" rtlCol="0" anchor="t"/>
          <a:lstStyle/>
          <a:p>
            <a:pPr indent="0" marL="0">
              <a:buNone/>
            </a:pPr>
            <a:r>
              <a:rPr lang="fr-FR" altLang="en-US" sz="1300" b="1" dirty="0">
                <a:solidFill>
                  <a:schemeClr val="tx1"/>
                </a:solidFill>
              </a:rPr>
              <a:t>Objectif : l’attention en direct</a:t>
            </a:r>
            <a:endParaRPr lang="fr-FR" sz="1300" dirty="0"/>
          </a:p>
        </p:txBody>
      </p:sp>
      <p:sp>
        <p:nvSpPr>
          <p:cNvPr id="24" name="Text 16"/>
          <p:cNvSpPr txBox="1"/>
          <p:nvPr/>
        </p:nvSpPr>
        <p:spPr>
          <a:xfrm>
            <a:off x="5315407"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fr-FR" altLang="en-US" sz="1250" dirty="0">
                <a:solidFill>
                  <a:schemeClr val="tx1"/>
                </a:solidFill>
              </a:rPr>
              <a:t>Arrivées et tenues du festival</a:t>
            </a:r>
            <a:endParaRPr lang="fr-FR" sz="1250" dirty="0"/>
          </a:p>
          <a:p>
            <a:pPr marL="177800" indent="-177800">
              <a:spcAft>
                <a:spcPts val="400"/>
              </a:spcAft>
              <a:buSzPct val="100000"/>
              <a:buChar char="•"/>
            </a:pPr>
            <a:r>
              <a:rPr lang="fr-FR" altLang="en-US" sz="1250" dirty="0">
                <a:solidFill>
                  <a:schemeClr val="tx1"/>
                </a:solidFill>
              </a:rPr>
              <a:t>La foule filmée pendant les têtes d’affiche</a:t>
            </a:r>
            <a:endParaRPr lang="fr-FR" sz="1250" dirty="0"/>
          </a:p>
          <a:p>
            <a:pPr marL="177800" indent="-177800">
              <a:spcAft>
                <a:spcPts val="400"/>
              </a:spcAft>
              <a:buSzPct val="100000"/>
              <a:buChar char="•"/>
            </a:pPr>
            <a:r>
              <a:rPr lang="fr-FR" altLang="en-US" sz="1250" dirty="0">
                <a:solidFill>
                  <a:schemeClr val="tx1"/>
                </a:solidFill>
              </a:rPr>
              <a:t>Activations sponsors à l’image</a:t>
            </a:r>
            <a:endParaRPr lang="fr-FR" sz="1250" dirty="0"/>
          </a:p>
          <a:p>
            <a:pPr marL="177800" indent="-177800">
              <a:spcAft>
                <a:spcPts val="400"/>
              </a:spcAft>
              <a:buSzPct val="100000"/>
              <a:buChar char="•"/>
            </a:pPr>
            <a:r>
              <a:rPr lang="fr-FR" altLang="en-US" sz="1250" dirty="0">
                <a:solidFill>
                  <a:schemeClr val="tx1"/>
                </a:solidFill>
              </a:rPr>
              <a:t>Un récap chaque soir</a:t>
            </a:r>
            <a:endParaRPr lang="fr-FR" sz="1250" dirty="0"/>
          </a:p>
        </p:txBody>
      </p:sp>
      <p:sp>
        <p:nvSpPr>
          <p:cNvPr id="25" name="Shape 17"/>
          <p:cNvSpPr/>
          <p:nvPr/>
        </p:nvSpPr>
        <p:spPr>
          <a:xfrm>
            <a:off x="8707831" y="1828800"/>
            <a:ext cx="274320" cy="274320"/>
          </a:xfrm>
          <a:prstGeom prst="ellipse">
            <a:avLst/>
          </a:prstGeom>
          <a:solidFill>
            <a:schemeClr val="accent1"/>
          </a:solidFill>
          <a:ln/>
        </p:spPr>
      </p:sp>
      <p:sp>
        <p:nvSpPr>
          <p:cNvPr id="26" name="Shape 18"/>
          <p:cNvSpPr/>
          <p:nvPr/>
        </p:nvSpPr>
        <p:spPr>
          <a:xfrm>
            <a:off x="8479231" y="2240280"/>
            <a:ext cx="3163824" cy="3931920"/>
          </a:xfrm>
          <a:prstGeom prst="roundRect">
            <a:avLst>
              <a:gd name="adj" fmla="val 2890"/>
            </a:avLst>
          </a:prstGeom>
          <a:solidFill>
            <a:schemeClr val="accent6"/>
          </a:solidFill>
          <a:ln/>
        </p:spPr>
      </p:sp>
      <p:pic>
        <p:nvPicPr>
          <p:cNvPr id="27" name="Photo ai_afterglow" descr="Illustration : une créatrice monte un reel récap sur un balcon, le lendemain matin">    </p:cNvPr>
          <p:cNvPicPr>
            <a:picLocks noChangeAspect="1"/>
          </p:cNvPicPr>
          <p:nvPr/>
        </p:nvPicPr>
        <p:blipFill>
          <a:blip r:embed="rId6"/>
          <a:stretch>
            <a:fillRect/>
          </a:stretch>
        </p:blipFill>
        <p:spPr>
          <a:xfrm>
            <a:off x="8753551" y="2487168"/>
            <a:ext cx="1559321" cy="1188720"/>
          </a:xfrm>
          <a:prstGeom prst="rect">
            <a:avLst/>
          </a:prstGeom>
        </p:spPr>
      </p:pic>
      <p:sp>
        <p:nvSpPr>
          <p:cNvPr id="28" name="Text 19"/>
          <p:cNvSpPr txBox="1"/>
          <p:nvPr/>
        </p:nvSpPr>
        <p:spPr>
          <a:xfrm>
            <a:off x="8753551" y="3822192"/>
            <a:ext cx="2615184"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DU 29 DÉC. AU 10 JANV.</a:t>
            </a:r>
            <a:endParaRPr lang="fr-FR" sz="1100" dirty="0"/>
          </a:p>
        </p:txBody>
      </p:sp>
      <p:sp>
        <p:nvSpPr>
          <p:cNvPr id="29" name="Text 20"/>
          <p:cNvSpPr txBox="1"/>
          <p:nvPr/>
        </p:nvSpPr>
        <p:spPr>
          <a:xfrm>
            <a:off x="8753551" y="4069080"/>
            <a:ext cx="2615184" cy="411480"/>
          </a:xfrm>
          <a:prstGeom prst="rect">
            <a:avLst/>
          </a:prstGeom>
          <a:noFill/>
          <a:ln/>
        </p:spPr>
        <p:txBody>
          <a:bodyPr wrap="square" lIns="0" tIns="0" rIns="0" bIns="0" rtlCol="0" anchor="t"/>
          <a:lstStyle/>
          <a:p>
            <a:pPr indent="0" marL="0">
              <a:buNone/>
            </a:pPr>
            <a:r>
              <a:rPr lang="fr-FR" altLang="en-US" sz="2400" dirty="0">
                <a:solidFill>
                  <a:schemeClr val="bg1"/>
                </a:solidFill>
                <a:latin typeface="+mj-lt" pitchFamily="34" charset="0"/>
                <a:ea typeface="+mj-lt" pitchFamily="34" charset="-122"/>
                <a:cs typeface="+mj-lt" pitchFamily="34" charset="-120"/>
              </a:rPr>
              <a:t>Après le festival</a:t>
            </a:r>
            <a:endParaRPr lang="fr-FR" sz="2400" dirty="0"/>
          </a:p>
        </p:txBody>
      </p:sp>
      <p:sp>
        <p:nvSpPr>
          <p:cNvPr id="30" name="Text 21"/>
          <p:cNvSpPr txBox="1"/>
          <p:nvPr/>
        </p:nvSpPr>
        <p:spPr>
          <a:xfrm>
            <a:off x="8753551" y="4526280"/>
            <a:ext cx="2615184" cy="292608"/>
          </a:xfrm>
          <a:prstGeom prst="rect">
            <a:avLst/>
          </a:prstGeom>
          <a:noFill/>
          <a:ln/>
        </p:spPr>
        <p:txBody>
          <a:bodyPr wrap="square" lIns="0" tIns="0" rIns="0" bIns="0" rtlCol="0" anchor="t"/>
          <a:lstStyle/>
          <a:p>
            <a:pPr indent="0" marL="0">
              <a:buNone/>
            </a:pPr>
            <a:r>
              <a:rPr lang="fr-FR" altLang="en-US" sz="1300" b="1" dirty="0">
                <a:solidFill>
                  <a:schemeClr val="accent4"/>
                </a:solidFill>
              </a:rPr>
              <a:t>Objectif : faire durer l’histoire</a:t>
            </a:r>
            <a:endParaRPr lang="fr-FR" sz="1300" dirty="0"/>
          </a:p>
        </p:txBody>
      </p:sp>
      <p:sp>
        <p:nvSpPr>
          <p:cNvPr id="31" name="Text 22"/>
          <p:cNvSpPr txBox="1"/>
          <p:nvPr/>
        </p:nvSpPr>
        <p:spPr>
          <a:xfrm>
            <a:off x="8753551"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fr-FR" altLang="en-US" sz="1250" dirty="0">
                <a:solidFill>
                  <a:schemeClr val="accent5"/>
                </a:solidFill>
              </a:rPr>
              <a:t>Reels récap et meilleurs moments</a:t>
            </a:r>
            <a:endParaRPr lang="fr-FR" sz="1250" dirty="0"/>
          </a:p>
          <a:p>
            <a:pPr marL="177800" indent="-177800">
              <a:spcAft>
                <a:spcPts val="400"/>
              </a:spcAft>
              <a:buSzPct val="100000"/>
              <a:buChar char="•"/>
            </a:pPr>
            <a:r>
              <a:rPr lang="fr-FR" altLang="en-US" sz="1250" dirty="0">
                <a:solidFill>
                  <a:schemeClr val="accent5"/>
                </a:solidFill>
              </a:rPr>
              <a:t>Remerciements des créateurs</a:t>
            </a:r>
            <a:endParaRPr lang="fr-FR" sz="1250" dirty="0"/>
          </a:p>
          <a:p>
            <a:pPr marL="177800" indent="-177800">
              <a:spcAft>
                <a:spcPts val="400"/>
              </a:spcAft>
              <a:buSzPct val="100000"/>
              <a:buChar char="•"/>
            </a:pPr>
            <a:r>
              <a:rPr lang="fr-FR" altLang="en-US" sz="1250" dirty="0">
                <a:solidFill>
                  <a:schemeClr val="accent5"/>
                </a:solidFill>
              </a:rPr>
              <a:t>Résultats aux partenaires</a:t>
            </a:r>
            <a:endParaRPr lang="fr-FR" sz="1250" dirty="0"/>
          </a:p>
          <a:p>
            <a:pPr marL="177800" indent="-177800">
              <a:spcAft>
                <a:spcPts val="400"/>
              </a:spcAft>
              <a:buSzPct val="100000"/>
              <a:buChar char="•"/>
            </a:pPr>
            <a:r>
              <a:rPr lang="fr-FR" altLang="en-US" sz="1250" dirty="0">
                <a:solidFill>
                  <a:schemeClr val="accent5"/>
                </a:solidFill>
              </a:rPr>
              <a:t>Une date 2027 à retenir</a:t>
            </a:r>
            <a:endParaRPr lang="fr-FR"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VISIBILITÉ</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Chaque sponsor obtient une visibilité prouvée</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L’équipe de Mother Africa Festival lors d’un événement presse, devant le décor du festival">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3132734" cy="292608"/>
          </a:xfrm>
          <a:prstGeom prst="roundRect">
            <a:avLst>
              <a:gd name="adj" fmla="val 18750"/>
            </a:avLst>
          </a:prstGeom>
          <a:solidFill>
            <a:schemeClr val="tx1">
              <a:alpha val="70000"/>
            </a:schemeClr>
          </a:solidFill>
          <a:ln/>
        </p:spPr>
      </p:sp>
      <p:sp>
        <p:nvSpPr>
          <p:cNvPr id="10" name="Text 4"/>
          <p:cNvSpPr txBox="1"/>
          <p:nvPr/>
        </p:nvSpPr>
        <p:spPr>
          <a:xfrm>
            <a:off x="658368" y="3676472"/>
            <a:ext cx="3132734" cy="292608"/>
          </a:xfrm>
          <a:prstGeom prst="rect">
            <a:avLst/>
          </a:prstGeom>
          <a:noFill/>
          <a:ln/>
        </p:spPr>
        <p:txBody>
          <a:bodyPr wrap="square" lIns="0" tIns="0" rIns="0" bIns="0" rtlCol="0" anchor="ctr"/>
          <a:lstStyle/>
          <a:p>
            <a:pPr algn="ctr" indent="0" marL="0">
              <a:buNone/>
            </a:pPr>
            <a:r>
              <a:rPr lang="fr-FR" altLang="en-US" sz="1000" dirty="0">
                <a:solidFill>
                  <a:schemeClr val="bg1"/>
                </a:solidFill>
              </a:rPr>
              <a:t>Événement presse de Mother Africa Festival</a:t>
            </a:r>
            <a:endParaRPr lang="fr-FR"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Inscrit dans chaque brief</a:t>
            </a:r>
            <a:endParaRPr lang="fr-FR"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Mentions sponsors validées à l’avance, pour une présence naturelle.</a:t>
            </a:r>
            <a:endParaRPr lang="fr-FR"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Les marques à l’image</a:t>
            </a:r>
            <a:endParaRPr lang="fr-FR"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Créateurs guidés vers chaque activation et bannière de scène, les deux soirs.</a:t>
            </a:r>
            <a:endParaRPr lang="fr-FR"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Une page par sponsor</a:t>
            </a:r>
            <a:endParaRPr lang="fr-FR"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Publications, vues, temps à l’écran et valeur média, clairement indiquée comme estimée.</a:t>
            </a:r>
            <a:endParaRPr lang="fr-FR"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Contenus réutilisables</a:t>
            </a:r>
            <a:endParaRPr lang="fr-FR"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fr-FR" altLang="en-US" sz="1250" dirty="0">
                <a:solidFill>
                  <a:schemeClr val="tx2"/>
                </a:solidFill>
              </a:rPr>
              <a:t>Le festival et ses sponsors peuvent repartager les meilleurs contenus.</a:t>
            </a:r>
            <a:endParaRPr lang="fr-FR"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fr-FR" altLang="en-US" sz="1700" b="1" spc="100" kern="0" dirty="0">
                <a:solidFill>
                  <a:schemeClr val="accent1"/>
                </a:solidFill>
              </a:rPr>
              <a:t>LE MODÈLE DE REVENUS</a:t>
            </a:r>
            <a:endParaRPr lang="fr-FR"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fr-FR" altLang="en-US" sz="950" b="1" spc="200" kern="0" dirty="0">
                <a:solidFill>
                  <a:schemeClr val="bg1"/>
                </a:solidFill>
              </a:rPr>
              <a:t>D’OÙ VIENT L’ARGENT</a:t>
            </a:r>
            <a:endParaRPr lang="fr-FR"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CRÉATEURS</a:t>
            </a:r>
            <a:endParaRPr lang="fr-FR"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PLUS DE VISIBILITÉ</a:t>
            </a:r>
            <a:endParaRPr lang="fr-FR"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fr-FR" altLang="en-US" sz="1150" b="1" dirty="0">
                <a:solidFill>
                  <a:schemeClr val="bg1"/>
                </a:solidFill>
              </a:rPr>
              <a:t>OBJECTIFS DES MARQUES ATTEINTS</a:t>
            </a:r>
            <a:endParaRPr lang="fr-FR"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fr-FR" altLang="en-US" sz="1800" dirty="0">
                <a:solidFill>
                  <a:schemeClr val="accent1"/>
                </a:solidFill>
              </a:rPr>
              <a:t>→</a:t>
            </a:r>
            <a:endParaRPr lang="fr-FR"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fr-FR" altLang="en-US" sz="1150" b="1" dirty="0">
                <a:solidFill>
                  <a:schemeClr val="tx1"/>
                </a:solidFill>
              </a:rPr>
              <a:t>ARGENT DES SPONSORS ET INVESTISSEURS</a:t>
            </a:r>
            <a:endParaRPr lang="fr-FR"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LE RAPPORT DE VISIBILITÉ</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Mother Africa reçoit ses chiffres à dates fixes</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fr-FR" altLang="en-US" sz="2200" dirty="0">
                <a:solidFill>
                  <a:schemeClr val="tx1"/>
                </a:solidFill>
                <a:latin typeface="+mj-lt" pitchFamily="34" charset="0"/>
                <a:ea typeface="+mj-lt" pitchFamily="34" charset="-122"/>
                <a:cs typeface="+mj-lt" pitchFamily="34" charset="-120"/>
              </a:rPr>
              <a:t>Suivi dès la première publication</a:t>
            </a:r>
            <a:endParaRPr lang="fr-FR"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AVANT LE FESTIVAL</a:t>
            </a:r>
            <a:endParaRPr lang="fr-FR"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fr-FR" altLang="en-US" sz="1400" dirty="0">
                <a:solidFill>
                  <a:schemeClr val="tx2"/>
                </a:solidFill>
              </a:rPr>
              <a:t>Chaque publication avant le festival est suivie : le rapport couvre aussi les semaines d’avant.</a:t>
            </a:r>
            <a:endParaRPr lang="fr-FR" sz="1400" dirty="0"/>
          </a:p>
        </p:txBody>
      </p:sp>
      <p:sp>
        <p:nvSpPr>
          <p:cNvPr id="13" name="Shape 7"/>
          <p:cNvSpPr/>
          <p:nvPr/>
        </p:nvSpPr>
        <p:spPr>
          <a:xfrm>
            <a:off x="548640" y="306324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05886"/>
            <a:ext cx="309067" cy="309067"/>
          </a:xfrm>
          <a:prstGeom prst="rect">
            <a:avLst/>
          </a:prstGeom>
        </p:spPr>
      </p:pic>
      <p:sp>
        <p:nvSpPr>
          <p:cNvPr id="15" name="Text 8"/>
          <p:cNvSpPr txBox="1"/>
          <p:nvPr/>
        </p:nvSpPr>
        <p:spPr>
          <a:xfrm>
            <a:off x="1371600" y="3026664"/>
            <a:ext cx="5029200" cy="384048"/>
          </a:xfrm>
          <a:prstGeom prst="rect">
            <a:avLst/>
          </a:prstGeom>
          <a:noFill/>
          <a:ln/>
        </p:spPr>
        <p:txBody>
          <a:bodyPr wrap="square" lIns="0" tIns="0" rIns="0" bIns="0" rtlCol="0" anchor="t"/>
          <a:lstStyle/>
          <a:p>
            <a:pPr indent="0" marL="0">
              <a:buNone/>
            </a:pPr>
            <a:r>
              <a:rPr lang="fr-FR" altLang="en-US" sz="2200" dirty="0">
                <a:solidFill>
                  <a:schemeClr val="tx1"/>
                </a:solidFill>
                <a:latin typeface="+mj-lt" pitchFamily="34" charset="0"/>
                <a:ea typeface="+mj-lt" pitchFamily="34" charset="-122"/>
                <a:cs typeface="+mj-lt" pitchFamily="34" charset="-120"/>
              </a:rPr>
              <a:t>Point à 48 heures</a:t>
            </a:r>
            <a:endParaRPr lang="fr-FR" sz="2200" dirty="0"/>
          </a:p>
        </p:txBody>
      </p:sp>
      <p:sp>
        <p:nvSpPr>
          <p:cNvPr id="16" name="Text 9"/>
          <p:cNvSpPr txBox="1"/>
          <p:nvPr/>
        </p:nvSpPr>
        <p:spPr>
          <a:xfrm>
            <a:off x="1371600" y="3447288"/>
            <a:ext cx="5029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AU PLUS TARD LE 30 DÉCEMBRE 2026</a:t>
            </a:r>
            <a:endParaRPr lang="fr-FR" sz="1100" dirty="0"/>
          </a:p>
        </p:txBody>
      </p:sp>
      <p:sp>
        <p:nvSpPr>
          <p:cNvPr id="17" name="Text 10"/>
          <p:cNvSpPr txBox="1"/>
          <p:nvPr/>
        </p:nvSpPr>
        <p:spPr>
          <a:xfrm>
            <a:off x="1371600" y="3749040"/>
            <a:ext cx="5120640" cy="548640"/>
          </a:xfrm>
          <a:prstGeom prst="rect">
            <a:avLst/>
          </a:prstGeom>
          <a:noFill/>
          <a:ln/>
        </p:spPr>
        <p:txBody>
          <a:bodyPr wrap="square" lIns="0" tIns="0" rIns="0" bIns="0" rtlCol="0" anchor="t"/>
          <a:lstStyle/>
          <a:p>
            <a:pPr indent="0" marL="0">
              <a:buNone/>
            </a:pPr>
            <a:r>
              <a:rPr lang="fr-FR" altLang="en-US" sz="1400" dirty="0">
                <a:solidFill>
                  <a:schemeClr val="tx2"/>
                </a:solidFill>
              </a:rPr>
              <a:t>Qui a publié, où, et selon quel brief. Tout manque est relancé.</a:t>
            </a:r>
            <a:endParaRPr lang="fr-FR" sz="1400" dirty="0"/>
          </a:p>
        </p:txBody>
      </p:sp>
      <p:sp>
        <p:nvSpPr>
          <p:cNvPr id="18" name="Shape 11"/>
          <p:cNvSpPr/>
          <p:nvPr/>
        </p:nvSpPr>
        <p:spPr>
          <a:xfrm>
            <a:off x="548640" y="429768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440326"/>
            <a:ext cx="309067" cy="309067"/>
          </a:xfrm>
          <a:prstGeom prst="rect">
            <a:avLst/>
          </a:prstGeom>
        </p:spPr>
      </p:pic>
      <p:sp>
        <p:nvSpPr>
          <p:cNvPr id="20" name="Text 12"/>
          <p:cNvSpPr txBox="1"/>
          <p:nvPr/>
        </p:nvSpPr>
        <p:spPr>
          <a:xfrm>
            <a:off x="1371600" y="4261104"/>
            <a:ext cx="5029200" cy="384048"/>
          </a:xfrm>
          <a:prstGeom prst="rect">
            <a:avLst/>
          </a:prstGeom>
          <a:noFill/>
          <a:ln/>
        </p:spPr>
        <p:txBody>
          <a:bodyPr wrap="square" lIns="0" tIns="0" rIns="0" bIns="0" rtlCol="0" anchor="t"/>
          <a:lstStyle/>
          <a:p>
            <a:pPr indent="0" marL="0">
              <a:buNone/>
            </a:pPr>
            <a:r>
              <a:rPr lang="fr-FR" altLang="en-US" sz="2200" dirty="0">
                <a:solidFill>
                  <a:schemeClr val="tx1"/>
                </a:solidFill>
                <a:latin typeface="+mj-lt" pitchFamily="34" charset="0"/>
                <a:ea typeface="+mj-lt" pitchFamily="34" charset="-122"/>
                <a:cs typeface="+mj-lt" pitchFamily="34" charset="-120"/>
              </a:rPr>
              <a:t>Rapport complet</a:t>
            </a:r>
            <a:endParaRPr lang="fr-FR" sz="2200" dirty="0"/>
          </a:p>
        </p:txBody>
      </p:sp>
      <p:sp>
        <p:nvSpPr>
          <p:cNvPr id="21" name="Text 13"/>
          <p:cNvSpPr txBox="1"/>
          <p:nvPr/>
        </p:nvSpPr>
        <p:spPr>
          <a:xfrm>
            <a:off x="1371600" y="4681728"/>
            <a:ext cx="5029200" cy="256032"/>
          </a:xfrm>
          <a:prstGeom prst="rect">
            <a:avLst/>
          </a:prstGeom>
          <a:noFill/>
          <a:ln/>
        </p:spPr>
        <p:txBody>
          <a:bodyPr wrap="square" lIns="0" tIns="0" rIns="0" bIns="0" rtlCol="0" anchor="t"/>
          <a:lstStyle/>
          <a:p>
            <a:pPr indent="0" marL="0">
              <a:buNone/>
            </a:pPr>
            <a:r>
              <a:rPr lang="fr-FR" altLang="en-US" sz="1100" b="1" spc="300" kern="0" dirty="0">
                <a:solidFill>
                  <a:schemeClr val="accent3"/>
                </a:solidFill>
              </a:rPr>
              <a:t>14E JOUR, LE 11 JANVIER 2027</a:t>
            </a:r>
            <a:endParaRPr lang="fr-FR" sz="1100" dirty="0"/>
          </a:p>
        </p:txBody>
      </p:sp>
      <p:sp>
        <p:nvSpPr>
          <p:cNvPr id="22" name="Text 14"/>
          <p:cNvSpPr txBox="1"/>
          <p:nvPr/>
        </p:nvSpPr>
        <p:spPr>
          <a:xfrm>
            <a:off x="1371600" y="4983480"/>
            <a:ext cx="5120640" cy="548640"/>
          </a:xfrm>
          <a:prstGeom prst="rect">
            <a:avLst/>
          </a:prstGeom>
          <a:noFill/>
          <a:ln/>
        </p:spPr>
        <p:txBody>
          <a:bodyPr wrap="square" lIns="0" tIns="0" rIns="0" bIns="0" rtlCol="0" anchor="t"/>
          <a:lstStyle/>
          <a:p>
            <a:pPr indent="0" marL="0">
              <a:buNone/>
            </a:pPr>
            <a:r>
              <a:rPr lang="fr-FR" altLang="en-US" sz="1400" dirty="0">
                <a:solidFill>
                  <a:schemeClr val="tx2"/>
                </a:solidFill>
              </a:rPr>
              <a:t>Chaque publication, publics, billets et pages sponsors, en PDF et en version web.</a:t>
            </a:r>
            <a:endParaRPr lang="fr-FR" sz="1400" dirty="0"/>
          </a:p>
        </p:txBody>
      </p:sp>
      <p:sp>
        <p:nvSpPr>
          <p:cNvPr id="23" name="Text 15"/>
          <p:cNvSpPr txBox="1"/>
          <p:nvPr/>
        </p:nvSpPr>
        <p:spPr>
          <a:xfrm>
            <a:off x="1371600" y="5596128"/>
            <a:ext cx="5120640" cy="457200"/>
          </a:xfrm>
          <a:prstGeom prst="rect">
            <a:avLst/>
          </a:prstGeom>
          <a:noFill/>
          <a:ln/>
        </p:spPr>
        <p:txBody>
          <a:bodyPr wrap="square" lIns="0" tIns="0" rIns="0" bIns="0" rtlCol="0" anchor="t"/>
          <a:lstStyle/>
          <a:p>
            <a:pPr indent="0" marL="0">
              <a:buNone/>
            </a:pPr>
            <a:r>
              <a:rPr lang="fr-FR" altLang="en-US" sz="1200" b="1" dirty="0">
                <a:solidFill>
                  <a:schemeClr val="accent3"/>
                </a:solidFill>
              </a:rPr>
              <a:t>Le rapport complet compte plusieurs pages : chaque créateur, chaque publication, les publics et une page par sponsor.</a:t>
            </a:r>
            <a:endParaRPr lang="fr-FR" sz="1200" dirty="0"/>
          </a:p>
        </p:txBody>
      </p:sp>
      <p:sp>
        <p:nvSpPr>
          <p:cNvPr id="24" name="Shape 16"/>
          <p:cNvSpPr/>
          <p:nvPr/>
        </p:nvSpPr>
        <p:spPr>
          <a:xfrm>
            <a:off x="6812280" y="1737360"/>
            <a:ext cx="4690872" cy="365760"/>
          </a:xfrm>
          <a:prstGeom prst="roundRect">
            <a:avLst>
              <a:gd name="adj" fmla="val 15000"/>
            </a:avLst>
          </a:prstGeom>
          <a:solidFill>
            <a:schemeClr val="accent2"/>
          </a:solidFill>
          <a:ln/>
        </p:spPr>
      </p:sp>
      <p:sp>
        <p:nvSpPr>
          <p:cNvPr id="25" name="Text 17"/>
          <p:cNvSpPr txBox="1"/>
          <p:nvPr/>
        </p:nvSpPr>
        <p:spPr>
          <a:xfrm>
            <a:off x="6812280" y="1737360"/>
            <a:ext cx="4690872" cy="365760"/>
          </a:xfrm>
          <a:prstGeom prst="rect">
            <a:avLst/>
          </a:prstGeom>
          <a:noFill/>
          <a:ln/>
        </p:spPr>
        <p:txBody>
          <a:bodyPr wrap="square" lIns="0" tIns="0" rIns="0" bIns="0" rtlCol="0" anchor="ctr"/>
          <a:lstStyle/>
          <a:p>
            <a:pPr algn="ctr" indent="0" marL="0">
              <a:buNone/>
            </a:pPr>
            <a:r>
              <a:rPr lang="fr-FR" altLang="en-US" sz="1000" b="1" spc="100" kern="0" dirty="0">
                <a:solidFill>
                  <a:schemeClr val="tx1"/>
                </a:solidFill>
              </a:rPr>
              <a:t>EXEMPLE DE MISE EN PAGE  ·  CHIFFRES FICTIFS</a:t>
            </a:r>
            <a:endParaRPr lang="fr-FR" sz="1000" dirty="0"/>
          </a:p>
        </p:txBody>
      </p:sp>
      <p:sp>
        <p:nvSpPr>
          <p:cNvPr id="26" name="Sample report page 2"/>
          <p:cNvSpPr/>
          <p:nvPr/>
        </p:nvSpPr>
        <p:spPr>
          <a:xfrm>
            <a:off x="6922008" y="2322576"/>
            <a:ext cx="4690872" cy="3931920"/>
          </a:xfrm>
          <a:prstGeom prst="roundRect">
            <a:avLst>
              <a:gd name="adj" fmla="val 1860"/>
            </a:avLst>
          </a:prstGeom>
          <a:solidFill>
            <a:schemeClr val="bg1"/>
          </a:solidFill>
          <a:ln w="9525">
            <a:solidFill>
              <a:schemeClr val="tx2">
                <a:alpha val="40000"/>
              </a:schemeClr>
            </a:solidFill>
            <a:prstDash val="solid"/>
          </a:ln>
        </p:spPr>
      </p:sp>
      <p:sp>
        <p:nvSpPr>
          <p:cNvPr id="27" name="Shape 19"/>
          <p:cNvSpPr/>
          <p:nvPr/>
        </p:nvSpPr>
        <p:spPr>
          <a:xfrm>
            <a:off x="6812280" y="2212848"/>
            <a:ext cx="4690872" cy="3931920"/>
          </a:xfrm>
          <a:prstGeom prst="roundRect">
            <a:avLst>
              <a:gd name="adj" fmla="val 1860"/>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8" name="Text 20"/>
          <p:cNvSpPr txBox="1"/>
          <p:nvPr/>
        </p:nvSpPr>
        <p:spPr>
          <a:xfrm>
            <a:off x="7086600" y="2414016"/>
            <a:ext cx="3291840" cy="201168"/>
          </a:xfrm>
          <a:prstGeom prst="rect">
            <a:avLst/>
          </a:prstGeom>
          <a:noFill/>
          <a:ln/>
        </p:spPr>
        <p:txBody>
          <a:bodyPr wrap="square" lIns="0" tIns="0" rIns="0" bIns="0" rtlCol="0" anchor="t"/>
          <a:lstStyle/>
          <a:p>
            <a:pPr indent="0" marL="0">
              <a:buNone/>
            </a:pPr>
            <a:r>
              <a:rPr lang="fr-FR" altLang="en-US" sz="900" b="1" spc="300" kern="0" dirty="0">
                <a:solidFill>
                  <a:schemeClr val="accent3"/>
                </a:solidFill>
              </a:rPr>
              <a:t>RAPPORT DE VISIBILITÉ  ·  PAGE 1</a:t>
            </a:r>
            <a:endParaRPr lang="fr-FR" sz="900" dirty="0"/>
          </a:p>
        </p:txBody>
      </p:sp>
      <p:sp>
        <p:nvSpPr>
          <p:cNvPr id="29" name="Text 21"/>
          <p:cNvSpPr txBox="1"/>
          <p:nvPr/>
        </p:nvSpPr>
        <p:spPr>
          <a:xfrm>
            <a:off x="7086600" y="2596896"/>
            <a:ext cx="3657600" cy="365760"/>
          </a:xfrm>
          <a:prstGeom prst="rect">
            <a:avLst/>
          </a:prstGeom>
          <a:noFill/>
          <a:ln/>
        </p:spPr>
        <p:txBody>
          <a:bodyPr wrap="square" lIns="0" tIns="0" rIns="0" bIns="0" rtlCol="0" anchor="t"/>
          <a:lstStyle/>
          <a:p>
            <a:pPr indent="0" marL="0">
              <a:buNone/>
            </a:pPr>
            <a:r>
              <a:rPr lang="fr-FR" altLang="en-US" sz="1800" dirty="0">
                <a:solidFill>
                  <a:schemeClr val="tx1"/>
                </a:solidFill>
                <a:latin typeface="+mj-lt" pitchFamily="34" charset="0"/>
                <a:ea typeface="+mj-lt" pitchFamily="34" charset="-122"/>
                <a:cs typeface="+mj-lt" pitchFamily="34" charset="-120"/>
              </a:rPr>
              <a:t>Mother Africa Festival 2026</a:t>
            </a:r>
            <a:endParaRPr lang="fr-FR" sz="1800" dirty="0"/>
          </a:p>
        </p:txBody>
      </p:sp>
      <p:pic>
        <p:nvPicPr>
          <p:cNvPr id="30" name="Image 5" descr="Mother Africa Festival">    </p:cNvPr>
          <p:cNvPicPr>
            <a:picLocks noChangeAspect="1"/>
          </p:cNvPicPr>
          <p:nvPr/>
        </p:nvPicPr>
        <p:blipFill>
          <a:blip r:embed="rId6"/>
          <a:stretch>
            <a:fillRect/>
          </a:stretch>
        </p:blipFill>
        <p:spPr>
          <a:xfrm>
            <a:off x="10725912" y="2395728"/>
            <a:ext cx="541249" cy="384048"/>
          </a:xfrm>
          <a:prstGeom prst="rect">
            <a:avLst/>
          </a:prstGeom>
        </p:spPr>
      </p:pic>
      <p:sp>
        <p:nvSpPr>
          <p:cNvPr id="31" name="Shape 22"/>
          <p:cNvSpPr/>
          <p:nvPr/>
        </p:nvSpPr>
        <p:spPr>
          <a:xfrm>
            <a:off x="7086600" y="3017520"/>
            <a:ext cx="4142232" cy="0"/>
          </a:xfrm>
          <a:prstGeom prst="line">
            <a:avLst/>
          </a:prstGeom>
          <a:noFill/>
          <a:ln w="12700">
            <a:solidFill>
              <a:schemeClr val="accent1"/>
            </a:solidFill>
            <a:prstDash val="solid"/>
          </a:ln>
        </p:spPr>
      </p:sp>
      <p:sp>
        <p:nvSpPr>
          <p:cNvPr id="32" name="Shape 23"/>
          <p:cNvSpPr/>
          <p:nvPr/>
        </p:nvSpPr>
        <p:spPr>
          <a:xfrm>
            <a:off x="7086600" y="3145536"/>
            <a:ext cx="2011680" cy="713232"/>
          </a:xfrm>
          <a:prstGeom prst="roundRect">
            <a:avLst>
              <a:gd name="adj" fmla="val 7692"/>
            </a:avLst>
          </a:prstGeom>
          <a:solidFill>
            <a:schemeClr val="bg2"/>
          </a:solidFill>
          <a:ln/>
        </p:spPr>
      </p:sp>
      <p:sp>
        <p:nvSpPr>
          <p:cNvPr id="33" name="Text 24"/>
          <p:cNvSpPr txBox="1"/>
          <p:nvPr/>
        </p:nvSpPr>
        <p:spPr>
          <a:xfrm>
            <a:off x="7251192" y="3209544"/>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3 200 000</a:t>
            </a:r>
            <a:endParaRPr lang="fr-FR" sz="1800" dirty="0"/>
          </a:p>
        </p:txBody>
      </p:sp>
      <p:sp>
        <p:nvSpPr>
          <p:cNvPr id="34" name="Text 25"/>
          <p:cNvSpPr txBox="1"/>
          <p:nvPr/>
        </p:nvSpPr>
        <p:spPr>
          <a:xfrm>
            <a:off x="7251192" y="3566160"/>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Vues totales</a:t>
            </a:r>
            <a:endParaRPr lang="fr-FR" sz="1000" dirty="0"/>
          </a:p>
        </p:txBody>
      </p:sp>
      <p:sp>
        <p:nvSpPr>
          <p:cNvPr id="35" name="Shape 26"/>
          <p:cNvSpPr/>
          <p:nvPr/>
        </p:nvSpPr>
        <p:spPr>
          <a:xfrm>
            <a:off x="9208008" y="3145536"/>
            <a:ext cx="2011680" cy="713232"/>
          </a:xfrm>
          <a:prstGeom prst="roundRect">
            <a:avLst>
              <a:gd name="adj" fmla="val 7692"/>
            </a:avLst>
          </a:prstGeom>
          <a:solidFill>
            <a:schemeClr val="bg2"/>
          </a:solidFill>
          <a:ln/>
        </p:spPr>
      </p:sp>
      <p:sp>
        <p:nvSpPr>
          <p:cNvPr id="36" name="Text 27"/>
          <p:cNvSpPr txBox="1"/>
          <p:nvPr/>
        </p:nvSpPr>
        <p:spPr>
          <a:xfrm>
            <a:off x="9372600" y="3209544"/>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1 450 000</a:t>
            </a:r>
            <a:endParaRPr lang="fr-FR" sz="1800" dirty="0"/>
          </a:p>
        </p:txBody>
      </p:sp>
      <p:sp>
        <p:nvSpPr>
          <p:cNvPr id="37" name="Text 28"/>
          <p:cNvSpPr txBox="1"/>
          <p:nvPr/>
        </p:nvSpPr>
        <p:spPr>
          <a:xfrm>
            <a:off x="9372600" y="3566160"/>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Comptes atteints</a:t>
            </a:r>
            <a:endParaRPr lang="fr-FR" sz="1000" dirty="0"/>
          </a:p>
        </p:txBody>
      </p:sp>
      <p:sp>
        <p:nvSpPr>
          <p:cNvPr id="38" name="Shape 29"/>
          <p:cNvSpPr/>
          <p:nvPr/>
        </p:nvSpPr>
        <p:spPr>
          <a:xfrm>
            <a:off x="7086600" y="3950208"/>
            <a:ext cx="2011680" cy="713232"/>
          </a:xfrm>
          <a:prstGeom prst="roundRect">
            <a:avLst>
              <a:gd name="adj" fmla="val 7692"/>
            </a:avLst>
          </a:prstGeom>
          <a:solidFill>
            <a:schemeClr val="bg2"/>
          </a:solidFill>
          <a:ln/>
        </p:spPr>
      </p:sp>
      <p:sp>
        <p:nvSpPr>
          <p:cNvPr id="39" name="Text 30"/>
          <p:cNvSpPr txBox="1"/>
          <p:nvPr/>
        </p:nvSpPr>
        <p:spPr>
          <a:xfrm>
            <a:off x="7251192" y="4014216"/>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64</a:t>
            </a:r>
            <a:endParaRPr lang="fr-FR" sz="1800" dirty="0"/>
          </a:p>
        </p:txBody>
      </p:sp>
      <p:sp>
        <p:nvSpPr>
          <p:cNvPr id="40" name="Text 31"/>
          <p:cNvSpPr txBox="1"/>
          <p:nvPr/>
        </p:nvSpPr>
        <p:spPr>
          <a:xfrm>
            <a:off x="7251192" y="4370832"/>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Publications vérifiées</a:t>
            </a:r>
            <a:endParaRPr lang="fr-FR" sz="1000" dirty="0"/>
          </a:p>
        </p:txBody>
      </p:sp>
      <p:sp>
        <p:nvSpPr>
          <p:cNvPr id="41" name="Shape 32"/>
          <p:cNvSpPr/>
          <p:nvPr/>
        </p:nvSpPr>
        <p:spPr>
          <a:xfrm>
            <a:off x="9208008" y="3950208"/>
            <a:ext cx="2011680" cy="713232"/>
          </a:xfrm>
          <a:prstGeom prst="roundRect">
            <a:avLst>
              <a:gd name="adj" fmla="val 7692"/>
            </a:avLst>
          </a:prstGeom>
          <a:solidFill>
            <a:schemeClr val="bg2"/>
          </a:solidFill>
          <a:ln/>
        </p:spPr>
      </p:sp>
      <p:sp>
        <p:nvSpPr>
          <p:cNvPr id="42" name="Text 33"/>
          <p:cNvSpPr txBox="1"/>
          <p:nvPr/>
        </p:nvSpPr>
        <p:spPr>
          <a:xfrm>
            <a:off x="9372600" y="4014216"/>
            <a:ext cx="1737360" cy="347472"/>
          </a:xfrm>
          <a:prstGeom prst="rect">
            <a:avLst/>
          </a:prstGeom>
          <a:noFill/>
          <a:ln/>
        </p:spPr>
        <p:txBody>
          <a:bodyPr wrap="square" lIns="0" tIns="0" rIns="0" bIns="0" rtlCol="0" anchor="t"/>
          <a:lstStyle/>
          <a:p>
            <a:pPr indent="0" marL="0">
              <a:buNone/>
            </a:pPr>
            <a:r>
              <a:rPr lang="fr-FR" altLang="en-US" sz="1800" b="1" dirty="0">
                <a:solidFill>
                  <a:schemeClr val="tx1"/>
                </a:solidFill>
              </a:rPr>
              <a:t>18</a:t>
            </a:r>
            <a:endParaRPr lang="fr-FR" sz="1800" dirty="0"/>
          </a:p>
        </p:txBody>
      </p:sp>
      <p:sp>
        <p:nvSpPr>
          <p:cNvPr id="43" name="Text 34"/>
          <p:cNvSpPr txBox="1"/>
          <p:nvPr/>
        </p:nvSpPr>
        <p:spPr>
          <a:xfrm>
            <a:off x="9372600" y="4370832"/>
            <a:ext cx="1783080" cy="201168"/>
          </a:xfrm>
          <a:prstGeom prst="rect">
            <a:avLst/>
          </a:prstGeom>
          <a:noFill/>
          <a:ln/>
        </p:spPr>
        <p:txBody>
          <a:bodyPr wrap="square" lIns="0" tIns="0" rIns="0" bIns="0" rtlCol="0" anchor="t"/>
          <a:lstStyle/>
          <a:p>
            <a:pPr indent="0" marL="0">
              <a:buNone/>
            </a:pPr>
            <a:r>
              <a:rPr lang="fr-FR" altLang="en-US" sz="1000" dirty="0">
                <a:solidFill>
                  <a:schemeClr val="tx2"/>
                </a:solidFill>
              </a:rPr>
              <a:t>Créateurs</a:t>
            </a:r>
            <a:endParaRPr lang="fr-FR" sz="1000" dirty="0"/>
          </a:p>
        </p:txBody>
      </p:sp>
      <p:sp>
        <p:nvSpPr>
          <p:cNvPr id="44" name="Text 35"/>
          <p:cNvSpPr txBox="1"/>
          <p:nvPr/>
        </p:nvSpPr>
        <p:spPr>
          <a:xfrm>
            <a:off x="7086600" y="4828032"/>
            <a:ext cx="2743200" cy="201168"/>
          </a:xfrm>
          <a:prstGeom prst="rect">
            <a:avLst/>
          </a:prstGeom>
          <a:noFill/>
          <a:ln/>
        </p:spPr>
        <p:txBody>
          <a:bodyPr wrap="square" lIns="0" tIns="0" rIns="0" bIns="0" rtlCol="0" anchor="t"/>
          <a:lstStyle/>
          <a:p>
            <a:pPr indent="0" marL="0">
              <a:buNone/>
            </a:pPr>
            <a:r>
              <a:rPr lang="fr-FR" altLang="en-US" sz="900" b="1" spc="300" kern="0" dirty="0">
                <a:solidFill>
                  <a:schemeClr val="accent3"/>
                </a:solidFill>
              </a:rPr>
              <a:t>VUES PAR PLATEFORME</a:t>
            </a:r>
            <a:endParaRPr lang="fr-FR" sz="900" dirty="0"/>
          </a:p>
        </p:txBody>
      </p:sp>
      <p:sp>
        <p:nvSpPr>
          <p:cNvPr id="45" name="Text 36"/>
          <p:cNvSpPr txBox="1"/>
          <p:nvPr/>
        </p:nvSpPr>
        <p:spPr>
          <a:xfrm>
            <a:off x="7086600" y="5102352"/>
            <a:ext cx="1005840" cy="219456"/>
          </a:xfrm>
          <a:prstGeom prst="rect">
            <a:avLst/>
          </a:prstGeom>
          <a:noFill/>
          <a:ln/>
        </p:spPr>
        <p:txBody>
          <a:bodyPr wrap="square" lIns="0" tIns="0" rIns="0" bIns="0" rtlCol="0" anchor="ctr"/>
          <a:lstStyle/>
          <a:p>
            <a:pPr indent="0" marL="0">
              <a:buNone/>
            </a:pPr>
            <a:r>
              <a:rPr lang="fr-FR" altLang="en-US" sz="1000" dirty="0">
                <a:solidFill>
                  <a:schemeClr val="tx2"/>
                </a:solidFill>
              </a:rPr>
              <a:t>Instagram</a:t>
            </a:r>
            <a:endParaRPr lang="fr-FR" sz="1000" dirty="0"/>
          </a:p>
        </p:txBody>
      </p:sp>
      <p:sp>
        <p:nvSpPr>
          <p:cNvPr id="46" name="Shape 37"/>
          <p:cNvSpPr/>
          <p:nvPr/>
        </p:nvSpPr>
        <p:spPr>
          <a:xfrm>
            <a:off x="8138160" y="5138928"/>
            <a:ext cx="2468880" cy="146304"/>
          </a:xfrm>
          <a:prstGeom prst="roundRect">
            <a:avLst>
              <a:gd name="adj" fmla="val 18750"/>
            </a:avLst>
          </a:prstGeom>
          <a:solidFill>
            <a:schemeClr val="accent2"/>
          </a:solidFill>
          <a:ln/>
        </p:spPr>
      </p:sp>
      <p:sp>
        <p:nvSpPr>
          <p:cNvPr id="47" name="Text 38"/>
          <p:cNvSpPr txBox="1"/>
          <p:nvPr/>
        </p:nvSpPr>
        <p:spPr>
          <a:xfrm>
            <a:off x="10698480" y="5102352"/>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52%</a:t>
            </a:r>
            <a:endParaRPr lang="fr-FR" sz="1000" dirty="0"/>
          </a:p>
        </p:txBody>
      </p:sp>
      <p:sp>
        <p:nvSpPr>
          <p:cNvPr id="48" name="Text 39"/>
          <p:cNvSpPr txBox="1"/>
          <p:nvPr/>
        </p:nvSpPr>
        <p:spPr>
          <a:xfrm>
            <a:off x="7086600" y="5394960"/>
            <a:ext cx="1005840" cy="219456"/>
          </a:xfrm>
          <a:prstGeom prst="rect">
            <a:avLst/>
          </a:prstGeom>
          <a:noFill/>
          <a:ln/>
        </p:spPr>
        <p:txBody>
          <a:bodyPr wrap="square" lIns="0" tIns="0" rIns="0" bIns="0" rtlCol="0" anchor="ctr"/>
          <a:lstStyle/>
          <a:p>
            <a:pPr indent="0" marL="0">
              <a:buNone/>
            </a:pPr>
            <a:r>
              <a:rPr lang="fr-FR" altLang="en-US" sz="1000" dirty="0">
                <a:solidFill>
                  <a:schemeClr val="tx2"/>
                </a:solidFill>
              </a:rPr>
              <a:t>TikTok</a:t>
            </a:r>
            <a:endParaRPr lang="fr-FR" sz="1000" dirty="0"/>
          </a:p>
        </p:txBody>
      </p:sp>
      <p:sp>
        <p:nvSpPr>
          <p:cNvPr id="49" name="Shape 40"/>
          <p:cNvSpPr/>
          <p:nvPr/>
        </p:nvSpPr>
        <p:spPr>
          <a:xfrm>
            <a:off x="8138160" y="5431536"/>
            <a:ext cx="1804182" cy="146304"/>
          </a:xfrm>
          <a:prstGeom prst="roundRect">
            <a:avLst>
              <a:gd name="adj" fmla="val 18750"/>
            </a:avLst>
          </a:prstGeom>
          <a:solidFill>
            <a:schemeClr val="accent1"/>
          </a:solidFill>
          <a:ln/>
        </p:spPr>
      </p:sp>
      <p:sp>
        <p:nvSpPr>
          <p:cNvPr id="50" name="Text 41"/>
          <p:cNvSpPr txBox="1"/>
          <p:nvPr/>
        </p:nvSpPr>
        <p:spPr>
          <a:xfrm>
            <a:off x="10033782" y="5394960"/>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38%</a:t>
            </a:r>
            <a:endParaRPr lang="fr-FR" sz="1000" dirty="0"/>
          </a:p>
        </p:txBody>
      </p:sp>
      <p:sp>
        <p:nvSpPr>
          <p:cNvPr id="51" name="Text 42"/>
          <p:cNvSpPr txBox="1"/>
          <p:nvPr/>
        </p:nvSpPr>
        <p:spPr>
          <a:xfrm>
            <a:off x="7086600" y="5687568"/>
            <a:ext cx="1005840" cy="219456"/>
          </a:xfrm>
          <a:prstGeom prst="rect">
            <a:avLst/>
          </a:prstGeom>
          <a:noFill/>
          <a:ln/>
        </p:spPr>
        <p:txBody>
          <a:bodyPr wrap="square" lIns="0" tIns="0" rIns="0" bIns="0" rtlCol="0" anchor="ctr"/>
          <a:lstStyle/>
          <a:p>
            <a:pPr indent="0" marL="0">
              <a:buNone/>
            </a:pPr>
            <a:r>
              <a:rPr lang="fr-FR" altLang="en-US" sz="1000" dirty="0">
                <a:solidFill>
                  <a:schemeClr val="tx2"/>
                </a:solidFill>
              </a:rPr>
              <a:t>YouTube</a:t>
            </a:r>
            <a:endParaRPr lang="fr-FR" sz="1000" dirty="0"/>
          </a:p>
        </p:txBody>
      </p:sp>
      <p:sp>
        <p:nvSpPr>
          <p:cNvPr id="52" name="Shape 43"/>
          <p:cNvSpPr/>
          <p:nvPr/>
        </p:nvSpPr>
        <p:spPr>
          <a:xfrm>
            <a:off x="8138160" y="5724144"/>
            <a:ext cx="474785" cy="146304"/>
          </a:xfrm>
          <a:prstGeom prst="roundRect">
            <a:avLst>
              <a:gd name="adj" fmla="val 18750"/>
            </a:avLst>
          </a:prstGeom>
          <a:solidFill>
            <a:schemeClr val="accent1"/>
          </a:solidFill>
          <a:ln/>
        </p:spPr>
      </p:sp>
      <p:sp>
        <p:nvSpPr>
          <p:cNvPr id="53" name="Text 44"/>
          <p:cNvSpPr txBox="1"/>
          <p:nvPr/>
        </p:nvSpPr>
        <p:spPr>
          <a:xfrm>
            <a:off x="8704385" y="5687568"/>
            <a:ext cx="548640" cy="219456"/>
          </a:xfrm>
          <a:prstGeom prst="rect">
            <a:avLst/>
          </a:prstGeom>
          <a:noFill/>
          <a:ln/>
        </p:spPr>
        <p:txBody>
          <a:bodyPr wrap="square" lIns="0" tIns="0" rIns="0" bIns="0" rtlCol="0" anchor="ctr"/>
          <a:lstStyle/>
          <a:p>
            <a:pPr indent="0" marL="0">
              <a:buNone/>
            </a:pPr>
            <a:r>
              <a:rPr lang="fr-FR" altLang="en-US" sz="1000" b="1" dirty="0">
                <a:solidFill>
                  <a:schemeClr val="tx1"/>
                </a:solidFill>
              </a:rPr>
              <a:t>10%</a:t>
            </a:r>
            <a:endParaRPr lang="fr-FR"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3"/>
                </a:solidFill>
              </a:rPr>
              <a:t>LA PROPOSITION</a:t>
            </a:r>
            <a:endParaRPr lang="fr-FR"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tx1"/>
                </a:solidFill>
              </a:rPr>
              <a:t>Un essai sur la 5e édition. Un rapport complet</a:t>
            </a:r>
            <a:endParaRPr lang="fr-FR"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3"/>
                </a:solidFill>
              </a:rPr>
              <a:t>×</a:t>
            </a:r>
            <a:endParaRPr lang="fr-FR"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Text 3"/>
          <p:cNvSpPr txBox="1"/>
          <p:nvPr/>
        </p:nvSpPr>
        <p:spPr>
          <a:xfrm>
            <a:off x="548640" y="1783080"/>
            <a:ext cx="6492240" cy="731520"/>
          </a:xfrm>
          <a:prstGeom prst="rect">
            <a:avLst/>
          </a:prstGeom>
          <a:noFill/>
          <a:ln/>
        </p:spPr>
        <p:txBody>
          <a:bodyPr wrap="square" lIns="0" tIns="0" rIns="0" bIns="0" rtlCol="0" anchor="t"/>
          <a:lstStyle/>
          <a:p>
            <a:pPr indent="0" marL="0">
              <a:lnSpc>
                <a:spcPct val="110000"/>
              </a:lnSpc>
              <a:buNone/>
            </a:pPr>
            <a:r>
              <a:rPr lang="fr-FR" altLang="en-US" sz="1500" dirty="0">
                <a:solidFill>
                  <a:schemeClr val="tx2"/>
                </a:solidFill>
              </a:rPr>
              <a:t>AToure travaille avec les créateurs que Mother Africa a déjà, ajoute ceux qui manquent, et livre un rapport de visibilité complet, conçu pour les sponsors et les partenaires.</a:t>
            </a:r>
            <a:endParaRPr lang="fr-FR" sz="1500" dirty="0"/>
          </a:p>
        </p:txBody>
      </p:sp>
      <p:sp>
        <p:nvSpPr>
          <p:cNvPr id="9" name="Shape 4"/>
          <p:cNvSpPr/>
          <p:nvPr/>
        </p:nvSpPr>
        <p:spPr>
          <a:xfrm>
            <a:off x="548640" y="2606040"/>
            <a:ext cx="6492240" cy="347472"/>
          </a:xfrm>
          <a:prstGeom prst="rect">
            <a:avLst/>
          </a:prstGeom>
          <a:solidFill>
            <a:schemeClr val="accent1"/>
          </a:solidFill>
          <a:ln/>
        </p:spPr>
      </p:sp>
      <p:sp>
        <p:nvSpPr>
          <p:cNvPr id="10" name="Text 5"/>
          <p:cNvSpPr txBox="1"/>
          <p:nvPr/>
        </p:nvSpPr>
        <p:spPr>
          <a:xfrm>
            <a:off x="777240" y="2606040"/>
            <a:ext cx="6035040" cy="347472"/>
          </a:xfrm>
          <a:prstGeom prst="rect">
            <a:avLst/>
          </a:prstGeom>
          <a:noFill/>
          <a:ln/>
        </p:spPr>
        <p:txBody>
          <a:bodyPr wrap="square" lIns="0" tIns="0" rIns="0" bIns="0" rtlCol="0" anchor="ctr"/>
          <a:lstStyle/>
          <a:p>
            <a:pPr indent="0" marL="0">
              <a:buNone/>
            </a:pPr>
            <a:r>
              <a:rPr lang="fr-FR" altLang="en-US" sz="1150" b="1" spc="300" kern="0" dirty="0">
                <a:solidFill>
                  <a:schemeClr val="tx1"/>
                </a:solidFill>
              </a:rPr>
              <a:t>CRÉATEURS DÉJÀ ENGAGÉS</a:t>
            </a:r>
            <a:endParaRPr lang="fr-FR" sz="1150" dirty="0"/>
          </a:p>
        </p:txBody>
      </p:sp>
      <p:sp>
        <p:nvSpPr>
          <p:cNvPr id="11" name="Shape 6"/>
          <p:cNvSpPr/>
          <p:nvPr/>
        </p:nvSpPr>
        <p:spPr>
          <a:xfrm>
            <a:off x="548640" y="2953512"/>
            <a:ext cx="6492240" cy="621792"/>
          </a:xfrm>
          <a:prstGeom prst="rect">
            <a:avLst/>
          </a:prstGeom>
          <a:solidFill>
            <a:schemeClr val="bg1"/>
          </a:solidFill>
          <a:ln w="9525">
            <a:solidFill>
              <a:schemeClr val="tx2">
                <a:alpha val="28000"/>
              </a:schemeClr>
            </a:solidFill>
            <a:prstDash val="solid"/>
          </a:ln>
        </p:spPr>
      </p:sp>
      <p:sp>
        <p:nvSpPr>
          <p:cNvPr id="12" name="Text 7"/>
          <p:cNvSpPr txBox="1"/>
          <p:nvPr/>
        </p:nvSpPr>
        <p:spPr>
          <a:xfrm>
            <a:off x="777240" y="3017520"/>
            <a:ext cx="6035040" cy="512064"/>
          </a:xfrm>
          <a:prstGeom prst="rect">
            <a:avLst/>
          </a:prstGeom>
          <a:noFill/>
          <a:ln/>
        </p:spPr>
        <p:txBody>
          <a:bodyPr wrap="square" lIns="0" tIns="0" rIns="0" bIns="0" rtlCol="0" anchor="t"/>
          <a:lstStyle/>
          <a:p>
            <a:pPr indent="0" marL="0">
              <a:buNone/>
            </a:pPr>
            <a:r>
              <a:rPr lang="fr-FR" altLang="en-US" sz="1400" dirty="0">
                <a:solidFill>
                  <a:schemeClr val="tx1"/>
                </a:solidFill>
              </a:rPr>
              <a:t>Les créateurs que le festival a déjà activés restent. AToure les gère sur le terrain, avec les nouveaux.</a:t>
            </a:r>
            <a:endParaRPr lang="fr-FR" sz="1400" dirty="0"/>
          </a:p>
        </p:txBody>
      </p:sp>
      <p:sp>
        <p:nvSpPr>
          <p:cNvPr id="13" name="Shape 8"/>
          <p:cNvSpPr/>
          <p:nvPr/>
        </p:nvSpPr>
        <p:spPr>
          <a:xfrm>
            <a:off x="548640" y="3685032"/>
            <a:ext cx="6492240" cy="347472"/>
          </a:xfrm>
          <a:prstGeom prst="rect">
            <a:avLst/>
          </a:prstGeom>
          <a:solidFill>
            <a:schemeClr val="accent1"/>
          </a:solidFill>
          <a:ln/>
        </p:spPr>
      </p:sp>
      <p:sp>
        <p:nvSpPr>
          <p:cNvPr id="14" name="Text 9"/>
          <p:cNvSpPr txBox="1"/>
          <p:nvPr/>
        </p:nvSpPr>
        <p:spPr>
          <a:xfrm>
            <a:off x="777240" y="3685032"/>
            <a:ext cx="6035040" cy="347472"/>
          </a:xfrm>
          <a:prstGeom prst="rect">
            <a:avLst/>
          </a:prstGeom>
          <a:noFill/>
          <a:ln/>
        </p:spPr>
        <p:txBody>
          <a:bodyPr wrap="square" lIns="0" tIns="0" rIns="0" bIns="0" rtlCol="0" anchor="ctr"/>
          <a:lstStyle/>
          <a:p>
            <a:pPr indent="0" marL="0">
              <a:buNone/>
            </a:pPr>
            <a:r>
              <a:rPr lang="fr-FR" altLang="en-US" sz="1150" b="1" spc="300" kern="0" dirty="0">
                <a:solidFill>
                  <a:schemeClr val="tx1"/>
                </a:solidFill>
              </a:rPr>
              <a:t>UN CONTRAT AVEC DES LIVRABLES</a:t>
            </a:r>
            <a:endParaRPr lang="fr-FR" sz="1150" dirty="0"/>
          </a:p>
        </p:txBody>
      </p:sp>
      <p:sp>
        <p:nvSpPr>
          <p:cNvPr id="15" name="Shape 10"/>
          <p:cNvSpPr/>
          <p:nvPr/>
        </p:nvSpPr>
        <p:spPr>
          <a:xfrm>
            <a:off x="548640" y="4032504"/>
            <a:ext cx="6492240" cy="621792"/>
          </a:xfrm>
          <a:prstGeom prst="rect">
            <a:avLst/>
          </a:prstGeom>
          <a:solidFill>
            <a:schemeClr val="bg1"/>
          </a:solidFill>
          <a:ln w="9525">
            <a:solidFill>
              <a:schemeClr val="tx2">
                <a:alpha val="28000"/>
              </a:schemeClr>
            </a:solidFill>
            <a:prstDash val="solid"/>
          </a:ln>
        </p:spPr>
      </p:sp>
      <p:sp>
        <p:nvSpPr>
          <p:cNvPr id="16" name="Text 11"/>
          <p:cNvSpPr txBox="1"/>
          <p:nvPr/>
        </p:nvSpPr>
        <p:spPr>
          <a:xfrm>
            <a:off x="777240" y="4096512"/>
            <a:ext cx="6035040" cy="512064"/>
          </a:xfrm>
          <a:prstGeom prst="rect">
            <a:avLst/>
          </a:prstGeom>
          <a:noFill/>
          <a:ln/>
        </p:spPr>
        <p:txBody>
          <a:bodyPr wrap="square" lIns="0" tIns="0" rIns="0" bIns="0" rtlCol="0" anchor="t"/>
          <a:lstStyle/>
          <a:p>
            <a:pPr indent="0" marL="0">
              <a:buNone/>
            </a:pPr>
            <a:r>
              <a:rPr lang="fr-FR" altLang="en-US" sz="1400" dirty="0">
                <a:solidFill>
                  <a:schemeClr val="tx1"/>
                </a:solidFill>
              </a:rPr>
              <a:t>Chaque créateur sous contrat pour l’événement : publications, plateformes, calendrier et lien de billetterie, fixés par écrit.</a:t>
            </a:r>
            <a:endParaRPr lang="fr-FR" sz="1400" dirty="0"/>
          </a:p>
        </p:txBody>
      </p:sp>
      <p:sp>
        <p:nvSpPr>
          <p:cNvPr id="17" name="Shape 12"/>
          <p:cNvSpPr/>
          <p:nvPr/>
        </p:nvSpPr>
        <p:spPr>
          <a:xfrm>
            <a:off x="548640" y="4764024"/>
            <a:ext cx="6492240" cy="347472"/>
          </a:xfrm>
          <a:prstGeom prst="rect">
            <a:avLst/>
          </a:prstGeom>
          <a:solidFill>
            <a:schemeClr val="accent2"/>
          </a:solidFill>
          <a:ln/>
        </p:spPr>
      </p:sp>
      <p:sp>
        <p:nvSpPr>
          <p:cNvPr id="18" name="Text 13"/>
          <p:cNvSpPr txBox="1"/>
          <p:nvPr/>
        </p:nvSpPr>
        <p:spPr>
          <a:xfrm>
            <a:off x="777240" y="4764024"/>
            <a:ext cx="6035040" cy="347472"/>
          </a:xfrm>
          <a:prstGeom prst="rect">
            <a:avLst/>
          </a:prstGeom>
          <a:noFill/>
          <a:ln/>
        </p:spPr>
        <p:txBody>
          <a:bodyPr wrap="square" lIns="0" tIns="0" rIns="0" bIns="0" rtlCol="0" anchor="ctr"/>
          <a:lstStyle/>
          <a:p>
            <a:pPr indent="0" marL="0">
              <a:buNone/>
            </a:pPr>
            <a:r>
              <a:rPr lang="fr-FR" altLang="en-US" sz="1150" b="1" spc="300" kern="0" dirty="0">
                <a:solidFill>
                  <a:schemeClr val="tx1"/>
                </a:solidFill>
              </a:rPr>
              <a:t>LE RAPPORT</a:t>
            </a:r>
            <a:endParaRPr lang="fr-FR" sz="1150" dirty="0"/>
          </a:p>
        </p:txBody>
      </p:sp>
      <p:sp>
        <p:nvSpPr>
          <p:cNvPr id="19" name="Shape 14"/>
          <p:cNvSpPr/>
          <p:nvPr/>
        </p:nvSpPr>
        <p:spPr>
          <a:xfrm>
            <a:off x="548640" y="5111496"/>
            <a:ext cx="6492240" cy="621792"/>
          </a:xfrm>
          <a:prstGeom prst="rect">
            <a:avLst/>
          </a:prstGeom>
          <a:solidFill>
            <a:schemeClr val="bg1"/>
          </a:solidFill>
          <a:ln w="9525">
            <a:solidFill>
              <a:schemeClr val="tx2">
                <a:alpha val="28000"/>
              </a:schemeClr>
            </a:solidFill>
            <a:prstDash val="solid"/>
          </a:ln>
        </p:spPr>
      </p:sp>
      <p:sp>
        <p:nvSpPr>
          <p:cNvPr id="20" name="Text 15"/>
          <p:cNvSpPr txBox="1"/>
          <p:nvPr/>
        </p:nvSpPr>
        <p:spPr>
          <a:xfrm>
            <a:off x="777240" y="5175504"/>
            <a:ext cx="6035040" cy="512064"/>
          </a:xfrm>
          <a:prstGeom prst="rect">
            <a:avLst/>
          </a:prstGeom>
          <a:noFill/>
          <a:ln/>
        </p:spPr>
        <p:txBody>
          <a:bodyPr wrap="square" lIns="0" tIns="0" rIns="0" bIns="0" rtlCol="0" anchor="t"/>
          <a:lstStyle/>
          <a:p>
            <a:pPr indent="0" marL="0">
              <a:buNone/>
            </a:pPr>
            <a:r>
              <a:rPr lang="fr-FR" altLang="en-US" sz="1400" dirty="0">
                <a:solidFill>
                  <a:schemeClr val="tx1"/>
                </a:solidFill>
              </a:rPr>
              <a:t>Chaque publication suivie dès l’avant festival, un point à 48 heures et le rapport complet au 14e jour.</a:t>
            </a:r>
            <a:endParaRPr lang="fr-FR" sz="1400" dirty="0"/>
          </a:p>
        </p:txBody>
      </p:sp>
      <p:sp>
        <p:nvSpPr>
          <p:cNvPr id="21" name="Text 16"/>
          <p:cNvSpPr txBox="1"/>
          <p:nvPr/>
        </p:nvSpPr>
        <p:spPr>
          <a:xfrm>
            <a:off x="548640" y="5852160"/>
            <a:ext cx="6492240" cy="384048"/>
          </a:xfrm>
          <a:prstGeom prst="rect">
            <a:avLst/>
          </a:prstGeom>
          <a:noFill/>
          <a:ln/>
        </p:spPr>
        <p:txBody>
          <a:bodyPr wrap="square" lIns="0" tIns="0" rIns="0" bIns="0" rtlCol="0" anchor="t"/>
          <a:lstStyle/>
          <a:p>
            <a:pPr indent="0" marL="0">
              <a:buNone/>
            </a:pPr>
            <a:r>
              <a:rPr lang="fr-FR" altLang="en-US" sz="1900" dirty="0">
                <a:solidFill>
                  <a:schemeClr val="accent3"/>
                </a:solidFill>
                <a:latin typeface="+mj-lt" pitchFamily="34" charset="0"/>
                <a:ea typeface="+mj-lt" pitchFamily="34" charset="-122"/>
                <a:cs typeface="+mj-lt" pitchFamily="34" charset="-120"/>
              </a:rPr>
              <a:t>Un essai, pas un engagement long.</a:t>
            </a:r>
            <a:endParaRPr lang="fr-FR" sz="1900" dirty="0"/>
          </a:p>
        </p:txBody>
      </p:sp>
      <p:pic>
        <p:nvPicPr>
          <p:cNvPr id="22" name="Photo ai_pass" descr="Illustration : un pass d’accréditation créateur Mother Africa Festival, sur son cordon">    </p:cNvPr>
          <p:cNvPicPr>
            <a:picLocks noChangeAspect="1"/>
          </p:cNvPicPr>
          <p:nvPr/>
        </p:nvPicPr>
        <p:blipFill>
          <a:blip r:embed="rId3"/>
          <a:stretch>
            <a:fillRect/>
          </a:stretch>
        </p:blipFill>
        <p:spPr>
          <a:xfrm>
            <a:off x="7452360" y="1783080"/>
            <a:ext cx="4190695" cy="3143021"/>
          </a:xfrm>
          <a:prstGeom prst="rect">
            <a:avLst/>
          </a:prstGeom>
        </p:spPr>
      </p:pic>
      <p:sp>
        <p:nvSpPr>
          <p:cNvPr id="23" name="Shape 17"/>
          <p:cNvSpPr/>
          <p:nvPr/>
        </p:nvSpPr>
        <p:spPr>
          <a:xfrm>
            <a:off x="7452360" y="5063261"/>
            <a:ext cx="4190695" cy="971779"/>
          </a:xfrm>
          <a:prstGeom prst="roundRect">
            <a:avLst>
              <a:gd name="adj" fmla="val 7528"/>
            </a:avLst>
          </a:prstGeom>
          <a:solidFill>
            <a:schemeClr val="tx1"/>
          </a:solidFill>
          <a:ln/>
        </p:spPr>
      </p:sp>
      <p:pic>
        <p:nvPicPr>
          <p:cNvPr id="24" name="Image 3" descr="Mother Africa Festival">    </p:cNvPr>
          <p:cNvPicPr>
            <a:picLocks noChangeAspect="1"/>
          </p:cNvPicPr>
          <p:nvPr/>
        </p:nvPicPr>
        <p:blipFill>
          <a:blip r:embed="rId4"/>
          <a:stretch>
            <a:fillRect/>
          </a:stretch>
        </p:blipFill>
        <p:spPr>
          <a:xfrm>
            <a:off x="7726680" y="5265687"/>
            <a:ext cx="798987" cy="566928"/>
          </a:xfrm>
          <a:prstGeom prst="rect">
            <a:avLst/>
          </a:prstGeom>
        </p:spPr>
      </p:pic>
      <p:sp>
        <p:nvSpPr>
          <p:cNvPr id="25" name="Text 18"/>
          <p:cNvSpPr txBox="1"/>
          <p:nvPr/>
        </p:nvSpPr>
        <p:spPr>
          <a:xfrm>
            <a:off x="8595360" y="5063261"/>
            <a:ext cx="365760" cy="971779"/>
          </a:xfrm>
          <a:prstGeom prst="rect">
            <a:avLst/>
          </a:prstGeom>
          <a:noFill/>
          <a:ln/>
        </p:spPr>
        <p:txBody>
          <a:bodyPr wrap="square" lIns="0" tIns="0" rIns="0" bIns="0" rtlCol="0" anchor="ctr"/>
          <a:lstStyle/>
          <a:p>
            <a:pPr algn="ctr" indent="0" marL="0">
              <a:buNone/>
            </a:pPr>
            <a:r>
              <a:rPr lang="fr-FR" altLang="en-US" sz="2000" dirty="0">
                <a:solidFill>
                  <a:schemeClr val="accent1"/>
                </a:solidFill>
              </a:rPr>
              <a:t>×</a:t>
            </a:r>
            <a:endParaRPr lang="fr-FR" sz="2000" dirty="0"/>
          </a:p>
        </p:txBody>
      </p:sp>
      <p:pic>
        <p:nvPicPr>
          <p:cNvPr id="26" name="Image 4" descr="AToure Management &amp; Consulting">    </p:cNvPr>
          <p:cNvPicPr>
            <a:picLocks noChangeAspect="1"/>
          </p:cNvPicPr>
          <p:nvPr/>
        </p:nvPicPr>
        <p:blipFill>
          <a:blip r:embed="rId5"/>
          <a:stretch>
            <a:fillRect/>
          </a:stretch>
        </p:blipFill>
        <p:spPr>
          <a:xfrm>
            <a:off x="9098280" y="5366271"/>
            <a:ext cx="2286000" cy="365760"/>
          </a:xfrm>
          <a:prstGeom prst="rect">
            <a:avLst/>
          </a:prstGeom>
        </p:spPr>
      </p:pic>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fr-FR" altLang="en-US" sz="1000" dirty="0">
                <a:solidFill>
                  <a:schemeClr val="accent4"/>
                </a:solidFill>
              </a:rPr>
              <a:t>AToure Management &amp; Consulting</a:t>
            </a:r>
            <a:endParaRPr lang="fr-FR"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POURQUOI ATOURE</a:t>
            </a:r>
            <a:endParaRPr lang="fr-FR"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fr-FR" altLang="en-US" sz="3800" dirty="0">
                <a:solidFill>
                  <a:schemeClr val="bg1"/>
                </a:solidFill>
              </a:rPr>
              <a:t>Ce n’est pas une capacité nouvelle : nous l’avons déjà fait, et mesuré</a:t>
            </a:r>
            <a:endParaRPr lang="fr-FR"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fr-FR" altLang="en-US" sz="1600" dirty="0">
                <a:solidFill>
                  <a:schemeClr val="accent1"/>
                </a:solidFill>
              </a:rPr>
              <a:t>×</a:t>
            </a:r>
            <a:endParaRPr lang="fr-FR"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2057400"/>
            <a:ext cx="3511296" cy="3931920"/>
          </a:xfrm>
          <a:prstGeom prst="rect">
            <a:avLst/>
          </a:prstGeom>
          <a:solidFill>
            <a:schemeClr val="accent6"/>
          </a:solidFill>
          <a:ln/>
        </p:spPr>
      </p:sp>
      <p:pic>
        <p:nvPicPr>
          <p:cNvPr id="11" name="Photo card_ci" descr="IShowSpeed en Côte d’Ivoire, Abidjan">    </p:cNvPr>
          <p:cNvPicPr>
            <a:picLocks noChangeAspect="1"/>
          </p:cNvPicPr>
          <p:nvPr/>
        </p:nvPicPr>
        <p:blipFill>
          <a:blip r:embed="rId4"/>
          <a:stretch>
            <a:fillRect/>
          </a:stretch>
        </p:blipFill>
        <p:spPr>
          <a:xfrm>
            <a:off x="548640" y="2057400"/>
            <a:ext cx="3511296" cy="2468356"/>
          </a:xfrm>
          <a:prstGeom prst="rect">
            <a:avLst/>
          </a:prstGeom>
        </p:spPr>
      </p:pic>
      <p:sp>
        <p:nvSpPr>
          <p:cNvPr id="12" name="Text 5"/>
          <p:cNvSpPr txBox="1"/>
          <p:nvPr/>
        </p:nvSpPr>
        <p:spPr>
          <a:xfrm>
            <a:off x="777240" y="4662916"/>
            <a:ext cx="3054096" cy="347472"/>
          </a:xfrm>
          <a:prstGeom prst="rect">
            <a:avLst/>
          </a:prstGeom>
          <a:noFill/>
          <a:ln/>
        </p:spPr>
        <p:txBody>
          <a:bodyPr wrap="square" lIns="0" tIns="0" rIns="0" bIns="0" rtlCol="0" anchor="t"/>
          <a:lstStyle/>
          <a:p>
            <a:pPr indent="0" marL="0">
              <a:buNone/>
            </a:pPr>
            <a:r>
              <a:rPr lang="fr-FR" altLang="en-US" sz="1050" b="1" spc="100" kern="0" dirty="0">
                <a:solidFill>
                  <a:schemeClr val="accent1"/>
                </a:solidFill>
              </a:rPr>
              <a:t>CÔTE D’IVOIRE, TOURNÉE ISHOWSPEED</a:t>
            </a:r>
            <a:endParaRPr lang="fr-FR" sz="1050" dirty="0"/>
          </a:p>
        </p:txBody>
      </p:sp>
      <p:sp>
        <p:nvSpPr>
          <p:cNvPr id="13" name="Text 6"/>
          <p:cNvSpPr txBox="1"/>
          <p:nvPr/>
        </p:nvSpPr>
        <p:spPr>
          <a:xfrm>
            <a:off x="777240" y="5028676"/>
            <a:ext cx="3054096" cy="411480"/>
          </a:xfrm>
          <a:prstGeom prst="rect">
            <a:avLst/>
          </a:prstGeom>
          <a:noFill/>
          <a:ln/>
        </p:spPr>
        <p:txBody>
          <a:bodyPr wrap="square" lIns="0" tIns="0" rIns="0" bIns="0" rtlCol="0" anchor="t"/>
          <a:lstStyle/>
          <a:p>
            <a:pPr indent="0" marL="0">
              <a:buNone/>
            </a:pPr>
            <a:r>
              <a:rPr lang="fr-FR" altLang="en-US" sz="2600" b="1" dirty="0">
                <a:solidFill>
                  <a:schemeClr val="bg1"/>
                </a:solidFill>
              </a:rPr>
              <a:t>55,8 millions</a:t>
            </a:r>
            <a:endParaRPr lang="fr-FR" sz="2600" dirty="0"/>
          </a:p>
        </p:txBody>
      </p:sp>
      <p:sp>
        <p:nvSpPr>
          <p:cNvPr id="14" name="Text 7"/>
          <p:cNvSpPr txBox="1"/>
          <p:nvPr/>
        </p:nvSpPr>
        <p:spPr>
          <a:xfrm>
            <a:off x="777240" y="5458444"/>
            <a:ext cx="3054096" cy="502920"/>
          </a:xfrm>
          <a:prstGeom prst="rect">
            <a:avLst/>
          </a:prstGeom>
          <a:noFill/>
          <a:ln/>
        </p:spPr>
        <p:txBody>
          <a:bodyPr wrap="square" lIns="0" tIns="0" rIns="0" bIns="0" rtlCol="0" anchor="t"/>
          <a:lstStyle/>
          <a:p>
            <a:pPr indent="0" marL="0">
              <a:buNone/>
            </a:pPr>
            <a:r>
              <a:rPr lang="fr-FR" altLang="en-US" sz="1150" dirty="0">
                <a:solidFill>
                  <a:schemeClr val="accent5"/>
                </a:solidFill>
              </a:rPr>
              <a:t>Vues Instagram, en relation directe avec le ministre du Tourisme</a:t>
            </a:r>
            <a:endParaRPr lang="fr-FR" sz="1150" dirty="0"/>
          </a:p>
        </p:txBody>
      </p:sp>
      <p:sp>
        <p:nvSpPr>
          <p:cNvPr id="15" name="Shape 8"/>
          <p:cNvSpPr/>
          <p:nvPr/>
        </p:nvSpPr>
        <p:spPr>
          <a:xfrm>
            <a:off x="4338828" y="2057400"/>
            <a:ext cx="3511296" cy="3931920"/>
          </a:xfrm>
          <a:prstGeom prst="rect">
            <a:avLst/>
          </a:prstGeom>
          <a:solidFill>
            <a:schemeClr val="accent6"/>
          </a:solidFill>
          <a:ln/>
        </p:spPr>
      </p:sp>
      <p:pic>
        <p:nvPicPr>
          <p:cNvPr id="16" name="Photo card_ma" descr="IShowSpeed au Maroc pour la finale de la CAN 2025">    </p:cNvPr>
          <p:cNvPicPr>
            <a:picLocks noChangeAspect="1"/>
          </p:cNvPicPr>
          <p:nvPr/>
        </p:nvPicPr>
        <p:blipFill>
          <a:blip r:embed="rId5"/>
          <a:stretch>
            <a:fillRect/>
          </a:stretch>
        </p:blipFill>
        <p:spPr>
          <a:xfrm>
            <a:off x="4338828" y="2057400"/>
            <a:ext cx="3511296" cy="2468424"/>
          </a:xfrm>
          <a:prstGeom prst="rect">
            <a:avLst/>
          </a:prstGeom>
        </p:spPr>
      </p:pic>
      <p:sp>
        <p:nvSpPr>
          <p:cNvPr id="17" name="Text 9"/>
          <p:cNvSpPr txBox="1"/>
          <p:nvPr/>
        </p:nvSpPr>
        <p:spPr>
          <a:xfrm>
            <a:off x="4567428" y="4662984"/>
            <a:ext cx="3054096" cy="347472"/>
          </a:xfrm>
          <a:prstGeom prst="rect">
            <a:avLst/>
          </a:prstGeom>
          <a:noFill/>
          <a:ln/>
        </p:spPr>
        <p:txBody>
          <a:bodyPr wrap="square" lIns="0" tIns="0" rIns="0" bIns="0" rtlCol="0" anchor="t"/>
          <a:lstStyle/>
          <a:p>
            <a:pPr indent="0" marL="0">
              <a:buNone/>
            </a:pPr>
            <a:r>
              <a:rPr lang="fr-FR" altLang="en-US" sz="1050" b="1" spc="100" kern="0" dirty="0">
                <a:solidFill>
                  <a:schemeClr val="accent4"/>
                </a:solidFill>
              </a:rPr>
              <a:t>MAROC, FINALE DE LA CAN : TOURNÉE ISHOWSPEED</a:t>
            </a:r>
            <a:endParaRPr lang="fr-FR" sz="1050" dirty="0"/>
          </a:p>
        </p:txBody>
      </p:sp>
      <p:sp>
        <p:nvSpPr>
          <p:cNvPr id="18" name="Text 10"/>
          <p:cNvSpPr txBox="1"/>
          <p:nvPr/>
        </p:nvSpPr>
        <p:spPr>
          <a:xfrm>
            <a:off x="4567428" y="5028744"/>
            <a:ext cx="3054096" cy="411480"/>
          </a:xfrm>
          <a:prstGeom prst="rect">
            <a:avLst/>
          </a:prstGeom>
          <a:noFill/>
          <a:ln/>
        </p:spPr>
        <p:txBody>
          <a:bodyPr wrap="square" lIns="0" tIns="0" rIns="0" bIns="0" rtlCol="0" anchor="t"/>
          <a:lstStyle/>
          <a:p>
            <a:pPr indent="0" marL="0">
              <a:buNone/>
            </a:pPr>
            <a:r>
              <a:rPr lang="fr-FR" altLang="en-US" sz="2600" b="1" dirty="0">
                <a:solidFill>
                  <a:schemeClr val="bg1"/>
                </a:solidFill>
              </a:rPr>
              <a:t>16 millions</a:t>
            </a:r>
            <a:endParaRPr lang="fr-FR" sz="2600" dirty="0"/>
          </a:p>
        </p:txBody>
      </p:sp>
      <p:sp>
        <p:nvSpPr>
          <p:cNvPr id="19" name="Text 11"/>
          <p:cNvSpPr txBox="1"/>
          <p:nvPr/>
        </p:nvSpPr>
        <p:spPr>
          <a:xfrm>
            <a:off x="4567428" y="5458512"/>
            <a:ext cx="3054096" cy="502920"/>
          </a:xfrm>
          <a:prstGeom prst="rect">
            <a:avLst/>
          </a:prstGeom>
          <a:noFill/>
          <a:ln/>
        </p:spPr>
        <p:txBody>
          <a:bodyPr wrap="square" lIns="0" tIns="0" rIns="0" bIns="0" rtlCol="0" anchor="t"/>
          <a:lstStyle/>
          <a:p>
            <a:pPr indent="0" marL="0">
              <a:buNone/>
            </a:pPr>
            <a:r>
              <a:rPr lang="fr-FR" altLang="en-US" sz="1150" dirty="0">
                <a:solidFill>
                  <a:schemeClr val="accent5"/>
                </a:solidFill>
              </a:rPr>
              <a:t>Vues en direct, livrées avec la CAF et la Fédération Royale Marocaine de Football</a:t>
            </a:r>
            <a:endParaRPr lang="fr-FR" sz="1150" dirty="0"/>
          </a:p>
        </p:txBody>
      </p:sp>
      <p:sp>
        <p:nvSpPr>
          <p:cNvPr id="20" name="Shape 12"/>
          <p:cNvSpPr/>
          <p:nvPr/>
        </p:nvSpPr>
        <p:spPr>
          <a:xfrm>
            <a:off x="8129016" y="2057400"/>
            <a:ext cx="3511296" cy="3931920"/>
          </a:xfrm>
          <a:prstGeom prst="rect">
            <a:avLst/>
          </a:prstGeom>
          <a:solidFill>
            <a:schemeClr val="accent6"/>
          </a:solidFill>
          <a:ln/>
        </p:spPr>
      </p:sp>
      <p:pic>
        <p:nvPicPr>
          <p:cNvPr id="21" name="Photo card_ashton" descr="Ashton Hall Africa Tour, étape du Nigeria">    </p:cNvPr>
          <p:cNvPicPr>
            <a:picLocks noChangeAspect="1"/>
          </p:cNvPicPr>
          <p:nvPr/>
        </p:nvPicPr>
        <p:blipFill>
          <a:blip r:embed="rId6"/>
          <a:stretch>
            <a:fillRect/>
          </a:stretch>
        </p:blipFill>
        <p:spPr>
          <a:xfrm>
            <a:off x="8129016" y="2057400"/>
            <a:ext cx="3511296" cy="2468235"/>
          </a:xfrm>
          <a:prstGeom prst="rect">
            <a:avLst/>
          </a:prstGeom>
        </p:spPr>
      </p:pic>
      <p:sp>
        <p:nvSpPr>
          <p:cNvPr id="22" name="Text 13"/>
          <p:cNvSpPr txBox="1"/>
          <p:nvPr/>
        </p:nvSpPr>
        <p:spPr>
          <a:xfrm>
            <a:off x="8357616" y="4662795"/>
            <a:ext cx="3054096" cy="347472"/>
          </a:xfrm>
          <a:prstGeom prst="rect">
            <a:avLst/>
          </a:prstGeom>
          <a:noFill/>
          <a:ln/>
        </p:spPr>
        <p:txBody>
          <a:bodyPr wrap="square" lIns="0" tIns="0" rIns="0" bIns="0" rtlCol="0" anchor="t"/>
          <a:lstStyle/>
          <a:p>
            <a:pPr indent="0" marL="0">
              <a:buNone/>
            </a:pPr>
            <a:r>
              <a:rPr lang="fr-FR" altLang="en-US" sz="1050" b="1" spc="100" kern="0" dirty="0">
                <a:solidFill>
                  <a:schemeClr val="accent5"/>
                </a:solidFill>
              </a:rPr>
              <a:t>ASHTON HALL AFRICA TOUR</a:t>
            </a:r>
            <a:endParaRPr lang="fr-FR" sz="1050" dirty="0"/>
          </a:p>
        </p:txBody>
      </p:sp>
      <p:sp>
        <p:nvSpPr>
          <p:cNvPr id="23" name="Text 14"/>
          <p:cNvSpPr txBox="1"/>
          <p:nvPr/>
        </p:nvSpPr>
        <p:spPr>
          <a:xfrm>
            <a:off x="8357616" y="5028555"/>
            <a:ext cx="3054096" cy="411480"/>
          </a:xfrm>
          <a:prstGeom prst="rect">
            <a:avLst/>
          </a:prstGeom>
          <a:noFill/>
          <a:ln/>
        </p:spPr>
        <p:txBody>
          <a:bodyPr wrap="square" lIns="0" tIns="0" rIns="0" bIns="0" rtlCol="0" anchor="t"/>
          <a:lstStyle/>
          <a:p>
            <a:pPr indent="0" marL="0">
              <a:buNone/>
            </a:pPr>
            <a:r>
              <a:rPr lang="fr-FR" altLang="en-US" sz="2600" b="1" dirty="0">
                <a:solidFill>
                  <a:schemeClr val="bg1"/>
                </a:solidFill>
              </a:rPr>
              <a:t>1,57 milliard</a:t>
            </a:r>
            <a:endParaRPr lang="fr-FR" sz="2600" dirty="0"/>
          </a:p>
        </p:txBody>
      </p:sp>
      <p:sp>
        <p:nvSpPr>
          <p:cNvPr id="24" name="Text 15"/>
          <p:cNvSpPr txBox="1"/>
          <p:nvPr/>
        </p:nvSpPr>
        <p:spPr>
          <a:xfrm>
            <a:off x="8357616" y="5458323"/>
            <a:ext cx="3054096" cy="502920"/>
          </a:xfrm>
          <a:prstGeom prst="rect">
            <a:avLst/>
          </a:prstGeom>
          <a:noFill/>
          <a:ln/>
        </p:spPr>
        <p:txBody>
          <a:bodyPr wrap="square" lIns="0" tIns="0" rIns="0" bIns="0" rtlCol="0" anchor="t"/>
          <a:lstStyle/>
          <a:p>
            <a:pPr indent="0" marL="0">
              <a:buNone/>
            </a:pPr>
            <a:r>
              <a:rPr lang="fr-FR" altLang="en-US" sz="1150" dirty="0">
                <a:solidFill>
                  <a:schemeClr val="accent5"/>
                </a:solidFill>
              </a:rPr>
              <a:t>Vues totales, cinq pays gérés de bout en bout : Ghana, Cameroun, Nigeria, Bénin, Rwanda</a:t>
            </a:r>
            <a:endParaRPr lang="fr-FR" sz="1150" dirty="0"/>
          </a:p>
        </p:txBody>
      </p:sp>
      <p:sp>
        <p:nvSpPr>
          <p:cNvPr id="25" name="Text 16"/>
          <p:cNvSpPr txBox="1"/>
          <p:nvPr/>
        </p:nvSpPr>
        <p:spPr>
          <a:xfrm>
            <a:off x="548640" y="6108192"/>
            <a:ext cx="11094415" cy="201168"/>
          </a:xfrm>
          <a:prstGeom prst="rect">
            <a:avLst/>
          </a:prstGeom>
          <a:noFill/>
          <a:ln/>
        </p:spPr>
        <p:txBody>
          <a:bodyPr wrap="square" lIns="0" tIns="0" rIns="0" bIns="0" rtlCol="0" anchor="t"/>
          <a:lstStyle/>
          <a:p>
            <a:pPr indent="0" marL="0">
              <a:buNone/>
            </a:pPr>
            <a:r>
              <a:rPr lang="fr-FR" altLang="en-US" sz="900" dirty="0">
                <a:solidFill>
                  <a:schemeClr val="accent5"/>
                </a:solidFill>
              </a:rPr>
              <a:t>Sources : statistiques Instagram et YouTube, chiffres de la tournée fournis par le client.</a:t>
            </a:r>
            <a:endParaRPr lang="fr-FR"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fr-FR" altLang="en-US" sz="1100" b="1" spc="300" kern="0" dirty="0">
                <a:solidFill>
                  <a:schemeClr val="accent1"/>
                </a:solidFill>
              </a:rPr>
              <a:t>LA DEMANDE</a:t>
            </a:r>
            <a:endParaRPr lang="fr-FR"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fr-FR" altLang="en-US" sz="3800" dirty="0">
                <a:solidFill>
                  <a:schemeClr val="bg1"/>
                </a:solidFill>
              </a:rPr>
              <a:t>Construisons ensemble la 5e édition</a:t>
            </a:r>
            <a:endParaRPr lang="fr-FR" sz="3800" dirty="0"/>
          </a:p>
        </p:txBody>
      </p:sp>
      <p:pic>
        <p:nvPicPr>
          <p:cNvPr id="6" name="Photo poster2026" descr="Affiche Mother Africa Festival 2026 : Davido, 27 et 28 décembre,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240280"/>
            <a:ext cx="457200" cy="457200"/>
          </a:xfrm>
          <a:prstGeom prst="ellipse">
            <a:avLst/>
          </a:prstGeom>
          <a:solidFill>
            <a:schemeClr val="accent1"/>
          </a:solidFill>
          <a:ln/>
        </p:spPr>
      </p:sp>
      <p:sp>
        <p:nvSpPr>
          <p:cNvPr id="8" name="Text 3"/>
          <p:cNvSpPr txBox="1"/>
          <p:nvPr/>
        </p:nvSpPr>
        <p:spPr>
          <a:xfrm>
            <a:off x="548640" y="22402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1</a:t>
            </a:r>
            <a:endParaRPr lang="fr-FR" sz="1400" dirty="0"/>
          </a:p>
        </p:txBody>
      </p:sp>
      <p:sp>
        <p:nvSpPr>
          <p:cNvPr id="9" name="Text 4"/>
          <p:cNvSpPr txBox="1"/>
          <p:nvPr/>
        </p:nvSpPr>
        <p:spPr>
          <a:xfrm>
            <a:off x="1188720" y="2240280"/>
            <a:ext cx="5943600" cy="457200"/>
          </a:xfrm>
          <a:prstGeom prst="rect">
            <a:avLst/>
          </a:prstGeom>
          <a:noFill/>
          <a:ln/>
        </p:spPr>
        <p:txBody>
          <a:bodyPr wrap="square" lIns="0" tIns="0" rIns="0" bIns="0" rtlCol="0" anchor="ctr"/>
          <a:lstStyle/>
          <a:p>
            <a:pPr indent="0" marL="0">
              <a:buNone/>
            </a:pPr>
            <a:r>
              <a:rPr lang="fr-FR" altLang="en-US" sz="2000" dirty="0">
                <a:solidFill>
                  <a:schemeClr val="bg1"/>
                </a:solidFill>
                <a:latin typeface="+mj-lt" pitchFamily="34" charset="0"/>
                <a:ea typeface="+mj-lt" pitchFamily="34" charset="-122"/>
                <a:cs typeface="+mj-lt" pitchFamily="34" charset="-120"/>
              </a:rPr>
              <a:t>Valider le périmètre et fixer les objectifs</a:t>
            </a:r>
            <a:endParaRPr lang="fr-FR" sz="2000" dirty="0"/>
          </a:p>
        </p:txBody>
      </p:sp>
      <p:sp>
        <p:nvSpPr>
          <p:cNvPr id="10" name="Shape 5"/>
          <p:cNvSpPr/>
          <p:nvPr/>
        </p:nvSpPr>
        <p:spPr>
          <a:xfrm>
            <a:off x="548640" y="2926080"/>
            <a:ext cx="457200" cy="457200"/>
          </a:xfrm>
          <a:prstGeom prst="ellipse">
            <a:avLst/>
          </a:prstGeom>
          <a:solidFill>
            <a:schemeClr val="accent1"/>
          </a:solidFill>
          <a:ln/>
        </p:spPr>
      </p:sp>
      <p:sp>
        <p:nvSpPr>
          <p:cNvPr id="11" name="Text 6"/>
          <p:cNvSpPr txBox="1"/>
          <p:nvPr/>
        </p:nvSpPr>
        <p:spPr>
          <a:xfrm>
            <a:off x="548640" y="29260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2</a:t>
            </a:r>
            <a:endParaRPr lang="fr-FR" sz="1400" dirty="0"/>
          </a:p>
        </p:txBody>
      </p:sp>
      <p:sp>
        <p:nvSpPr>
          <p:cNvPr id="12" name="Text 7"/>
          <p:cNvSpPr txBox="1"/>
          <p:nvPr/>
        </p:nvSpPr>
        <p:spPr>
          <a:xfrm>
            <a:off x="1188720" y="2926080"/>
            <a:ext cx="5943600" cy="457200"/>
          </a:xfrm>
          <a:prstGeom prst="rect">
            <a:avLst/>
          </a:prstGeom>
          <a:noFill/>
          <a:ln/>
        </p:spPr>
        <p:txBody>
          <a:bodyPr wrap="square" lIns="0" tIns="0" rIns="0" bIns="0" rtlCol="0" anchor="ctr"/>
          <a:lstStyle/>
          <a:p>
            <a:pPr indent="0" marL="0">
              <a:buNone/>
            </a:pPr>
            <a:r>
              <a:rPr lang="fr-FR" altLang="en-US" sz="2000" dirty="0">
                <a:solidFill>
                  <a:schemeClr val="bg1"/>
                </a:solidFill>
                <a:latin typeface="+mj-lt" pitchFamily="34" charset="0"/>
                <a:ea typeface="+mj-lt" pitchFamily="34" charset="-122"/>
                <a:cs typeface="+mj-lt" pitchFamily="34" charset="-120"/>
              </a:rPr>
              <a:t>Approuver la sélection de créateurs</a:t>
            </a:r>
            <a:endParaRPr lang="fr-FR" sz="2000" dirty="0"/>
          </a:p>
        </p:txBody>
      </p:sp>
      <p:sp>
        <p:nvSpPr>
          <p:cNvPr id="13" name="Shape 8"/>
          <p:cNvSpPr/>
          <p:nvPr/>
        </p:nvSpPr>
        <p:spPr>
          <a:xfrm>
            <a:off x="548640" y="3611880"/>
            <a:ext cx="457200" cy="457200"/>
          </a:xfrm>
          <a:prstGeom prst="ellipse">
            <a:avLst/>
          </a:prstGeom>
          <a:solidFill>
            <a:schemeClr val="accent1"/>
          </a:solidFill>
          <a:ln/>
        </p:spPr>
      </p:sp>
      <p:sp>
        <p:nvSpPr>
          <p:cNvPr id="14" name="Text 9"/>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3</a:t>
            </a:r>
            <a:endParaRPr lang="fr-FR" sz="1400" dirty="0"/>
          </a:p>
        </p:txBody>
      </p:sp>
      <p:sp>
        <p:nvSpPr>
          <p:cNvPr id="15" name="Text 10"/>
          <p:cNvSpPr txBox="1"/>
          <p:nvPr/>
        </p:nvSpPr>
        <p:spPr>
          <a:xfrm>
            <a:off x="1188720" y="3611880"/>
            <a:ext cx="5943600" cy="457200"/>
          </a:xfrm>
          <a:prstGeom prst="rect">
            <a:avLst/>
          </a:prstGeom>
          <a:noFill/>
          <a:ln/>
        </p:spPr>
        <p:txBody>
          <a:bodyPr wrap="square" lIns="0" tIns="0" rIns="0" bIns="0" rtlCol="0" anchor="ctr"/>
          <a:lstStyle/>
          <a:p>
            <a:pPr indent="0" marL="0">
              <a:buNone/>
            </a:pPr>
            <a:r>
              <a:rPr lang="fr-FR" altLang="en-US" sz="2000" dirty="0">
                <a:solidFill>
                  <a:schemeClr val="bg1"/>
                </a:solidFill>
                <a:latin typeface="+mj-lt" pitchFamily="34" charset="0"/>
                <a:ea typeface="+mj-lt" pitchFamily="34" charset="-122"/>
                <a:cs typeface="+mj-lt" pitchFamily="34" charset="-120"/>
              </a:rPr>
              <a:t>Créateurs engagés et briefés</a:t>
            </a:r>
            <a:endParaRPr lang="fr-FR" sz="2000" dirty="0"/>
          </a:p>
        </p:txBody>
      </p:sp>
      <p:sp>
        <p:nvSpPr>
          <p:cNvPr id="16" name="Shape 11"/>
          <p:cNvSpPr/>
          <p:nvPr/>
        </p:nvSpPr>
        <p:spPr>
          <a:xfrm>
            <a:off x="548640" y="4297680"/>
            <a:ext cx="457200" cy="457200"/>
          </a:xfrm>
          <a:prstGeom prst="ellipse">
            <a:avLst/>
          </a:prstGeom>
          <a:solidFill>
            <a:schemeClr val="accent1"/>
          </a:solidFill>
          <a:ln/>
        </p:spPr>
      </p:sp>
      <p:sp>
        <p:nvSpPr>
          <p:cNvPr id="17" name="Text 12"/>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fr-FR" altLang="en-US" sz="1400" b="1" dirty="0">
                <a:solidFill>
                  <a:schemeClr val="tx1"/>
                </a:solidFill>
              </a:rPr>
              <a:t>4</a:t>
            </a:r>
            <a:endParaRPr lang="fr-FR" sz="1400" dirty="0"/>
          </a:p>
        </p:txBody>
      </p:sp>
      <p:sp>
        <p:nvSpPr>
          <p:cNvPr id="18" name="Text 13"/>
          <p:cNvSpPr txBox="1"/>
          <p:nvPr/>
        </p:nvSpPr>
        <p:spPr>
          <a:xfrm>
            <a:off x="1188720" y="4297680"/>
            <a:ext cx="5943600" cy="457200"/>
          </a:xfrm>
          <a:prstGeom prst="rect">
            <a:avLst/>
          </a:prstGeom>
          <a:noFill/>
          <a:ln/>
        </p:spPr>
        <p:txBody>
          <a:bodyPr wrap="square" lIns="0" tIns="0" rIns="0" bIns="0" rtlCol="0" anchor="ctr"/>
          <a:lstStyle/>
          <a:p>
            <a:pPr indent="0" marL="0">
              <a:buNone/>
            </a:pPr>
            <a:r>
              <a:rPr lang="fr-FR" altLang="en-US" sz="2000" dirty="0">
                <a:solidFill>
                  <a:schemeClr val="bg1"/>
                </a:solidFill>
                <a:latin typeface="+mj-lt" pitchFamily="34" charset="0"/>
                <a:ea typeface="+mj-lt" pitchFamily="34" charset="-122"/>
                <a:cs typeface="+mj-lt" pitchFamily="34" charset="-120"/>
              </a:rPr>
              <a:t>Premiers contenus en ligne</a:t>
            </a:r>
            <a:endParaRPr lang="fr-FR" sz="2000" dirty="0"/>
          </a:p>
        </p:txBody>
      </p:sp>
      <p:sp>
        <p:nvSpPr>
          <p:cNvPr id="19" name="Shape 14"/>
          <p:cNvSpPr/>
          <p:nvPr/>
        </p:nvSpPr>
        <p:spPr>
          <a:xfrm>
            <a:off x="548640" y="5257800"/>
            <a:ext cx="11094415" cy="0"/>
          </a:xfrm>
          <a:prstGeom prst="line">
            <a:avLst/>
          </a:prstGeom>
          <a:noFill/>
          <a:ln w="12700">
            <a:solidFill>
              <a:schemeClr val="accent1"/>
            </a:solidFill>
            <a:prstDash val="solid"/>
          </a:ln>
        </p:spPr>
      </p:sp>
      <p:sp>
        <p:nvSpPr>
          <p:cNvPr id="20" name="Text 15"/>
          <p:cNvSpPr txBox="1"/>
          <p:nvPr/>
        </p:nvSpPr>
        <p:spPr>
          <a:xfrm>
            <a:off x="548640" y="54406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COURRIEL</a:t>
            </a:r>
            <a:endParaRPr lang="fr-FR" sz="1100" dirty="0"/>
          </a:p>
        </p:txBody>
      </p:sp>
      <p:sp>
        <p:nvSpPr>
          <p:cNvPr id="21" name="Text 16"/>
          <p:cNvSpPr txBox="1"/>
          <p:nvPr/>
        </p:nvSpPr>
        <p:spPr>
          <a:xfrm>
            <a:off x="548640" y="5715000"/>
            <a:ext cx="3291840" cy="274320"/>
          </a:xfrm>
          <a:prstGeom prst="rect">
            <a:avLst/>
          </a:prstGeom>
          <a:noFill/>
          <a:ln/>
        </p:spPr>
        <p:txBody>
          <a:bodyPr wrap="square" lIns="0" tIns="0" rIns="0" bIns="0" rtlCol="0" anchor="t"/>
          <a:lstStyle/>
          <a:p>
            <a:pPr indent="0" marL="0">
              <a:buNone/>
            </a:pPr>
            <a:r>
              <a:rPr lang="fr-FR" altLang="en-US" sz="1300" dirty="0">
                <a:solidFill>
                  <a:schemeClr val="bg1"/>
                </a:solidFill>
              </a:rPr>
              <a:t>baba@atoureconsulting.com</a:t>
            </a:r>
            <a:endParaRPr lang="fr-FR" sz="1300" dirty="0"/>
          </a:p>
        </p:txBody>
      </p:sp>
      <p:sp>
        <p:nvSpPr>
          <p:cNvPr id="22" name="Text 17"/>
          <p:cNvSpPr txBox="1"/>
          <p:nvPr/>
        </p:nvSpPr>
        <p:spPr>
          <a:xfrm>
            <a:off x="4114800" y="54406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WHATSAPP</a:t>
            </a:r>
            <a:endParaRPr lang="fr-FR" sz="1100" dirty="0"/>
          </a:p>
        </p:txBody>
      </p:sp>
      <p:sp>
        <p:nvSpPr>
          <p:cNvPr id="23" name="Text 18"/>
          <p:cNvSpPr txBox="1"/>
          <p:nvPr/>
        </p:nvSpPr>
        <p:spPr>
          <a:xfrm>
            <a:off x="4114800" y="5715000"/>
            <a:ext cx="3291840" cy="274320"/>
          </a:xfrm>
          <a:prstGeom prst="rect">
            <a:avLst/>
          </a:prstGeom>
          <a:noFill/>
          <a:ln/>
        </p:spPr>
        <p:txBody>
          <a:bodyPr wrap="square" lIns="0" tIns="0" rIns="0" bIns="0" rtlCol="0" anchor="t"/>
          <a:lstStyle/>
          <a:p>
            <a:pPr indent="0" marL="0">
              <a:buNone/>
            </a:pPr>
            <a:r>
              <a:rPr lang="fr-FR" altLang="en-US" sz="1300" dirty="0">
                <a:solidFill>
                  <a:schemeClr val="bg1"/>
                </a:solidFill>
              </a:rPr>
              <a:t>+44 7456 728616</a:t>
            </a:r>
            <a:endParaRPr lang="fr-FR" sz="1300" dirty="0"/>
          </a:p>
        </p:txBody>
      </p:sp>
      <p:sp>
        <p:nvSpPr>
          <p:cNvPr id="24" name="Text 19"/>
          <p:cNvSpPr txBox="1"/>
          <p:nvPr/>
        </p:nvSpPr>
        <p:spPr>
          <a:xfrm>
            <a:off x="7132320" y="5440680"/>
            <a:ext cx="2743200" cy="256032"/>
          </a:xfrm>
          <a:prstGeom prst="rect">
            <a:avLst/>
          </a:prstGeom>
          <a:noFill/>
          <a:ln/>
        </p:spPr>
        <p:txBody>
          <a:bodyPr wrap="square" lIns="0" tIns="0" rIns="0" bIns="0" rtlCol="0" anchor="t"/>
          <a:lstStyle/>
          <a:p>
            <a:pPr indent="0" marL="0">
              <a:buNone/>
            </a:pPr>
            <a:r>
              <a:rPr lang="fr-FR" altLang="en-US" sz="1100" b="1" spc="300" kern="0" dirty="0">
                <a:solidFill>
                  <a:schemeClr val="accent1"/>
                </a:solidFill>
              </a:rPr>
              <a:t>EN LIGNE</a:t>
            </a:r>
            <a:endParaRPr lang="fr-FR" sz="1100" dirty="0"/>
          </a:p>
        </p:txBody>
      </p:sp>
      <p:sp>
        <p:nvSpPr>
          <p:cNvPr id="25" name="Text 20"/>
          <p:cNvSpPr txBox="1"/>
          <p:nvPr/>
        </p:nvSpPr>
        <p:spPr>
          <a:xfrm>
            <a:off x="7132320" y="5715000"/>
            <a:ext cx="5029200" cy="274320"/>
          </a:xfrm>
          <a:prstGeom prst="rect">
            <a:avLst/>
          </a:prstGeom>
          <a:noFill/>
          <a:ln/>
        </p:spPr>
        <p:txBody>
          <a:bodyPr wrap="square" lIns="0" tIns="0" rIns="0" bIns="0" rtlCol="0" anchor="t"/>
          <a:lstStyle/>
          <a:p>
            <a:pPr indent="0" marL="0">
              <a:buNone/>
            </a:pPr>
            <a:r>
              <a:rPr lang="fr-FR" altLang="en-US" sz="1300" dirty="0">
                <a:solidFill>
                  <a:schemeClr val="bg1"/>
                </a:solidFill>
              </a:rPr>
              <a:t>atoureconsulting.com  ·  @atoure.management</a:t>
            </a:r>
            <a:endParaRPr lang="fr-FR" sz="1300" dirty="0"/>
          </a:p>
        </p:txBody>
      </p:sp>
      <p:sp>
        <p:nvSpPr>
          <p:cNvPr id="26" name="Text 21"/>
          <p:cNvSpPr txBox="1"/>
          <p:nvPr/>
        </p:nvSpPr>
        <p:spPr>
          <a:xfrm>
            <a:off x="548640" y="6263640"/>
            <a:ext cx="7315200" cy="237744"/>
          </a:xfrm>
          <a:prstGeom prst="rect">
            <a:avLst/>
          </a:prstGeom>
          <a:noFill/>
          <a:ln/>
        </p:spPr>
        <p:txBody>
          <a:bodyPr wrap="square" lIns="0" tIns="0" rIns="0" bIns="0" rtlCol="0" anchor="t"/>
          <a:lstStyle/>
          <a:p>
            <a:pPr indent="0" marL="0">
              <a:buNone/>
            </a:pPr>
            <a:r>
              <a:rPr lang="fr-FR" altLang="en-US" sz="1100" dirty="0">
                <a:solidFill>
                  <a:schemeClr val="accent5"/>
                </a:solidFill>
              </a:rPr>
              <a:t>Baba Touré, Directeur. AToure Management &amp; Consulting.</a:t>
            </a:r>
            <a:endParaRPr lang="fr-FR" sz="1100" dirty="0"/>
          </a:p>
        </p:txBody>
      </p:sp>
      <p:pic>
        <p:nvPicPr>
          <p:cNvPr id="27"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proposition pour la 5e édition</dc:title>
  <dc:subject>Accès aux talents, gestion des créateurs sur le terrain et rapport de visibilité</dc:subject>
  <dc:creator>AToure Management &amp; Consulting</dc:creator>
  <cp:lastModifiedBy>AToure Management &amp; Consulting</cp:lastModifiedBy>
  <cp:revision>1</cp:revision>
  <dcterms:created xsi:type="dcterms:W3CDTF">2026-10-30T21:00:53Z</dcterms:created>
  <dcterms:modified xsi:type="dcterms:W3CDTF">2026-10-30T21:00:53Z</dcterms:modified>
</cp:coreProperties>
</file>