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354458-7b03-ce9b-95cc-f23c95f8a679}">
          <p14:sldIdLst>
            <p14:sldId id="256"/>
          </p14:sldIdLst>
        </p14:section>
        <p14:section name="Where we stand" id="{807591e4-ca4d-c80c-cc28-ce535a68e555}">
          <p14:sldIdLst>
            <p14:sldId id="257"/>
            <p14:sldId id="258"/>
          </p14:sldIdLst>
        </p14:section>
        <p14:section name="The AToure answer" id="{2ccc0e7f-3be1-42a2-112b-fb520960a4d3}">
          <p14:sldIdLst>
            <p14:sldId id="259"/>
            <p14:sldId id="260"/>
          </p14:sldIdLst>
        </p14:section>
        <p14:section name="Visibility" id="{4f0cc013-ed16-31c1-f320-f00396fed880}">
          <p14:sldIdLst>
            <p14:sldId id="261"/>
            <p14:sldId id="262"/>
          </p14:sldIdLst>
        </p14:section>
        <p14:section name="The visibility report" id="{8eb308de-b9cd-c380-2333-b7c85db1df64}">
          <p14:sldIdLst>
            <p14:sldId id="263"/>
            <p14:sldId id="264"/>
          </p14:sldIdLst>
        </p14:section>
        <p14:section name="Proof" id="{bea4a2c9-a6c1-f697-9fc4-ba3a437d0f2e}">
          <p14:sldIdLst>
            <p14:sldId id="265"/>
          </p14:sldIdLst>
        </p14:section>
        <p14:section name="The ask" id="{28a184f7-8718-fd31-4fd0-645d471964e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public reporting and the festival’s own announcements, so ask the team to correct anything we have wrong. 15,000 and 40 percent are the figures reported for the first edition in December 2022. 20,000 is what the organisers expect for the 5th edition, not a result. The 1 billion FCFA figure is the festival’s weight as a sponsorship instrument. The right side is what any festival needs once it sells its audience to sponsors: present it as the next stage, not as a list of faults. Sources: Africa Radio, Music In Africa, Abidjan.net, Liferadio, France 24, Pulse and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Look at any picture from the festival: phones up everywhere. That content already exists, but nobody directs it and nobody counts it. The revenue model is the chain at the bottom: more creators bring more visibility, visibility meets the brands’ goals, and met goals bring sponsor and investor money back for 2027. AToure supplies the creators and the proof at every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run by one team. Talent access brings the right creators. Creator management means AToure runs them on the ground as the operator, not as a middleman. The visibility report turns everything they post into numbers the festival can put in front of sponsors. The report is the product: it is what makes the creator spend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The revenue model is the same chain as before, seen from the sponsor’s side: more creators bring more visibility, visibility meets the brands’ goals, and met goals bring sponsor money back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and for each one where the number comes from. Creators send their analytics as screen recordings, which is written into their agreement. Ticket clicks come from tracked links; codes only if the festival supplies them, to confirm with Tikerama. Targets for each line are agreed with the festival before the build up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dates. A one page weekly pulse during the build up, so effort moves to the creators who are working. A check 48 hours after the festival: who posted, where, against which brief. The full report on day 14, by 11 January 2027, as a PDF for the board and sponsors with a web version. The page on the right is a sample layout only; it shows no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Abidjan, AToure built the IShowSpeed operation from zero. In Morocco it delivered the AFCON mascot reveal with CAF and the Royal Moroccan Football Federation. The Ashton Hall tour covered five countries, managed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 be ready for 27 December, the work starts on Monday 2 November. Four steps: confirm the scope and targets this week, approve the shortlist by 13 November, creators signed and briefed by 20 November, build up content live from 23 November.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6949440" cy="1600200"/>
          </a:xfrm>
          <a:prstGeom prst="rect">
            <a:avLst/>
          </a:prstGeom>
          <a:noFill/>
          <a:ln/>
        </p:spPr>
        <p:txBody>
          <a:bodyPr wrap="square" rtlCol="0"/>
          <a:lstStyle>
            <a:lvl1pPr algn="l" indent="0" marL="0">
              <a:lnSpc>
                <a:spcPct val="95000"/>
              </a:lnSpc>
              <a:buNone/>
              <a:defRPr lang="en-US" sz="5000" dirty="0">
                <a:solidFill>
                  <a:schemeClr val="bg1"/>
                </a:solidFill>
              </a:defRPr>
            </a:lvl1pPr>
          </a:lstStyle>
          <a:p>
            <a:pPr algn="l" indent="0" marL="0">
              <a:lnSpc>
                <a:spcPct val="95000"/>
              </a:lnSpc>
              <a:buNone/>
            </a:pPr>
            <a:endParaRPr lang="en-US" sz="50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2.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8362372" y="1472184"/>
            <a:ext cx="3134380" cy="4206240"/>
          </a:xfrm>
          <a:prstGeom prst="rect">
            <a:avLst/>
          </a:prstGeom>
          <a:ln w="15875">
            <a:solidFill>
              <a:schemeClr val="accent1"/>
            </a:solidFill>
            <a:prstDash val="solid"/>
          </a:ln>
        </p:spPr>
      </p:sp>
      <p:pic>
        <p:nvPicPr>
          <p:cNvPr id="4" name="Photo poster2026" descr="Mother Africa Festival 2026 poster: Davido, 27 and 28 December, Marcory Zone 4, Abidjan, 5th edition anniversary">    </p:cNvPr>
          <p:cNvPicPr>
            <a:picLocks noChangeAspect="1"/>
          </p:cNvPicPr>
          <p:nvPr/>
        </p:nvPicPr>
        <p:blipFill>
          <a:blip r:embed="rId2"/>
          <a:stretch>
            <a:fillRect/>
          </a:stretch>
        </p:blipFill>
        <p:spPr>
          <a:xfrm>
            <a:off x="8508676" y="1325880"/>
            <a:ext cx="3134380" cy="4206240"/>
          </a:xfrm>
          <a:prstGeom prst="rect">
            <a:avLst/>
          </a:prstGeom>
        </p:spPr>
      </p:pic>
      <p:sp>
        <p:nvSpPr>
          <p:cNvPr id="5" name="Text 0"/>
          <p:cNvSpPr/>
          <p:nvPr>
            <p:ph idx="100" type="title" hasCustomPrompt="1"/>
          </p:nvPr>
        </p:nvSpPr>
        <p:spPr>
          <a:xfrm>
            <a:off x="548640" y="2377440"/>
            <a:ext cx="6949440" cy="1600200"/>
          </a:xfrm>
          <a:prstGeom prst="rect">
            <a:avLst/>
          </a:prstGeom>
          <a:noFill/>
          <a:ln/>
        </p:spPr>
        <p:txBody>
          <a:bodyPr wrap="square" lIns="0" tIns="0" rIns="0" bIns="0" rtlCol="0" anchor="t"/>
          <a:lstStyle/>
          <a:p>
            <a:pPr algn="l" indent="0" marL="0">
              <a:lnSpc>
                <a:spcPct val="95000"/>
              </a:lnSpc>
              <a:buNone/>
            </a:pPr>
            <a:r>
              <a:rPr lang="en-GB" altLang="en-US" sz="5000" dirty="0">
                <a:solidFill>
                  <a:schemeClr val="bg1"/>
                </a:solidFill>
              </a:rPr>
              <a:t>Maximising Mother Africa visibility</a:t>
            </a:r>
            <a:endParaRPr lang="en-GB" sz="5000" dirty="0"/>
          </a:p>
        </p:txBody>
      </p:sp>
      <p:sp>
        <p:nvSpPr>
          <p:cNvPr id="6"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r>
              <a:rPr lang="en-GB" altLang="en-US" sz="1600" dirty="0">
                <a:solidFill>
                  <a:schemeClr val="accent5"/>
                </a:solidFill>
              </a:rPr>
              <a:t>A proposal for the 5th edition of Mother Africa Festival: talent access, creator management on the ground and one visibility report.</a:t>
            </a:r>
            <a:endParaRPr lang="en-GB" sz="1600" dirty="0"/>
          </a:p>
          <a:p>
            <a:pPr algn="l" indent="0" marL="0">
              <a:lnSpc>
                <a:spcPct val="115000"/>
              </a:lnSpc>
              <a:buNone/>
            </a:pPr>
            <a:r>
              <a:rPr lang="en-GB" altLang="en-US" sz="1600" dirty="0">
                <a:solidFill>
                  <a:schemeClr val="accent5"/>
                </a:solidFill>
              </a:rPr>
              <a:t>27 and 28 December 2026, Marcory Zone 4, Abidjan.</a:t>
            </a:r>
            <a:endParaRPr lang="en-GB" sz="1600" dirty="0"/>
          </a:p>
        </p:txBody>
      </p:sp>
      <p:sp>
        <p:nvSpPr>
          <p:cNvPr id="8" name="Text 3"/>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9" name="Image 2" descr="AToure Management &amp; Consulting">    </p:cNvPr>
          <p:cNvPicPr>
            <a:picLocks noChangeAspect="1"/>
          </p:cNvPicPr>
          <p:nvPr/>
        </p:nvPicPr>
        <p:blipFill>
          <a:blip r:embed="rId3"/>
          <a:stretch>
            <a:fillRect/>
          </a:stretch>
        </p:blipFill>
        <p:spPr>
          <a:xfrm>
            <a:off x="548640" y="1371600"/>
            <a:ext cx="2377440" cy="380390"/>
          </a:xfrm>
          <a:prstGeom prst="rect">
            <a:avLst/>
          </a:prstGeom>
        </p:spPr>
      </p:pic>
      <p:sp>
        <p:nvSpPr>
          <p:cNvPr id="10" name="Text 4"/>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1" name="Image 3" descr="Mother Africa Festival">    </p:cNvPr>
          <p:cNvPicPr>
            <a:picLocks noChangeAspect="1"/>
          </p:cNvPicPr>
          <p:nvPr/>
        </p:nvPicPr>
        <p:blipFill>
          <a:blip r:embed="rId4"/>
          <a:stretch>
            <a:fillRect/>
          </a:stretch>
        </p:blipFill>
        <p:spPr>
          <a:xfrm>
            <a:off x="3474720" y="1005840"/>
            <a:ext cx="1224254" cy="868680"/>
          </a:xfrm>
          <a:prstGeom prst="rect">
            <a:avLst/>
          </a:prstGeom>
        </p:spPr>
      </p:pic>
      <p:sp>
        <p:nvSpPr>
          <p:cNvPr id="12" name="Shape 5"/>
          <p:cNvSpPr/>
          <p:nvPr/>
        </p:nvSpPr>
        <p:spPr>
          <a:xfrm>
            <a:off x="548640" y="5760720"/>
            <a:ext cx="1463040" cy="0"/>
          </a:xfrm>
          <a:prstGeom prst="line">
            <a:avLst/>
          </a:prstGeom>
          <a:noFill/>
          <a:ln w="25400">
            <a:solidFill>
              <a:schemeClr val="accent2"/>
            </a:solidFill>
            <a:prstDash val="solid"/>
          </a:ln>
        </p:spPr>
      </p:sp>
      <p:sp>
        <p:nvSpPr>
          <p:cNvPr id="13"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Four editions in, this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15,000+</a:t>
            </a:r>
            <a:endParaRPr lang="en-GB"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Festival goers at the first edition, December 2022</a:t>
            </a:r>
            <a:endParaRPr lang="en-GB"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40%</a:t>
            </a:r>
            <a:endParaRPr lang="en-GB"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Of them came from other countries, as reported</a:t>
            </a:r>
            <a:endParaRPr lang="en-GB"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20,000+</a:t>
            </a:r>
            <a:endParaRPr lang="en-GB"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Expected at the 5th edition, according to the organisers</a:t>
            </a:r>
            <a:endParaRPr lang="en-GB"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1B+ FCFA</a:t>
            </a:r>
            <a:endParaRPr lang="en-GB"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en-GB" altLang="en-US" sz="1200" dirty="0">
                <a:solidFill>
                  <a:schemeClr val="accent5"/>
                </a:solidFill>
              </a:rPr>
              <a:t>Over 1 billion FCFA: the festival as a sponsorship instrument</a:t>
            </a:r>
            <a:endParaRPr lang="en-GB"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THE STORY SO FAR</a:t>
            </a:r>
            <a:endParaRPr lang="en-GB"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2022</a:t>
            </a:r>
            <a:endParaRPr lang="en-GB"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First edition, 28 to 30 December in Abidjan</a:t>
            </a:r>
            <a:endParaRPr lang="en-GB"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2023</a:t>
            </a:r>
            <a:endParaRPr lang="en-GB"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2nd edition: Aya Nakamura, Ayra Starr</a:t>
            </a:r>
            <a:endParaRPr lang="en-GB"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2024</a:t>
            </a:r>
            <a:endParaRPr lang="en-GB"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3rd edition: Dadju and Tayc</a:t>
            </a:r>
            <a:endParaRPr lang="en-GB"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2025</a:t>
            </a:r>
            <a:endParaRPr lang="en-GB"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4th edition: Gims, Asake. On France 24</a:t>
            </a:r>
            <a:endParaRPr lang="en-GB"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en-GB" altLang="en-US" sz="1300" b="1" dirty="0">
                <a:solidFill>
                  <a:schemeClr val="accent3"/>
                </a:solidFill>
              </a:rPr>
              <a:t>2026</a:t>
            </a:r>
            <a:endParaRPr lang="en-GB"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5th edition: Davido headlines</a:t>
            </a:r>
            <a:endParaRPr lang="en-GB"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en-GB" altLang="en-US" sz="950" i="1" dirty="0">
                <a:solidFill>
                  <a:schemeClr val="tx2"/>
                </a:solidFill>
              </a:rPr>
              <a:t>Sources: Africa Radio, Music In Africa, Abidjan.net, Liferadio, France 24, Pulse, allAfrica. 20,000+ is the organisers’ expected figure.</a:t>
            </a:r>
            <a:endParaRPr lang="en-GB"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Set the foundation in the anniversary year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en-GB" altLang="en-US" sz="1500" dirty="0">
                <a:solidFill>
                  <a:schemeClr val="accent5"/>
                </a:solidFill>
              </a:rPr>
              <a:t>Five editions in, with Davido headlining, sponsors will ask what the Mother Africa audience is worth. Every number the festival produces now builds that case.</a:t>
            </a:r>
            <a:endParaRPr lang="en-GB"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5th</a:t>
            </a:r>
            <a:endParaRPr lang="en-GB"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ANNIVERSARY EDITION</a:t>
            </a:r>
            <a:endParaRPr lang="en-GB"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2 nights</a:t>
            </a:r>
            <a:endParaRPr lang="en-GB"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27 AND 28 DECEMBER, MARCORY ZONE 4</a:t>
            </a:r>
            <a:endParaRPr lang="en-GB"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2"/>
                </a:solidFill>
              </a:rPr>
              <a:t>Davido</a:t>
            </a:r>
            <a:endParaRPr lang="en-GB"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HEADLINER, FOLLOWED ACROSS AFRICA AND THE DIASPORA</a:t>
            </a:r>
            <a:endParaRPr lang="en-GB"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A crowd holding up their phones to film a performer on stage at nigh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Your audience is already filming</a:t>
            </a:r>
            <a:endParaRPr lang="en-GB"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en-GB" altLang="en-US" sz="1300" dirty="0">
                <a:solidFill>
                  <a:schemeClr val="accent5"/>
                </a:solidFill>
              </a:rPr>
              <a:t>Every phone in the crowd is a camera. AToure makes sure the right creators are holding them, and counts what they deliver.</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Three layers, one operator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548640" y="1783080"/>
            <a:ext cx="3511296" cy="457200"/>
          </a:xfrm>
          <a:prstGeom prst="rect">
            <a:avLst/>
          </a:prstGeom>
          <a:solidFill>
            <a:schemeClr val="accent1"/>
          </a:solidFill>
          <a:ln/>
        </p:spPr>
      </p:sp>
      <p:sp>
        <p:nvSpPr>
          <p:cNvPr id="10" name="Text 5"/>
          <p:cNvSpPr txBox="1"/>
          <p:nvPr/>
        </p:nvSpPr>
        <p:spPr>
          <a:xfrm>
            <a:off x="777240"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01</a:t>
            </a:r>
            <a:endParaRPr lang="en-GB" sz="1300" dirty="0"/>
          </a:p>
        </p:txBody>
      </p:sp>
      <p:sp>
        <p:nvSpPr>
          <p:cNvPr id="11" name="Text 6"/>
          <p:cNvSpPr txBox="1"/>
          <p:nvPr/>
        </p:nvSpPr>
        <p:spPr>
          <a:xfrm>
            <a:off x="777240"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Talent access</a:t>
            </a:r>
            <a:endParaRPr lang="en-GB" sz="2200" dirty="0"/>
          </a:p>
        </p:txBody>
      </p:sp>
      <p:sp>
        <p:nvSpPr>
          <p:cNvPr id="12" name="Text 7"/>
          <p:cNvSpPr txBox="1"/>
          <p:nvPr/>
        </p:nvSpPr>
        <p:spPr>
          <a:xfrm>
            <a:off x="777240"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Creators matched to the audiences Mother Africa wants</a:t>
            </a:r>
            <a:endParaRPr lang="en-GB" sz="1400" dirty="0"/>
          </a:p>
          <a:p>
            <a:pPr marL="177800" indent="-177800">
              <a:spcAft>
                <a:spcPts val="600"/>
              </a:spcAft>
              <a:buSzPct val="100000"/>
              <a:buChar char="•"/>
            </a:pPr>
            <a:r>
              <a:rPr lang="en-GB" altLang="en-US" sz="1400" dirty="0">
                <a:solidFill>
                  <a:schemeClr val="tx2"/>
                </a:solidFill>
              </a:rPr>
              <a:t>Music, fashion and lifestyle voices in Abidjan and the diaspora</a:t>
            </a:r>
            <a:endParaRPr lang="en-GB" sz="1400" dirty="0"/>
          </a:p>
          <a:p>
            <a:pPr marL="177800" indent="-177800">
              <a:spcAft>
                <a:spcPts val="600"/>
              </a:spcAft>
              <a:buSzPct val="100000"/>
              <a:buChar char="•"/>
            </a:pPr>
            <a:r>
              <a:rPr lang="en-GB" altLang="en-US" sz="1400" dirty="0">
                <a:solidFill>
                  <a:schemeClr val="tx2"/>
                </a:solidFill>
              </a:rPr>
              <a:t>DJs and streamers for the headline sets</a:t>
            </a:r>
            <a:endParaRPr lang="en-GB" sz="1400" dirty="0"/>
          </a:p>
          <a:p>
            <a:pPr marL="177800" indent="-177800">
              <a:spcAft>
                <a:spcPts val="600"/>
              </a:spcAft>
              <a:buSzPct val="100000"/>
              <a:buChar char="•"/>
            </a:pPr>
            <a:r>
              <a:rPr lang="en-GB" altLang="en-US" sz="1400" dirty="0">
                <a:solidFill>
                  <a:schemeClr val="tx2"/>
                </a:solidFill>
              </a:rPr>
              <a:t>VIP invitations organised for talent</a:t>
            </a:r>
            <a:endParaRPr lang="en-GB" sz="1400" dirty="0"/>
          </a:p>
        </p:txBody>
      </p:sp>
      <p:sp>
        <p:nvSpPr>
          <p:cNvPr id="13" name="Shape 8"/>
          <p:cNvSpPr/>
          <p:nvPr/>
        </p:nvSpPr>
        <p:spPr>
          <a:xfrm>
            <a:off x="4338828"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4" name="Shape 9"/>
          <p:cNvSpPr/>
          <p:nvPr/>
        </p:nvSpPr>
        <p:spPr>
          <a:xfrm>
            <a:off x="4338828" y="1783080"/>
            <a:ext cx="3511296" cy="457200"/>
          </a:xfrm>
          <a:prstGeom prst="rect">
            <a:avLst/>
          </a:prstGeom>
          <a:solidFill>
            <a:schemeClr val="accent1"/>
          </a:solidFill>
          <a:ln/>
        </p:spPr>
      </p:sp>
      <p:sp>
        <p:nvSpPr>
          <p:cNvPr id="15" name="Text 10"/>
          <p:cNvSpPr txBox="1"/>
          <p:nvPr/>
        </p:nvSpPr>
        <p:spPr>
          <a:xfrm>
            <a:off x="4567428"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02</a:t>
            </a:r>
            <a:endParaRPr lang="en-GB" sz="1300" dirty="0"/>
          </a:p>
        </p:txBody>
      </p:sp>
      <p:sp>
        <p:nvSpPr>
          <p:cNvPr id="16" name="Text 11"/>
          <p:cNvSpPr txBox="1"/>
          <p:nvPr/>
        </p:nvSpPr>
        <p:spPr>
          <a:xfrm>
            <a:off x="4567428"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Creator management</a:t>
            </a:r>
            <a:endParaRPr lang="en-GB" sz="2200" dirty="0"/>
          </a:p>
        </p:txBody>
      </p:sp>
      <p:sp>
        <p:nvSpPr>
          <p:cNvPr id="17" name="Text 12"/>
          <p:cNvSpPr txBox="1"/>
          <p:nvPr/>
        </p:nvSpPr>
        <p:spPr>
          <a:xfrm>
            <a:off x="4567428"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Set deliverables agreed with every creator</a:t>
            </a:r>
            <a:endParaRPr lang="en-GB" sz="1400" dirty="0"/>
          </a:p>
          <a:p>
            <a:pPr marL="177800" indent="-177800">
              <a:spcAft>
                <a:spcPts val="600"/>
              </a:spcAft>
              <a:buSzPct val="100000"/>
              <a:buChar char="•"/>
            </a:pPr>
            <a:r>
              <a:rPr lang="en-GB" altLang="en-US" sz="1400" dirty="0">
                <a:solidFill>
                  <a:schemeClr val="tx2"/>
                </a:solidFill>
              </a:rPr>
              <a:t>Briefs with key messages, tags and the ticket link</a:t>
            </a:r>
            <a:endParaRPr lang="en-GB" sz="1400" dirty="0"/>
          </a:p>
          <a:p>
            <a:pPr marL="177800" indent="-177800">
              <a:spcAft>
                <a:spcPts val="600"/>
              </a:spcAft>
              <a:buSzPct val="100000"/>
              <a:buChar char="•"/>
            </a:pPr>
            <a:r>
              <a:rPr lang="en-GB" altLang="en-US" sz="1400" dirty="0">
                <a:solidFill>
                  <a:schemeClr val="tx2"/>
                </a:solidFill>
              </a:rPr>
              <a:t>Accreditation, scheduling and one point of contact</a:t>
            </a:r>
            <a:endParaRPr lang="en-GB" sz="1400" dirty="0"/>
          </a:p>
          <a:p>
            <a:pPr marL="177800" indent="-177800">
              <a:spcAft>
                <a:spcPts val="600"/>
              </a:spcAft>
              <a:buSzPct val="100000"/>
              <a:buChar char="•"/>
            </a:pPr>
            <a:r>
              <a:rPr lang="en-GB" altLang="en-US" sz="1400" dirty="0">
                <a:solidFill>
                  <a:schemeClr val="tx2"/>
                </a:solidFill>
              </a:rPr>
              <a:t>On site on both nights, in the moments that matter</a:t>
            </a:r>
            <a:endParaRPr lang="en-GB" sz="1400" dirty="0"/>
          </a:p>
        </p:txBody>
      </p:sp>
      <p:sp>
        <p:nvSpPr>
          <p:cNvPr id="18" name="Shape 13"/>
          <p:cNvSpPr/>
          <p:nvPr/>
        </p:nvSpPr>
        <p:spPr>
          <a:xfrm>
            <a:off x="8129016" y="1783080"/>
            <a:ext cx="3511296" cy="3200400"/>
          </a:xfrm>
          <a:prstGeom prst="roundRect">
            <a:avLst>
              <a:gd name="adj" fmla="val 285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9" name="Shape 14"/>
          <p:cNvSpPr/>
          <p:nvPr/>
        </p:nvSpPr>
        <p:spPr>
          <a:xfrm>
            <a:off x="8129016" y="1783080"/>
            <a:ext cx="3511296" cy="457200"/>
          </a:xfrm>
          <a:prstGeom prst="rect">
            <a:avLst/>
          </a:prstGeom>
          <a:solidFill>
            <a:schemeClr val="accent1"/>
          </a:solidFill>
          <a:ln/>
        </p:spPr>
      </p:sp>
      <p:sp>
        <p:nvSpPr>
          <p:cNvPr id="20" name="Text 15"/>
          <p:cNvSpPr txBox="1"/>
          <p:nvPr/>
        </p:nvSpPr>
        <p:spPr>
          <a:xfrm>
            <a:off x="8357616" y="1783080"/>
            <a:ext cx="914400" cy="457200"/>
          </a:xfrm>
          <a:prstGeom prst="rect">
            <a:avLst/>
          </a:prstGeom>
          <a:noFill/>
          <a:ln/>
        </p:spPr>
        <p:txBody>
          <a:bodyPr wrap="square" lIns="0" tIns="0" rIns="0" bIns="0" rtlCol="0" anchor="ctr"/>
          <a:lstStyle/>
          <a:p>
            <a:pPr indent="0" marL="0">
              <a:buNone/>
            </a:pPr>
            <a:r>
              <a:rPr lang="en-GB" altLang="en-US" sz="1300" b="1" spc="200" kern="0" dirty="0">
                <a:solidFill>
                  <a:schemeClr val="tx1"/>
                </a:solidFill>
              </a:rPr>
              <a:t>03</a:t>
            </a:r>
            <a:endParaRPr lang="en-GB" sz="1300" dirty="0"/>
          </a:p>
        </p:txBody>
      </p:sp>
      <p:sp>
        <p:nvSpPr>
          <p:cNvPr id="21" name="Text 16"/>
          <p:cNvSpPr txBox="1"/>
          <p:nvPr/>
        </p:nvSpPr>
        <p:spPr>
          <a:xfrm>
            <a:off x="8357616" y="2423160"/>
            <a:ext cx="3108960" cy="411480"/>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The visibility report</a:t>
            </a:r>
            <a:endParaRPr lang="en-GB" sz="2200" dirty="0"/>
          </a:p>
        </p:txBody>
      </p:sp>
      <p:sp>
        <p:nvSpPr>
          <p:cNvPr id="22" name="Text 17"/>
          <p:cNvSpPr txBox="1"/>
          <p:nvPr/>
        </p:nvSpPr>
        <p:spPr>
          <a:xfrm>
            <a:off x="8357616" y="2926080"/>
            <a:ext cx="3108960" cy="1965960"/>
          </a:xfrm>
          <a:prstGeom prst="rect">
            <a:avLst/>
          </a:prstGeom>
          <a:noFill/>
          <a:ln/>
        </p:spPr>
        <p:txBody>
          <a:bodyPr wrap="square" lIns="0" tIns="0" rIns="0" bIns="0" rtlCol="0" anchor="t"/>
          <a:lstStyle/>
          <a:p>
            <a:pPr marL="177800" indent="-177800">
              <a:spcAft>
                <a:spcPts val="600"/>
              </a:spcAft>
              <a:buSzPct val="100000"/>
              <a:buChar char="•"/>
            </a:pPr>
            <a:r>
              <a:rPr lang="en-GB" altLang="en-US" sz="1400" dirty="0">
                <a:solidFill>
                  <a:schemeClr val="tx2"/>
                </a:solidFill>
              </a:rPr>
              <a:t>A check at 48 hours, the full report on day 14</a:t>
            </a:r>
            <a:endParaRPr lang="en-GB" sz="1400" dirty="0"/>
          </a:p>
          <a:p>
            <a:pPr marL="177800" indent="-177800">
              <a:spcAft>
                <a:spcPts val="600"/>
              </a:spcAft>
              <a:buSzPct val="100000"/>
              <a:buChar char="•"/>
            </a:pPr>
            <a:r>
              <a:rPr lang="en-GB" altLang="en-US" sz="1400" dirty="0">
                <a:solidFill>
                  <a:schemeClr val="tx2"/>
                </a:solidFill>
              </a:rPr>
              <a:t>Every post, every platform, in one document</a:t>
            </a:r>
            <a:endParaRPr lang="en-GB" sz="1400" dirty="0"/>
          </a:p>
          <a:p>
            <a:pPr marL="177800" indent="-177800">
              <a:spcAft>
                <a:spcPts val="600"/>
              </a:spcAft>
              <a:buSzPct val="100000"/>
              <a:buChar char="•"/>
            </a:pPr>
            <a:r>
              <a:rPr lang="en-GB" altLang="en-US" sz="1400" dirty="0">
                <a:solidFill>
                  <a:schemeClr val="tx2"/>
                </a:solidFill>
              </a:rPr>
              <a:t>Audiences, diaspora reach and ticket links</a:t>
            </a:r>
            <a:endParaRPr lang="en-GB" sz="1400" dirty="0"/>
          </a:p>
          <a:p>
            <a:pPr marL="177800" indent="-177800">
              <a:spcAft>
                <a:spcPts val="600"/>
              </a:spcAft>
              <a:buSzPct val="100000"/>
              <a:buChar char="•"/>
            </a:pPr>
            <a:r>
              <a:rPr lang="en-GB" altLang="en-US" sz="1400" dirty="0">
                <a:solidFill>
                  <a:schemeClr val="tx2"/>
                </a:solidFill>
              </a:rPr>
              <a:t>Sponsor value, partner by partner</a:t>
            </a:r>
            <a:endParaRPr lang="en-GB" sz="1400" dirty="0"/>
          </a:p>
        </p:txBody>
      </p:sp>
      <p:sp>
        <p:nvSpPr>
          <p:cNvPr id="23" name="Shape 18"/>
          <p:cNvSpPr/>
          <p:nvPr/>
        </p:nvSpPr>
        <p:spPr>
          <a:xfrm>
            <a:off x="548640" y="5212080"/>
            <a:ext cx="11094415" cy="731520"/>
          </a:xfrm>
          <a:prstGeom prst="roundRect">
            <a:avLst>
              <a:gd name="adj" fmla="val 12500"/>
            </a:avLst>
          </a:prstGeom>
          <a:solidFill>
            <a:schemeClr val="tx1"/>
          </a:solidFill>
          <a:ln/>
        </p:spPr>
      </p:sp>
      <p:sp>
        <p:nvSpPr>
          <p:cNvPr id="24" name="Text 19"/>
          <p:cNvSpPr txBox="1"/>
          <p:nvPr/>
        </p:nvSpPr>
        <p:spPr>
          <a:xfrm>
            <a:off x="822960" y="521208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
            </a:r>
            <a:endParaRPr lang="en-GB"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42" name="Shape 37"/>
          <p:cNvSpPr/>
          <p:nvPr/>
        </p:nvSpPr>
        <p:spPr>
          <a:xfrm>
            <a:off x="548640" y="4709160"/>
            <a:ext cx="5486400" cy="1463040"/>
          </a:xfrm>
          <a:prstGeom prst="roundRect">
            <a:avLst>
              <a:gd name="adj" fmla="val 6250"/>
            </a:avLst>
          </a:prstGeom>
          <a:solidFill>
            <a:schemeClr val="tx1"/>
          </a:solidFill>
          <a:ln/>
        </p:spPr>
      </p:sp>
      <p:sp>
        <p:nvSpPr>
          <p:cNvPr id="43" name="Text 38"/>
          <p:cNvSpPr txBox="1"/>
          <p:nvPr/>
        </p:nvSpPr>
        <p:spPr>
          <a:xfrm>
            <a:off x="822960" y="4846320"/>
            <a:ext cx="45720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44" name="Text 39"/>
          <p:cNvSpPr txBox="1"/>
          <p:nvPr/>
        </p:nvSpPr>
        <p:spPr>
          <a:xfrm>
            <a:off x="822960" y="5138928"/>
            <a:ext cx="5029200" cy="548640"/>
          </a:xfrm>
          <a:prstGeom prst="rect">
            <a:avLst/>
          </a:prstGeom>
          <a:noFill/>
          <a:ln/>
        </p:spPr>
        <p:txBody>
          <a:bodyPr wrap="square" lIns="0" tIns="0" rIns="0" bIns="0" rtlCol="0" anchor="t"/>
          <a:lstStyle/>
          <a:p>
            <a:pPr marL="177800" indent="-177800">
              <a:spcAft>
                <a:spcPts val="400"/>
              </a:spcAft>
              <a:buSzPct val="100000"/>
              <a:buChar char="•"/>
            </a:pPr>
            <a:r>
              <a:rPr lang="en-GB" altLang="en-US" sz="1300" dirty="0">
                <a:solidFill>
                  <a:schemeClr val="bg1"/>
                </a:solidFill>
              </a:rPr>
              <a:t>Every creator checked against the brief within 48 hours</a:t>
            </a:r>
            <a:endParaRPr lang="en-GB" sz="1300" dirty="0"/>
          </a:p>
          <a:p>
            <a:pPr marL="177800" indent="-177800">
              <a:spcAft>
                <a:spcPts val="400"/>
              </a:spcAft>
              <a:buSzPct val="100000"/>
              <a:buChar char="•"/>
            </a:pPr>
            <a:r>
              <a:rPr lang="en-GB" altLang="en-US" sz="1300" dirty="0">
                <a:solidFill>
                  <a:schemeClr val="bg1"/>
                </a:solidFill>
              </a:rPr>
              <a:t>Analytics collected by screen recording, not screenshots</a:t>
            </a:r>
            <a:endParaRPr lang="en-GB" sz="13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en-GB" altLang="en-US" sz="1300" b="1" i="1" dirty="0">
                <a:solidFill>
                  <a:schemeClr val="accent1"/>
                </a:solidFill>
              </a:rPr>
              <a:t>and more…</a:t>
            </a:r>
            <a:endParaRPr lang="en-GB" sz="1300" dirty="0"/>
          </a:p>
        </p:txBody>
      </p:sp>
      <p:pic>
        <p:nvPicPr>
          <p:cNvPr id="46" name="Image 2" descr="preencoded.png">    </p:cNvPr>
          <p:cNvPicPr>
            <a:picLocks noChangeAspect="1"/>
          </p:cNvPicPr>
          <p:nvPr/>
        </p:nvPicPr>
        <p:blipFill>
          <a:blip r:embed="rId3"/>
          <a:stretch>
            <a:fillRect/>
          </a:stretch>
        </p:blipFill>
        <p:spPr>
          <a:xfrm>
            <a:off x="6355080" y="4818888"/>
            <a:ext cx="274320" cy="274320"/>
          </a:xfrm>
          <a:prstGeom prst="rect">
            <a:avLst/>
          </a:prstGeom>
        </p:spPr>
      </p:pic>
      <p:sp>
        <p:nvSpPr>
          <p:cNvPr id="47" name="Text 41"/>
          <p:cNvSpPr txBox="1"/>
          <p:nvPr/>
        </p:nvSpPr>
        <p:spPr>
          <a:xfrm>
            <a:off x="6766560" y="4800600"/>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One point of contact for the festival team</a:t>
            </a:r>
            <a:endParaRPr lang="en-GB" sz="1400" dirty="0"/>
          </a:p>
        </p:txBody>
      </p:sp>
      <p:pic>
        <p:nvPicPr>
          <p:cNvPr id="48" name="Image 3" descr="preencoded.png">    </p:cNvPr>
          <p:cNvPicPr>
            <a:picLocks noChangeAspect="1"/>
          </p:cNvPicPr>
          <p:nvPr/>
        </p:nvPicPr>
        <p:blipFill>
          <a:blip r:embed="rId4"/>
          <a:stretch>
            <a:fillRect/>
          </a:stretch>
        </p:blipFill>
        <p:spPr>
          <a:xfrm>
            <a:off x="6355080" y="5294376"/>
            <a:ext cx="274320" cy="274320"/>
          </a:xfrm>
          <a:prstGeom prst="rect">
            <a:avLst/>
          </a:prstGeom>
        </p:spPr>
      </p:pic>
      <p:sp>
        <p:nvSpPr>
          <p:cNvPr id="49" name="Text 42"/>
          <p:cNvSpPr txBox="1"/>
          <p:nvPr/>
        </p:nvSpPr>
        <p:spPr>
          <a:xfrm>
            <a:off x="6766560" y="5276088"/>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A shared tracker of every creator and every post</a:t>
            </a:r>
            <a:endParaRPr lang="en-GB" sz="1400" dirty="0"/>
          </a:p>
        </p:txBody>
      </p:sp>
      <p:pic>
        <p:nvPicPr>
          <p:cNvPr id="50" name="Image 4" descr="preencoded.png">    </p:cNvPr>
          <p:cNvPicPr>
            <a:picLocks noChangeAspect="1"/>
          </p:cNvPicPr>
          <p:nvPr/>
        </p:nvPicPr>
        <p:blipFill>
          <a:blip r:embed="rId5"/>
          <a:stretch>
            <a:fillRect/>
          </a:stretch>
        </p:blipFill>
        <p:spPr>
          <a:xfrm>
            <a:off x="6355080" y="5769864"/>
            <a:ext cx="274320" cy="274320"/>
          </a:xfrm>
          <a:prstGeom prst="rect">
            <a:avLst/>
          </a:prstGeom>
        </p:spPr>
      </p:pic>
      <p:sp>
        <p:nvSpPr>
          <p:cNvPr id="51" name="Text 43"/>
          <p:cNvSpPr txBox="1"/>
          <p:nvPr/>
        </p:nvSpPr>
        <p:spPr>
          <a:xfrm>
            <a:off x="6766560" y="5751576"/>
            <a:ext cx="4846320" cy="365760"/>
          </a:xfrm>
          <a:prstGeom prst="rect">
            <a:avLst/>
          </a:prstGeom>
          <a:noFill/>
          <a:ln/>
        </p:spPr>
        <p:txBody>
          <a:bodyPr wrap="square" lIns="0" tIns="0" rIns="0" bIns="0" rtlCol="0" anchor="t"/>
          <a:lstStyle/>
          <a:p>
            <a:pPr indent="0" marL="0">
              <a:buNone/>
            </a:pPr>
            <a:r>
              <a:rPr lang="en-GB" altLang="en-US" sz="1400" dirty="0">
                <a:solidFill>
                  <a:schemeClr val="tx1"/>
                </a:solidFill>
              </a:rPr>
              <a:t>Brand safety rules agreed with you before anyone posts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86000"/>
            <a:ext cx="4218127" cy="2971800"/>
          </a:xfrm>
          <a:prstGeom prst="roundRect">
            <a:avLst>
              <a:gd name="adj" fmla="val 3077"/>
            </a:avLst>
          </a:prstGeom>
          <a:solidFill>
            <a:schemeClr val="accent6"/>
          </a:solidFill>
          <a:ln/>
        </p:spPr>
      </p:sp>
      <p:sp>
        <p:nvSpPr>
          <p:cNvPr id="13" name="Text 7"/>
          <p:cNvSpPr txBox="1"/>
          <p:nvPr/>
        </p:nvSpPr>
        <p:spPr>
          <a:xfrm>
            <a:off x="822960" y="254203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4" name="Text 8"/>
          <p:cNvSpPr txBox="1"/>
          <p:nvPr/>
        </p:nvSpPr>
        <p:spPr>
          <a:xfrm>
            <a:off x="822960" y="2852928"/>
            <a:ext cx="3669487"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Build up</a:t>
            </a:r>
            <a:endParaRPr lang="en-GB" sz="2600" dirty="0"/>
          </a:p>
        </p:txBody>
      </p:sp>
      <p:sp>
        <p:nvSpPr>
          <p:cNvPr id="15" name="Text 9"/>
          <p:cNvSpPr txBox="1"/>
          <p:nvPr/>
        </p:nvSpPr>
        <p:spPr>
          <a:xfrm>
            <a:off x="822960" y="3383280"/>
            <a:ext cx="3669487"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awareness and ticket sales</a:t>
            </a:r>
            <a:endParaRPr lang="en-GB" sz="1400" dirty="0"/>
          </a:p>
        </p:txBody>
      </p:sp>
      <p:sp>
        <p:nvSpPr>
          <p:cNvPr id="16" name="Text 10"/>
          <p:cNvSpPr txBox="1"/>
          <p:nvPr/>
        </p:nvSpPr>
        <p:spPr>
          <a:xfrm>
            <a:off x="822960" y="3840480"/>
            <a:ext cx="3669487"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Creator lineup announced</a:t>
            </a:r>
            <a:endParaRPr lang="en-GB" sz="1300" dirty="0"/>
          </a:p>
          <a:p>
            <a:pPr marL="177800" indent="-177800">
              <a:spcAft>
                <a:spcPts val="600"/>
              </a:spcAft>
              <a:buSzPct val="100000"/>
              <a:buChar char="•"/>
            </a:pPr>
            <a:r>
              <a:rPr lang="en-GB" altLang="en-US" sz="1300" dirty="0">
                <a:solidFill>
                  <a:schemeClr val="accent5"/>
                </a:solidFill>
              </a:rPr>
              <a:t>Davido countdown</a:t>
            </a:r>
            <a:endParaRPr lang="en-GB" sz="1300" dirty="0"/>
          </a:p>
          <a:p>
            <a:pPr marL="177800" indent="-177800">
              <a:spcAft>
                <a:spcPts val="600"/>
              </a:spcAft>
              <a:buSzPct val="100000"/>
              <a:buChar char="•"/>
            </a:pPr>
            <a:r>
              <a:rPr lang="en-GB" altLang="en-US" sz="1300" dirty="0">
                <a:solidFill>
                  <a:schemeClr val="accent5"/>
                </a:solidFill>
              </a:rPr>
              <a:t>Weekly ticket pushes with tracked links</a:t>
            </a:r>
            <a:endParaRPr lang="en-GB" sz="1300" dirty="0"/>
          </a:p>
          <a:p>
            <a:pPr marL="177800" indent="-177800">
              <a:spcAft>
                <a:spcPts val="600"/>
              </a:spcAft>
              <a:buSzPct val="100000"/>
              <a:buChar char="•"/>
            </a:pPr>
            <a:r>
              <a:rPr lang="en-GB" altLang="en-US" sz="1300" dirty="0">
                <a:solidFill>
                  <a:schemeClr val="accent5"/>
                </a:solidFill>
              </a:rPr>
              <a:t>A last call before Christmas</a:t>
            </a:r>
            <a:endParaRPr lang="en-GB" sz="1300" dirty="0"/>
          </a:p>
        </p:txBody>
      </p:sp>
      <p:sp>
        <p:nvSpPr>
          <p:cNvPr id="17" name="Shape 11"/>
          <p:cNvSpPr/>
          <p:nvPr/>
        </p:nvSpPr>
        <p:spPr>
          <a:xfrm>
            <a:off x="5269687" y="1828800"/>
            <a:ext cx="274320" cy="274320"/>
          </a:xfrm>
          <a:prstGeom prst="ellipse">
            <a:avLst/>
          </a:prstGeom>
          <a:solidFill>
            <a:schemeClr val="accent2"/>
          </a:solidFill>
          <a:ln/>
        </p:spPr>
      </p:sp>
      <p:sp>
        <p:nvSpPr>
          <p:cNvPr id="18" name="Shape 12"/>
          <p:cNvSpPr/>
          <p:nvPr/>
        </p:nvSpPr>
        <p:spPr>
          <a:xfrm>
            <a:off x="5041087" y="2286000"/>
            <a:ext cx="3163824" cy="2971800"/>
          </a:xfrm>
          <a:prstGeom prst="roundRect">
            <a:avLst>
              <a:gd name="adj" fmla="val 3077"/>
            </a:avLst>
          </a:prstGeom>
          <a:solidFill>
            <a:schemeClr val="accent2"/>
          </a:solidFill>
          <a:ln/>
        </p:spPr>
      </p:sp>
      <p:sp>
        <p:nvSpPr>
          <p:cNvPr id="19" name="Text 13"/>
          <p:cNvSpPr txBox="1"/>
          <p:nvPr/>
        </p:nvSpPr>
        <p:spPr>
          <a:xfrm>
            <a:off x="5315407"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0" name="Text 14"/>
          <p:cNvSpPr txBox="1"/>
          <p:nvPr/>
        </p:nvSpPr>
        <p:spPr>
          <a:xfrm>
            <a:off x="5315407" y="2852928"/>
            <a:ext cx="2615184" cy="457200"/>
          </a:xfrm>
          <a:prstGeom prst="rect">
            <a:avLst/>
          </a:prstGeom>
          <a:noFill/>
          <a:ln/>
        </p:spPr>
        <p:txBody>
          <a:bodyPr wrap="square" lIns="0" tIns="0" rIns="0" bIns="0" rtlCol="0" anchor="t"/>
          <a:lstStyle/>
          <a:p>
            <a:pPr indent="0" marL="0">
              <a:buNone/>
            </a:pPr>
            <a:r>
              <a:rPr lang="en-GB" altLang="en-US" sz="2600" dirty="0">
                <a:solidFill>
                  <a:schemeClr val="tx1"/>
                </a:solidFill>
                <a:latin typeface="+mj-lt" pitchFamily="34" charset="0"/>
                <a:ea typeface="+mj-lt" pitchFamily="34" charset="-122"/>
                <a:cs typeface="+mj-lt" pitchFamily="34" charset="-120"/>
              </a:rPr>
              <a:t>Festival nights</a:t>
            </a:r>
            <a:endParaRPr lang="en-GB" sz="2600" dirty="0"/>
          </a:p>
        </p:txBody>
      </p:sp>
      <p:sp>
        <p:nvSpPr>
          <p:cNvPr id="21" name="Text 15"/>
          <p:cNvSpPr txBox="1"/>
          <p:nvPr/>
        </p:nvSpPr>
        <p:spPr>
          <a:xfrm>
            <a:off x="5315407" y="3383280"/>
            <a:ext cx="2615184" cy="320040"/>
          </a:xfrm>
          <a:prstGeom prst="rect">
            <a:avLst/>
          </a:prstGeom>
          <a:noFill/>
          <a:ln/>
        </p:spPr>
        <p:txBody>
          <a:bodyPr wrap="square" lIns="0" tIns="0" rIns="0" bIns="0" rtlCol="0" anchor="t"/>
          <a:lstStyle/>
          <a:p>
            <a:pPr indent="0" marL="0">
              <a:buNone/>
            </a:pPr>
            <a:r>
              <a:rPr lang="en-GB" altLang="en-US" sz="1400" b="1" dirty="0">
                <a:solidFill>
                  <a:schemeClr val="tx1"/>
                </a:solidFill>
              </a:rPr>
              <a:t>Goal: live attention</a:t>
            </a:r>
            <a:endParaRPr lang="en-GB" sz="1400" dirty="0"/>
          </a:p>
        </p:txBody>
      </p:sp>
      <p:sp>
        <p:nvSpPr>
          <p:cNvPr id="22" name="Text 16"/>
          <p:cNvSpPr txBox="1"/>
          <p:nvPr/>
        </p:nvSpPr>
        <p:spPr>
          <a:xfrm>
            <a:off x="5315407"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tx1"/>
                </a:solidFill>
              </a:rPr>
              <a:t>Arrivals and festival looks</a:t>
            </a:r>
            <a:endParaRPr lang="en-GB" sz="1300" dirty="0"/>
          </a:p>
          <a:p>
            <a:pPr marL="177800" indent="-177800">
              <a:spcAft>
                <a:spcPts val="600"/>
              </a:spcAft>
              <a:buSzPct val="100000"/>
              <a:buChar char="•"/>
            </a:pPr>
            <a:r>
              <a:rPr lang="en-GB" altLang="en-US" sz="1300" dirty="0">
                <a:solidFill>
                  <a:schemeClr val="tx1"/>
                </a:solidFill>
              </a:rPr>
              <a:t>Crowd POV during headline sets</a:t>
            </a:r>
            <a:endParaRPr lang="en-GB" sz="1300" dirty="0"/>
          </a:p>
          <a:p>
            <a:pPr marL="177800" indent="-177800">
              <a:spcAft>
                <a:spcPts val="600"/>
              </a:spcAft>
              <a:buSzPct val="100000"/>
              <a:buChar char="•"/>
            </a:pPr>
            <a:r>
              <a:rPr lang="en-GB" altLang="en-US" sz="1300" dirty="0">
                <a:solidFill>
                  <a:schemeClr val="tx1"/>
                </a:solidFill>
              </a:rPr>
              <a:t>Sponsor activations in shot</a:t>
            </a:r>
            <a:endParaRPr lang="en-GB" sz="1300" dirty="0"/>
          </a:p>
          <a:p>
            <a:pPr marL="177800" indent="-177800">
              <a:spcAft>
                <a:spcPts val="600"/>
              </a:spcAft>
              <a:buSzPct val="100000"/>
              <a:buChar char="•"/>
            </a:pPr>
            <a:r>
              <a:rPr lang="en-GB" altLang="en-US" sz="1300" dirty="0">
                <a:solidFill>
                  <a:schemeClr val="tx1"/>
                </a:solidFill>
              </a:rPr>
              <a:t>A recap each night</a:t>
            </a:r>
            <a:endParaRPr lang="en-GB" sz="1300" dirty="0"/>
          </a:p>
        </p:txBody>
      </p:sp>
      <p:sp>
        <p:nvSpPr>
          <p:cNvPr id="23" name="Shape 17"/>
          <p:cNvSpPr/>
          <p:nvPr/>
        </p:nvSpPr>
        <p:spPr>
          <a:xfrm>
            <a:off x="8707831" y="1828800"/>
            <a:ext cx="274320" cy="274320"/>
          </a:xfrm>
          <a:prstGeom prst="ellipse">
            <a:avLst/>
          </a:prstGeom>
          <a:solidFill>
            <a:schemeClr val="accent1"/>
          </a:solidFill>
          <a:ln/>
        </p:spPr>
      </p:sp>
      <p:sp>
        <p:nvSpPr>
          <p:cNvPr id="24" name="Shape 18"/>
          <p:cNvSpPr/>
          <p:nvPr/>
        </p:nvSpPr>
        <p:spPr>
          <a:xfrm>
            <a:off x="8479231" y="2286000"/>
            <a:ext cx="3163824" cy="2971800"/>
          </a:xfrm>
          <a:prstGeom prst="roundRect">
            <a:avLst>
              <a:gd name="adj" fmla="val 3077"/>
            </a:avLst>
          </a:prstGeom>
          <a:solidFill>
            <a:schemeClr val="accent6"/>
          </a:solidFill>
          <a:ln/>
        </p:spPr>
      </p:sp>
      <p:sp>
        <p:nvSpPr>
          <p:cNvPr id="25" name="Text 19"/>
          <p:cNvSpPr txBox="1"/>
          <p:nvPr/>
        </p:nvSpPr>
        <p:spPr>
          <a:xfrm>
            <a:off x="8753551" y="254203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6" name="Text 20"/>
          <p:cNvSpPr txBox="1"/>
          <p:nvPr/>
        </p:nvSpPr>
        <p:spPr>
          <a:xfrm>
            <a:off x="8753551" y="2852928"/>
            <a:ext cx="2615184" cy="457200"/>
          </a:xfrm>
          <a:prstGeom prst="rect">
            <a:avLst/>
          </a:prstGeom>
          <a:noFill/>
          <a:ln/>
        </p:spPr>
        <p:txBody>
          <a:bodyPr wrap="square" lIns="0" tIns="0" rIns="0" bIns="0" rtlCol="0" anchor="t"/>
          <a:lstStyle/>
          <a:p>
            <a:pPr indent="0" marL="0">
              <a:buNone/>
            </a:pPr>
            <a:r>
              <a:rPr lang="en-GB" altLang="en-US" sz="2600" dirty="0">
                <a:solidFill>
                  <a:schemeClr val="bg1"/>
                </a:solidFill>
                <a:latin typeface="+mj-lt" pitchFamily="34" charset="0"/>
                <a:ea typeface="+mj-lt" pitchFamily="34" charset="-122"/>
                <a:cs typeface="+mj-lt" pitchFamily="34" charset="-120"/>
              </a:rPr>
              <a:t>Afterglow</a:t>
            </a:r>
            <a:endParaRPr lang="en-GB" sz="2600" dirty="0"/>
          </a:p>
        </p:txBody>
      </p:sp>
      <p:sp>
        <p:nvSpPr>
          <p:cNvPr id="27" name="Text 21"/>
          <p:cNvSpPr txBox="1"/>
          <p:nvPr/>
        </p:nvSpPr>
        <p:spPr>
          <a:xfrm>
            <a:off x="8753551" y="3383280"/>
            <a:ext cx="2615184" cy="320040"/>
          </a:xfrm>
          <a:prstGeom prst="rect">
            <a:avLst/>
          </a:prstGeom>
          <a:noFill/>
          <a:ln/>
        </p:spPr>
        <p:txBody>
          <a:bodyPr wrap="square" lIns="0" tIns="0" rIns="0" bIns="0" rtlCol="0" anchor="t"/>
          <a:lstStyle/>
          <a:p>
            <a:pPr indent="0" marL="0">
              <a:buNone/>
            </a:pPr>
            <a:r>
              <a:rPr lang="en-GB" altLang="en-US" sz="1400" b="1" dirty="0">
                <a:solidFill>
                  <a:schemeClr val="accent4"/>
                </a:solidFill>
              </a:rPr>
              <a:t>Goal: keep the story alive</a:t>
            </a:r>
            <a:endParaRPr lang="en-GB" sz="1400" dirty="0"/>
          </a:p>
        </p:txBody>
      </p:sp>
      <p:sp>
        <p:nvSpPr>
          <p:cNvPr id="28" name="Text 22"/>
          <p:cNvSpPr txBox="1"/>
          <p:nvPr/>
        </p:nvSpPr>
        <p:spPr>
          <a:xfrm>
            <a:off x="8753551" y="3840480"/>
            <a:ext cx="2615184" cy="1325880"/>
          </a:xfrm>
          <a:prstGeom prst="rect">
            <a:avLst/>
          </a:prstGeom>
          <a:noFill/>
          <a:ln/>
        </p:spPr>
        <p:txBody>
          <a:bodyPr wrap="square" lIns="0" tIns="0" rIns="0" bIns="0" rtlCol="0" anchor="t"/>
          <a:lstStyle/>
          <a:p>
            <a:pPr marL="177800" indent="-177800">
              <a:spcAft>
                <a:spcPts val="600"/>
              </a:spcAft>
              <a:buSzPct val="100000"/>
              <a:buChar char="•"/>
            </a:pPr>
            <a:r>
              <a:rPr lang="en-GB" altLang="en-US" sz="1300" dirty="0">
                <a:solidFill>
                  <a:schemeClr val="accent5"/>
                </a:solidFill>
              </a:rPr>
              <a:t>Recap reels and best of edits</a:t>
            </a:r>
            <a:endParaRPr lang="en-GB" sz="1300" dirty="0"/>
          </a:p>
          <a:p>
            <a:pPr marL="177800" indent="-177800">
              <a:spcAft>
                <a:spcPts val="600"/>
              </a:spcAft>
              <a:buSzPct val="100000"/>
              <a:buChar char="•"/>
            </a:pPr>
            <a:r>
              <a:rPr lang="en-GB" altLang="en-US" sz="1300" dirty="0">
                <a:solidFill>
                  <a:schemeClr val="accent5"/>
                </a:solidFill>
              </a:rPr>
              <a:t>Creator thank you posts</a:t>
            </a:r>
            <a:endParaRPr lang="en-GB" sz="1300" dirty="0"/>
          </a:p>
          <a:p>
            <a:pPr marL="177800" indent="-177800">
              <a:spcAft>
                <a:spcPts val="600"/>
              </a:spcAft>
              <a:buSzPct val="100000"/>
              <a:buChar char="•"/>
            </a:pPr>
            <a:r>
              <a:rPr lang="en-GB" altLang="en-US" sz="1300" dirty="0">
                <a:solidFill>
                  <a:schemeClr val="accent5"/>
                </a:solidFill>
              </a:rPr>
              <a:t>Results shared with fans and partners</a:t>
            </a:r>
            <a:endParaRPr lang="en-GB" sz="1300" dirty="0"/>
          </a:p>
          <a:p>
            <a:pPr marL="177800" indent="-177800">
              <a:spcAft>
                <a:spcPts val="600"/>
              </a:spcAft>
              <a:buSzPct val="100000"/>
              <a:buChar char="•"/>
            </a:pPr>
            <a:r>
              <a:rPr lang="en-GB" altLang="en-US" sz="1300" dirty="0">
                <a:solidFill>
                  <a:schemeClr val="accent5"/>
                </a:solidFill>
              </a:rPr>
              <a:t>A 2027 save the date, if planned</a:t>
            </a:r>
            <a:endParaRPr lang="en-GB" sz="1300" dirty="0"/>
          </a:p>
        </p:txBody>
      </p:sp>
      <p:sp>
        <p:nvSpPr>
          <p:cNvPr id="29" name="Shape 23"/>
          <p:cNvSpPr/>
          <p:nvPr/>
        </p:nvSpPr>
        <p:spPr>
          <a:xfrm>
            <a:off x="548640" y="5532120"/>
            <a:ext cx="54864" cy="548640"/>
          </a:xfrm>
          <a:prstGeom prst="rect">
            <a:avLst/>
          </a:prstGeom>
          <a:solidFill>
            <a:schemeClr val="accent1"/>
          </a:solidFill>
          <a:ln/>
        </p:spPr>
      </p:sp>
      <p:sp>
        <p:nvSpPr>
          <p:cNvPr id="30" name="Text 24"/>
          <p:cNvSpPr txBox="1"/>
          <p:nvPr/>
        </p:nvSpPr>
        <p:spPr>
          <a:xfrm>
            <a:off x="777240" y="5532120"/>
            <a:ext cx="10789920" cy="548640"/>
          </a:xfrm>
          <a:prstGeom prst="rect">
            <a:avLst/>
          </a:prstGeom>
          <a:noFill/>
          <a:ln/>
        </p:spPr>
        <p:txBody>
          <a:bodyPr wrap="square" lIns="0" tIns="0" rIns="0" bIns="0" rtlCol="0" anchor="ctr"/>
          <a:lstStyle/>
          <a:p>
            <a:pPr indent="0" marL="0">
              <a:buNone/>
            </a:pPr>
            <a:r>
              <a:rPr lang="en-GB" altLang="en-US" sz="2000" dirty="0">
                <a:solidFill>
                  <a:schemeClr val="bg1"/>
                </a:solidFill>
                <a:latin typeface="+mj-lt" pitchFamily="34" charset="0"/>
                <a:ea typeface="+mj-lt" pitchFamily="34" charset="-122"/>
                <a:cs typeface="+mj-lt" pitchFamily="34" charset="-120"/>
              </a:rPr>
              <a:t>Every wave sits in one content calendar, approved by the festival before anything goes live.</a:t>
            </a:r>
            <a:endParaRPr lang="en-GB" sz="2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Visibility for every sponsor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2598725" cy="292608"/>
          </a:xfrm>
          <a:prstGeom prst="roundRect">
            <a:avLst>
              <a:gd name="adj" fmla="val 18750"/>
            </a:avLst>
          </a:prstGeom>
          <a:solidFill>
            <a:schemeClr val="tx1">
              <a:alpha val="70000"/>
            </a:schemeClr>
          </a:solidFill>
          <a:ln/>
        </p:spPr>
      </p:sp>
      <p:sp>
        <p:nvSpPr>
          <p:cNvPr id="10" name="Text 4"/>
          <p:cNvSpPr txBox="1"/>
          <p:nvPr/>
        </p:nvSpPr>
        <p:spPr>
          <a:xfrm>
            <a:off x="658368" y="367647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Written into every brief</a:t>
            </a:r>
            <a:endParaRPr lang="en-GB"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Sponsor mentions agreed in advance, so partners appear naturally.</a:t>
            </a:r>
            <a:endParaRPr lang="en-GB"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Branding in shot</a:t>
            </a:r>
            <a:endParaRPr lang="en-GB"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Creators guided to every activation and stage banner on both nights.</a:t>
            </a:r>
            <a:endParaRPr lang="en-GB"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A page per sponsor</a:t>
            </a:r>
            <a:endParaRPr lang="en-GB"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Posts, views, screen time and a media value, clearly labelled as estimated.</a:t>
            </a:r>
            <a:endParaRPr lang="en-GB"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Reusable content</a:t>
            </a:r>
            <a:endParaRPr lang="en-GB"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The festival and its sponsors can share the best pieces again.</a:t>
            </a:r>
            <a:endParaRPr lang="en-GB"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What Mother Africa actually receives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3657600"/>
                <a:gridCol w="5242255"/>
              </a:tblGrid>
              <a:tr h="438912">
                <a:tc>
                  <a:txBody>
                    <a:bodyPr/>
                    <a:lstStyle/>
                    <a:p>
                      <a:pPr indent="0" marL="0">
                        <a:buNone/>
                      </a:pPr>
                      <a:r>
                        <a:rPr lang="en-US" sz="1300" b="1" dirty="0">
                          <a:solidFill>
                            <a:schemeClr val="bg1"/>
                          </a:solidFill>
                        </a:rPr>
                        <a:t>What we measure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it tells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How we capture it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tx1"/>
                          </a:solidFill>
                        </a:rPr>
                        <a:t>Views and reach</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far festival content travelled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Screen recorded analytics from every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Interactions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Whether people cared enough to react</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Likes, comments, shares and saves, per post and per creator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Audiences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Who watched, and from where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Countries, Côte d’Ivoire and diaspora, age and gender</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Tickets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Which creators drove ticket sales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Tracked links to maf.tikerama.com, and codes where supplied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Festival accounts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New followers for Mother Africa</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Account growth through the build up and the nights</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Conversation</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How much people talk about the festival</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Hashtag and mention tracking</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438912">
                <a:tc>
                  <a:txBody>
                    <a:bodyPr/>
                    <a:lstStyle/>
                    <a:p>
                      <a:pPr indent="0" marL="0">
                        <a:buNone/>
                      </a:pPr>
                      <a:r>
                        <a:rPr lang="en-US" sz="1300" b="1" dirty="0">
                          <a:solidFill>
                            <a:schemeClr val="tx1"/>
                          </a:solidFill>
                        </a:rPr>
                        <a:t>Sponsor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What each partner received</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On screen moments, screen time, estimated media value</a:t>
                      </a:r>
                      <a:endParaRPr lang="en-US" sz="13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9" name="Text 3"/>
          <p:cNvSpPr txBox="1"/>
          <p:nvPr/>
        </p:nvSpPr>
        <p:spPr>
          <a:xfrm>
            <a:off x="548640" y="5623560"/>
            <a:ext cx="11094415" cy="274320"/>
          </a:xfrm>
          <a:prstGeom prst="rect">
            <a:avLst/>
          </a:prstGeom>
          <a:noFill/>
          <a:ln/>
        </p:spPr>
        <p:txBody>
          <a:bodyPr wrap="square" lIns="0" tIns="0" rIns="0" bIns="0" rtlCol="0" anchor="t"/>
          <a:lstStyle/>
          <a:p>
            <a:pPr indent="0" marL="0">
              <a:buNone/>
            </a:pPr>
            <a:r>
              <a:rPr lang="en-GB" altLang="en-US" sz="1300" i="1" dirty="0">
                <a:solidFill>
                  <a:schemeClr val="tx2"/>
                </a:solidFill>
              </a:rPr>
              <a:t>Every figure comes from creator analytics, tracked links or ticketing data. Anything modelled is labelled estimated.</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Reports on fixed dates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Weekly pulse</a:t>
            </a:r>
            <a:endParaRPr lang="en-GB"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EVERY MONDAY IN THE BUILD UP</a:t>
            </a:r>
            <a:endParaRPr lang="en-GB"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One page: posts live, views, top creators, ticket links used and what changes next.</a:t>
            </a:r>
            <a:endParaRPr lang="en-GB" sz="1400" dirty="0"/>
          </a:p>
        </p:txBody>
      </p:sp>
      <p:sp>
        <p:nvSpPr>
          <p:cNvPr id="13" name="Shape 7"/>
          <p:cNvSpPr/>
          <p:nvPr/>
        </p:nvSpPr>
        <p:spPr>
          <a:xfrm>
            <a:off x="548640" y="315468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97326"/>
            <a:ext cx="309067" cy="309067"/>
          </a:xfrm>
          <a:prstGeom prst="rect">
            <a:avLst/>
          </a:prstGeom>
        </p:spPr>
      </p:pic>
      <p:sp>
        <p:nvSpPr>
          <p:cNvPr id="15" name="Text 8"/>
          <p:cNvSpPr txBox="1"/>
          <p:nvPr/>
        </p:nvSpPr>
        <p:spPr>
          <a:xfrm>
            <a:off x="1371600" y="311810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48 hour check</a:t>
            </a:r>
            <a:endParaRPr lang="en-GB" sz="2200" dirty="0"/>
          </a:p>
        </p:txBody>
      </p:sp>
      <p:sp>
        <p:nvSpPr>
          <p:cNvPr id="16" name="Text 9"/>
          <p:cNvSpPr txBox="1"/>
          <p:nvPr/>
        </p:nvSpPr>
        <p:spPr>
          <a:xfrm>
            <a:off x="1371600" y="3538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30 DECEMBER 2026</a:t>
            </a:r>
            <a:endParaRPr lang="en-GB" sz="1100" dirty="0"/>
          </a:p>
        </p:txBody>
      </p:sp>
      <p:sp>
        <p:nvSpPr>
          <p:cNvPr id="17" name="Text 10"/>
          <p:cNvSpPr txBox="1"/>
          <p:nvPr/>
        </p:nvSpPr>
        <p:spPr>
          <a:xfrm>
            <a:off x="1371600" y="384048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Who posted, where, and against which brief. Anything missing is chased.</a:t>
            </a:r>
            <a:endParaRPr lang="en-GB" sz="1400" dirty="0"/>
          </a:p>
        </p:txBody>
      </p:sp>
      <p:sp>
        <p:nvSpPr>
          <p:cNvPr id="18" name="Shape 11"/>
          <p:cNvSpPr/>
          <p:nvPr/>
        </p:nvSpPr>
        <p:spPr>
          <a:xfrm>
            <a:off x="548640" y="448056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623206"/>
            <a:ext cx="309067" cy="309067"/>
          </a:xfrm>
          <a:prstGeom prst="rect">
            <a:avLst/>
          </a:prstGeom>
        </p:spPr>
      </p:pic>
      <p:sp>
        <p:nvSpPr>
          <p:cNvPr id="20" name="Text 12"/>
          <p:cNvSpPr txBox="1"/>
          <p:nvPr/>
        </p:nvSpPr>
        <p:spPr>
          <a:xfrm>
            <a:off x="1371600" y="444398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Full report</a:t>
            </a:r>
            <a:endParaRPr lang="en-GB" sz="2200" dirty="0"/>
          </a:p>
        </p:txBody>
      </p:sp>
      <p:sp>
        <p:nvSpPr>
          <p:cNvPr id="21" name="Text 13"/>
          <p:cNvSpPr txBox="1"/>
          <p:nvPr/>
        </p:nvSpPr>
        <p:spPr>
          <a:xfrm>
            <a:off x="1371600" y="486460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DAY 14, BY 11 JANUARY 2027</a:t>
            </a:r>
            <a:endParaRPr lang="en-GB" sz="1100" dirty="0"/>
          </a:p>
        </p:txBody>
      </p:sp>
      <p:sp>
        <p:nvSpPr>
          <p:cNvPr id="22" name="Text 14"/>
          <p:cNvSpPr txBox="1"/>
          <p:nvPr/>
        </p:nvSpPr>
        <p:spPr>
          <a:xfrm>
            <a:off x="1371600" y="516636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post and figure, audiences, tickets, sponsor pages and recommendations for 2027.</a:t>
            </a:r>
            <a:endParaRPr lang="en-GB" sz="1400" dirty="0"/>
          </a:p>
        </p:txBody>
      </p:sp>
      <p:sp>
        <p:nvSpPr>
          <p:cNvPr id="23" name="Text 15"/>
          <p:cNvSpPr txBox="1"/>
          <p:nvPr/>
        </p:nvSpPr>
        <p:spPr>
          <a:xfrm>
            <a:off x="1371600" y="5852160"/>
            <a:ext cx="5120640" cy="274320"/>
          </a:xfrm>
          <a:prstGeom prst="rect">
            <a:avLst/>
          </a:prstGeom>
          <a:noFill/>
          <a:ln/>
        </p:spPr>
        <p:txBody>
          <a:bodyPr wrap="square" lIns="0" tIns="0" rIns="0" bIns="0" rtlCol="0" anchor="t"/>
          <a:lstStyle/>
          <a:p>
            <a:pPr indent="0" marL="0">
              <a:buNone/>
            </a:pPr>
            <a:r>
              <a:rPr lang="en-GB" altLang="en-US" sz="1200" dirty="0">
                <a:solidFill>
                  <a:schemeClr val="accent3"/>
                </a:solidFill>
              </a:rPr>
              <a:t>Delivered as a PDF for the board and sponsors, with a web version.</a:t>
            </a:r>
            <a:endParaRPr lang="en-GB" sz="1200" dirty="0"/>
          </a:p>
        </p:txBody>
      </p:sp>
      <p:sp>
        <p:nvSpPr>
          <p:cNvPr id="24" name="Shape 16"/>
          <p:cNvSpPr/>
          <p:nvPr/>
        </p:nvSpPr>
        <p:spPr>
          <a:xfrm>
            <a:off x="6949440" y="1783080"/>
            <a:ext cx="4690872" cy="4389120"/>
          </a:xfrm>
          <a:prstGeom prst="roundRect">
            <a:avLst>
              <a:gd name="adj" fmla="val 1667"/>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5" name="Text 17"/>
          <p:cNvSpPr txBox="1"/>
          <p:nvPr/>
        </p:nvSpPr>
        <p:spPr>
          <a:xfrm>
            <a:off x="7223760" y="201168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a:t>
            </a:r>
            <a:endParaRPr lang="en-GB" sz="900" dirty="0"/>
          </a:p>
        </p:txBody>
      </p:sp>
      <p:sp>
        <p:nvSpPr>
          <p:cNvPr id="26" name="Text 18"/>
          <p:cNvSpPr txBox="1"/>
          <p:nvPr/>
        </p:nvSpPr>
        <p:spPr>
          <a:xfrm>
            <a:off x="7223760" y="2212848"/>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27" name="Image 5" descr="Mother Africa Festival">    </p:cNvPr>
          <p:cNvPicPr>
            <a:picLocks noChangeAspect="1"/>
          </p:cNvPicPr>
          <p:nvPr/>
        </p:nvPicPr>
        <p:blipFill>
          <a:blip r:embed="rId6"/>
          <a:stretch>
            <a:fillRect/>
          </a:stretch>
        </p:blipFill>
        <p:spPr>
          <a:xfrm>
            <a:off x="10863072" y="2011680"/>
            <a:ext cx="541249" cy="384048"/>
          </a:xfrm>
          <a:prstGeom prst="rect">
            <a:avLst/>
          </a:prstGeom>
        </p:spPr>
      </p:pic>
      <p:sp>
        <p:nvSpPr>
          <p:cNvPr id="28" name="Shape 19"/>
          <p:cNvSpPr/>
          <p:nvPr/>
        </p:nvSpPr>
        <p:spPr>
          <a:xfrm>
            <a:off x="7223760" y="2651760"/>
            <a:ext cx="4142232" cy="0"/>
          </a:xfrm>
          <a:prstGeom prst="line">
            <a:avLst/>
          </a:prstGeom>
          <a:noFill/>
          <a:ln w="12700">
            <a:solidFill>
              <a:schemeClr val="accent1"/>
            </a:solidFill>
            <a:prstDash val="solid"/>
          </a:ln>
        </p:spPr>
      </p:sp>
      <p:sp>
        <p:nvSpPr>
          <p:cNvPr id="29" name="Shape 20"/>
          <p:cNvSpPr/>
          <p:nvPr/>
        </p:nvSpPr>
        <p:spPr>
          <a:xfrm>
            <a:off x="7223760" y="2834640"/>
            <a:ext cx="2011680" cy="731520"/>
          </a:xfrm>
          <a:prstGeom prst="roundRect">
            <a:avLst>
              <a:gd name="adj" fmla="val 7500"/>
            </a:avLst>
          </a:prstGeom>
          <a:solidFill>
            <a:schemeClr val="bg2"/>
          </a:solidFill>
          <a:ln/>
        </p:spPr>
      </p:sp>
      <p:sp>
        <p:nvSpPr>
          <p:cNvPr id="30" name="Shape 21"/>
          <p:cNvSpPr/>
          <p:nvPr/>
        </p:nvSpPr>
        <p:spPr>
          <a:xfrm>
            <a:off x="7388352" y="2980944"/>
            <a:ext cx="1005840" cy="201168"/>
          </a:xfrm>
          <a:prstGeom prst="roundRect">
            <a:avLst>
              <a:gd name="adj" fmla="val 18182"/>
            </a:avLst>
          </a:prstGeom>
          <a:solidFill>
            <a:schemeClr val="tx2">
              <a:alpha val="28000"/>
            </a:schemeClr>
          </a:solidFill>
          <a:ln/>
        </p:spPr>
      </p:sp>
      <p:sp>
        <p:nvSpPr>
          <p:cNvPr id="31" name="Text 22"/>
          <p:cNvSpPr txBox="1"/>
          <p:nvPr/>
        </p:nvSpPr>
        <p:spPr>
          <a:xfrm>
            <a:off x="7388352"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2" name="Shape 23"/>
          <p:cNvSpPr/>
          <p:nvPr/>
        </p:nvSpPr>
        <p:spPr>
          <a:xfrm>
            <a:off x="9345168" y="2834640"/>
            <a:ext cx="2011680" cy="731520"/>
          </a:xfrm>
          <a:prstGeom prst="roundRect">
            <a:avLst>
              <a:gd name="adj" fmla="val 7500"/>
            </a:avLst>
          </a:prstGeom>
          <a:solidFill>
            <a:schemeClr val="bg2"/>
          </a:solidFill>
          <a:ln/>
        </p:spPr>
      </p:sp>
      <p:sp>
        <p:nvSpPr>
          <p:cNvPr id="33" name="Shape 24"/>
          <p:cNvSpPr/>
          <p:nvPr/>
        </p:nvSpPr>
        <p:spPr>
          <a:xfrm>
            <a:off x="9509760" y="2980944"/>
            <a:ext cx="1005840" cy="201168"/>
          </a:xfrm>
          <a:prstGeom prst="roundRect">
            <a:avLst>
              <a:gd name="adj" fmla="val 18182"/>
            </a:avLst>
          </a:prstGeom>
          <a:solidFill>
            <a:schemeClr val="tx2">
              <a:alpha val="28000"/>
            </a:schemeClr>
          </a:solidFill>
          <a:ln/>
        </p:spPr>
      </p:sp>
      <p:sp>
        <p:nvSpPr>
          <p:cNvPr id="34" name="Text 25"/>
          <p:cNvSpPr txBox="1"/>
          <p:nvPr/>
        </p:nvSpPr>
        <p:spPr>
          <a:xfrm>
            <a:off x="9509760" y="325526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5" name="Shape 26"/>
          <p:cNvSpPr/>
          <p:nvPr/>
        </p:nvSpPr>
        <p:spPr>
          <a:xfrm>
            <a:off x="7223760" y="3703320"/>
            <a:ext cx="2011680" cy="731520"/>
          </a:xfrm>
          <a:prstGeom prst="roundRect">
            <a:avLst>
              <a:gd name="adj" fmla="val 7500"/>
            </a:avLst>
          </a:prstGeom>
          <a:solidFill>
            <a:schemeClr val="bg2"/>
          </a:solidFill>
          <a:ln/>
        </p:spPr>
      </p:sp>
      <p:sp>
        <p:nvSpPr>
          <p:cNvPr id="36" name="Shape 27"/>
          <p:cNvSpPr/>
          <p:nvPr/>
        </p:nvSpPr>
        <p:spPr>
          <a:xfrm>
            <a:off x="7388352" y="3849624"/>
            <a:ext cx="1005840" cy="201168"/>
          </a:xfrm>
          <a:prstGeom prst="roundRect">
            <a:avLst>
              <a:gd name="adj" fmla="val 18182"/>
            </a:avLst>
          </a:prstGeom>
          <a:solidFill>
            <a:schemeClr val="tx2">
              <a:alpha val="28000"/>
            </a:schemeClr>
          </a:solidFill>
          <a:ln/>
        </p:spPr>
      </p:sp>
      <p:sp>
        <p:nvSpPr>
          <p:cNvPr id="37" name="Text 28"/>
          <p:cNvSpPr txBox="1"/>
          <p:nvPr/>
        </p:nvSpPr>
        <p:spPr>
          <a:xfrm>
            <a:off x="7388352"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a:t>
            </a:r>
            <a:endParaRPr lang="en-GB" sz="1000" dirty="0"/>
          </a:p>
        </p:txBody>
      </p:sp>
      <p:sp>
        <p:nvSpPr>
          <p:cNvPr id="38" name="Shape 29"/>
          <p:cNvSpPr/>
          <p:nvPr/>
        </p:nvSpPr>
        <p:spPr>
          <a:xfrm>
            <a:off x="9345168" y="3703320"/>
            <a:ext cx="2011680" cy="731520"/>
          </a:xfrm>
          <a:prstGeom prst="roundRect">
            <a:avLst>
              <a:gd name="adj" fmla="val 7500"/>
            </a:avLst>
          </a:prstGeom>
          <a:solidFill>
            <a:schemeClr val="bg2"/>
          </a:solidFill>
          <a:ln/>
        </p:spPr>
      </p:sp>
      <p:sp>
        <p:nvSpPr>
          <p:cNvPr id="39" name="Shape 30"/>
          <p:cNvSpPr/>
          <p:nvPr/>
        </p:nvSpPr>
        <p:spPr>
          <a:xfrm>
            <a:off x="9509760" y="3849624"/>
            <a:ext cx="1005840" cy="201168"/>
          </a:xfrm>
          <a:prstGeom prst="roundRect">
            <a:avLst>
              <a:gd name="adj" fmla="val 18182"/>
            </a:avLst>
          </a:prstGeom>
          <a:solidFill>
            <a:schemeClr val="tx2">
              <a:alpha val="28000"/>
            </a:schemeClr>
          </a:solidFill>
          <a:ln/>
        </p:spPr>
      </p:sp>
      <p:sp>
        <p:nvSpPr>
          <p:cNvPr id="40" name="Text 31"/>
          <p:cNvSpPr txBox="1"/>
          <p:nvPr/>
        </p:nvSpPr>
        <p:spPr>
          <a:xfrm>
            <a:off x="9509760" y="4123944"/>
            <a:ext cx="173736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1" name="Text 32"/>
          <p:cNvSpPr txBox="1"/>
          <p:nvPr/>
        </p:nvSpPr>
        <p:spPr>
          <a:xfrm>
            <a:off x="7223760" y="461772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2" name="Text 33"/>
          <p:cNvSpPr txBox="1"/>
          <p:nvPr/>
        </p:nvSpPr>
        <p:spPr>
          <a:xfrm>
            <a:off x="7223760" y="491032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3" name="Shape 34"/>
          <p:cNvSpPr/>
          <p:nvPr/>
        </p:nvSpPr>
        <p:spPr>
          <a:xfrm>
            <a:off x="8275320" y="4946904"/>
            <a:ext cx="2651760" cy="146304"/>
          </a:xfrm>
          <a:prstGeom prst="roundRect">
            <a:avLst>
              <a:gd name="adj" fmla="val 18750"/>
            </a:avLst>
          </a:prstGeom>
          <a:solidFill>
            <a:schemeClr val="accent2"/>
          </a:solidFill>
          <a:ln/>
        </p:spPr>
      </p:sp>
      <p:sp>
        <p:nvSpPr>
          <p:cNvPr id="44" name="Text 35"/>
          <p:cNvSpPr txBox="1"/>
          <p:nvPr/>
        </p:nvSpPr>
        <p:spPr>
          <a:xfrm>
            <a:off x="7223760" y="523951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5" name="Shape 36"/>
          <p:cNvSpPr/>
          <p:nvPr/>
        </p:nvSpPr>
        <p:spPr>
          <a:xfrm>
            <a:off x="8275320" y="5276088"/>
            <a:ext cx="2011680" cy="146304"/>
          </a:xfrm>
          <a:prstGeom prst="roundRect">
            <a:avLst>
              <a:gd name="adj" fmla="val 18750"/>
            </a:avLst>
          </a:prstGeom>
          <a:solidFill>
            <a:schemeClr val="accent1"/>
          </a:solidFill>
          <a:ln/>
        </p:spPr>
      </p:sp>
      <p:sp>
        <p:nvSpPr>
          <p:cNvPr id="46" name="Text 37"/>
          <p:cNvSpPr txBox="1"/>
          <p:nvPr/>
        </p:nvSpPr>
        <p:spPr>
          <a:xfrm>
            <a:off x="7223760" y="5568696"/>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47" name="Shape 38"/>
          <p:cNvSpPr/>
          <p:nvPr/>
        </p:nvSpPr>
        <p:spPr>
          <a:xfrm>
            <a:off x="8275320" y="5605272"/>
            <a:ext cx="1005840" cy="146304"/>
          </a:xfrm>
          <a:prstGeom prst="roundRect">
            <a:avLst>
              <a:gd name="adj" fmla="val 18750"/>
            </a:avLst>
          </a:prstGeom>
          <a:solidFill>
            <a:schemeClr val="accent1"/>
          </a:solidFill>
          <a:ln/>
        </p:spPr>
      </p:sp>
      <p:sp>
        <p:nvSpPr>
          <p:cNvPr id="48" name="Text 39"/>
          <p:cNvSpPr txBox="1"/>
          <p:nvPr/>
        </p:nvSpPr>
        <p:spPr>
          <a:xfrm>
            <a:off x="7223760" y="5879592"/>
            <a:ext cx="3657600" cy="201168"/>
          </a:xfrm>
          <a:prstGeom prst="rect">
            <a:avLst/>
          </a:prstGeom>
          <a:noFill/>
          <a:ln/>
        </p:spPr>
        <p:txBody>
          <a:bodyPr wrap="square" lIns="0" tIns="0" rIns="0" bIns="0" rtlCol="0" anchor="t"/>
          <a:lstStyle/>
          <a:p>
            <a:pPr indent="0" marL="0">
              <a:buNone/>
            </a:pPr>
            <a:r>
              <a:rPr lang="en-GB" altLang="en-US" sz="1000" i="1" dirty="0">
                <a:solidFill>
                  <a:schemeClr val="tx2"/>
                </a:solidFill>
              </a:rPr>
              <a:t>Sample layout. No figures shown.</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We have built and tracked this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in Côte d’Ivoire, Abidjan">    </p:cNvPr>
          <p:cNvPicPr>
            <a:picLocks noChangeAspect="1"/>
          </p:cNvPicPr>
          <p:nvPr/>
        </p:nvPicPr>
        <p:blipFill>
          <a:blip r:embed="rId4"/>
          <a:stretch>
            <a:fillRect/>
          </a:stretch>
        </p:blipFill>
        <p:spPr>
          <a:xfrm>
            <a:off x="548640" y="1783080"/>
            <a:ext cx="3943898" cy="2743200"/>
          </a:xfrm>
          <a:prstGeom prst="rect">
            <a:avLst/>
          </a:prstGeom>
        </p:spPr>
      </p:pic>
      <p:sp>
        <p:nvSpPr>
          <p:cNvPr id="11" name="Shape 4"/>
          <p:cNvSpPr/>
          <p:nvPr/>
        </p:nvSpPr>
        <p:spPr>
          <a:xfrm>
            <a:off x="658368" y="4123944"/>
            <a:ext cx="796442" cy="292608"/>
          </a:xfrm>
          <a:prstGeom prst="roundRect">
            <a:avLst>
              <a:gd name="adj" fmla="val 18750"/>
            </a:avLst>
          </a:prstGeom>
          <a:solidFill>
            <a:schemeClr val="tx1">
              <a:alpha val="70000"/>
            </a:schemeClr>
          </a:solidFill>
          <a:ln/>
        </p:spPr>
      </p:sp>
      <p:sp>
        <p:nvSpPr>
          <p:cNvPr id="12" name="Text 5"/>
          <p:cNvSpPr txBox="1"/>
          <p:nvPr/>
        </p:nvSpPr>
        <p:spPr>
          <a:xfrm>
            <a:off x="658368" y="41239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Abidjan</a:t>
            </a:r>
            <a:endParaRPr lang="en-GB" sz="1000" dirty="0"/>
          </a:p>
        </p:txBody>
      </p:sp>
      <p:sp>
        <p:nvSpPr>
          <p:cNvPr id="13" name="Text 6"/>
          <p:cNvSpPr txBox="1"/>
          <p:nvPr/>
        </p:nvSpPr>
        <p:spPr>
          <a:xfrm>
            <a:off x="548640" y="4663440"/>
            <a:ext cx="3943898" cy="457200"/>
          </a:xfrm>
          <a:prstGeom prst="rect">
            <a:avLst/>
          </a:prstGeom>
          <a:noFill/>
          <a:ln/>
        </p:spPr>
        <p:txBody>
          <a:bodyPr wrap="square" lIns="0" tIns="0" rIns="0" bIns="0" rtlCol="0" anchor="t"/>
          <a:lstStyle/>
          <a:p>
            <a:pPr indent="0" marL="0">
              <a:buNone/>
            </a:pPr>
            <a:r>
              <a:rPr lang="en-GB" altLang="en-US" sz="2800" dirty="0">
                <a:solidFill>
                  <a:schemeClr val="accent4"/>
                </a:solidFill>
              </a:rPr>
              <a:t>55.8M</a:t>
            </a:r>
            <a:endParaRPr lang="en-GB" sz="2800" dirty="0"/>
          </a:p>
        </p:txBody>
      </p:sp>
      <p:sp>
        <p:nvSpPr>
          <p:cNvPr id="14" name="Text 7"/>
          <p:cNvSpPr txBox="1"/>
          <p:nvPr/>
        </p:nvSpPr>
        <p:spPr>
          <a:xfrm>
            <a:off x="548640" y="5138928"/>
            <a:ext cx="3943898" cy="685800"/>
          </a:xfrm>
          <a:prstGeom prst="rect">
            <a:avLst/>
          </a:prstGeom>
          <a:noFill/>
          <a:ln/>
        </p:spPr>
        <p:txBody>
          <a:bodyPr wrap="square" lIns="0" tIns="0" rIns="0" bIns="0" rtlCol="0" anchor="t"/>
          <a:lstStyle/>
          <a:p>
            <a:pPr indent="0" marL="0">
              <a:buNone/>
            </a:pPr>
            <a:r>
              <a:rPr lang="en-GB" altLang="en-US" sz="1100" dirty="0">
                <a:solidFill>
                  <a:schemeClr val="accent5"/>
                </a:solidFill>
              </a:rPr>
              <a:t>Instagram views on one reel. IShowSpeed in Côte d’Ivoire.</a:t>
            </a:r>
            <a:endParaRPr lang="en-GB" sz="1100" dirty="0"/>
          </a:p>
        </p:txBody>
      </p:sp>
      <p:pic>
        <p:nvPicPr>
          <p:cNvPr id="15" name="Photo speed_ma" descr="IShowSpeed in Morocco for the AFCON 2025 Final">    </p:cNvPr>
          <p:cNvPicPr>
            <a:picLocks noChangeAspect="1"/>
          </p:cNvPicPr>
          <p:nvPr/>
        </p:nvPicPr>
        <p:blipFill>
          <a:blip r:embed="rId5"/>
          <a:stretch>
            <a:fillRect/>
          </a:stretch>
        </p:blipFill>
        <p:spPr>
          <a:xfrm>
            <a:off x="4766858" y="1783080"/>
            <a:ext cx="1831848" cy="2743200"/>
          </a:xfrm>
          <a:prstGeom prst="rect">
            <a:avLst/>
          </a:prstGeom>
        </p:spPr>
      </p:pic>
      <p:sp>
        <p:nvSpPr>
          <p:cNvPr id="16" name="Shape 8"/>
          <p:cNvSpPr/>
          <p:nvPr/>
        </p:nvSpPr>
        <p:spPr>
          <a:xfrm>
            <a:off x="4876586" y="4123944"/>
            <a:ext cx="796442" cy="292608"/>
          </a:xfrm>
          <a:prstGeom prst="roundRect">
            <a:avLst>
              <a:gd name="adj" fmla="val 18750"/>
            </a:avLst>
          </a:prstGeom>
          <a:solidFill>
            <a:schemeClr val="tx1">
              <a:alpha val="70000"/>
            </a:schemeClr>
          </a:solidFill>
          <a:ln/>
        </p:spPr>
      </p:sp>
      <p:sp>
        <p:nvSpPr>
          <p:cNvPr id="17" name="Text 9"/>
          <p:cNvSpPr txBox="1"/>
          <p:nvPr/>
        </p:nvSpPr>
        <p:spPr>
          <a:xfrm>
            <a:off x="4876586" y="41239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Morocco</a:t>
            </a:r>
            <a:endParaRPr lang="en-GB" sz="1000" dirty="0"/>
          </a:p>
        </p:txBody>
      </p:sp>
      <p:sp>
        <p:nvSpPr>
          <p:cNvPr id="18" name="Text 10"/>
          <p:cNvSpPr txBox="1"/>
          <p:nvPr/>
        </p:nvSpPr>
        <p:spPr>
          <a:xfrm>
            <a:off x="4766858" y="4663440"/>
            <a:ext cx="1831848" cy="457200"/>
          </a:xfrm>
          <a:prstGeom prst="rect">
            <a:avLst/>
          </a:prstGeom>
          <a:noFill/>
          <a:ln/>
        </p:spPr>
        <p:txBody>
          <a:bodyPr wrap="square" lIns="0" tIns="0" rIns="0" bIns="0" rtlCol="0" anchor="t"/>
          <a:lstStyle/>
          <a:p>
            <a:pPr indent="0" marL="0">
              <a:buNone/>
            </a:pPr>
            <a:r>
              <a:rPr lang="en-GB" altLang="en-US" sz="2800" dirty="0">
                <a:solidFill>
                  <a:schemeClr val="accent4"/>
                </a:solidFill>
              </a:rPr>
              <a:t>16M</a:t>
            </a:r>
            <a:endParaRPr lang="en-GB" sz="2800" dirty="0"/>
          </a:p>
        </p:txBody>
      </p:sp>
      <p:sp>
        <p:nvSpPr>
          <p:cNvPr id="19" name="Text 11"/>
          <p:cNvSpPr txBox="1"/>
          <p:nvPr/>
        </p:nvSpPr>
        <p:spPr>
          <a:xfrm>
            <a:off x="4766858" y="5138928"/>
            <a:ext cx="1831848" cy="685800"/>
          </a:xfrm>
          <a:prstGeom prst="rect">
            <a:avLst/>
          </a:prstGeom>
          <a:noFill/>
          <a:ln/>
        </p:spPr>
        <p:txBody>
          <a:bodyPr wrap="square" lIns="0" tIns="0" rIns="0" bIns="0" rtlCol="0" anchor="t"/>
          <a:lstStyle/>
          <a:p>
            <a:pPr indent="0" marL="0">
              <a:buNone/>
            </a:pPr>
            <a:r>
              <a:rPr lang="en-GB" altLang="en-US" sz="1100" dirty="0">
                <a:solidFill>
                  <a:schemeClr val="accent5"/>
                </a:solidFill>
              </a:rPr>
              <a:t>Live stream views of the AFCON mascot reveal, with CAF and the FRMF.</a:t>
            </a:r>
            <a:endParaRPr lang="en-GB" sz="1100" dirty="0"/>
          </a:p>
        </p:txBody>
      </p:sp>
      <p:pic>
        <p:nvPicPr>
          <p:cNvPr id="20" name="Photo ashton" descr="Ashton Hall Africa Tour, Nigeria leg">    </p:cNvPr>
          <p:cNvPicPr>
            <a:picLocks noChangeAspect="1"/>
          </p:cNvPicPr>
          <p:nvPr/>
        </p:nvPicPr>
        <p:blipFill>
          <a:blip r:embed="rId6"/>
          <a:stretch>
            <a:fillRect/>
          </a:stretch>
        </p:blipFill>
        <p:spPr>
          <a:xfrm>
            <a:off x="6873026" y="1783080"/>
            <a:ext cx="2194560" cy="2743200"/>
          </a:xfrm>
          <a:prstGeom prst="rect">
            <a:avLst/>
          </a:prstGeom>
        </p:spPr>
      </p:pic>
      <p:sp>
        <p:nvSpPr>
          <p:cNvPr id="21" name="Shape 12"/>
          <p:cNvSpPr/>
          <p:nvPr/>
        </p:nvSpPr>
        <p:spPr>
          <a:xfrm>
            <a:off x="6982754" y="4123944"/>
            <a:ext cx="662940" cy="292608"/>
          </a:xfrm>
          <a:prstGeom prst="roundRect">
            <a:avLst>
              <a:gd name="adj" fmla="val 18750"/>
            </a:avLst>
          </a:prstGeom>
          <a:solidFill>
            <a:schemeClr val="tx1">
              <a:alpha val="70000"/>
            </a:schemeClr>
          </a:solidFill>
          <a:ln/>
        </p:spPr>
      </p:sp>
      <p:sp>
        <p:nvSpPr>
          <p:cNvPr id="22" name="Text 13"/>
          <p:cNvSpPr txBox="1"/>
          <p:nvPr/>
        </p:nvSpPr>
        <p:spPr>
          <a:xfrm>
            <a:off x="6982754" y="4123944"/>
            <a:ext cx="662940"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Lagos</a:t>
            </a:r>
            <a:endParaRPr lang="en-GB" sz="1000" dirty="0"/>
          </a:p>
        </p:txBody>
      </p:sp>
      <p:sp>
        <p:nvSpPr>
          <p:cNvPr id="23" name="Text 14"/>
          <p:cNvSpPr txBox="1"/>
          <p:nvPr/>
        </p:nvSpPr>
        <p:spPr>
          <a:xfrm>
            <a:off x="6873026" y="4663440"/>
            <a:ext cx="2194560" cy="457200"/>
          </a:xfrm>
          <a:prstGeom prst="rect">
            <a:avLst/>
          </a:prstGeom>
          <a:noFill/>
          <a:ln/>
        </p:spPr>
        <p:txBody>
          <a:bodyPr wrap="square" lIns="0" tIns="0" rIns="0" bIns="0" rtlCol="0" anchor="t"/>
          <a:lstStyle/>
          <a:p>
            <a:pPr indent="0" marL="0">
              <a:buNone/>
            </a:pPr>
            <a:r>
              <a:rPr lang="en-GB" altLang="en-US" sz="2800" dirty="0">
                <a:solidFill>
                  <a:schemeClr val="accent4"/>
                </a:solidFill>
              </a:rPr>
              <a:t>1.57B</a:t>
            </a:r>
            <a:endParaRPr lang="en-GB" sz="2800" dirty="0"/>
          </a:p>
        </p:txBody>
      </p:sp>
      <p:sp>
        <p:nvSpPr>
          <p:cNvPr id="24" name="Text 15"/>
          <p:cNvSpPr txBox="1"/>
          <p:nvPr/>
        </p:nvSpPr>
        <p:spPr>
          <a:xfrm>
            <a:off x="6873026" y="5138928"/>
            <a:ext cx="2194560" cy="685800"/>
          </a:xfrm>
          <a:prstGeom prst="rect">
            <a:avLst/>
          </a:prstGeom>
          <a:noFill/>
          <a:ln/>
        </p:spPr>
        <p:txBody>
          <a:bodyPr wrap="square" lIns="0" tIns="0" rIns="0" bIns="0" rtlCol="0" anchor="t"/>
          <a:lstStyle/>
          <a:p>
            <a:pPr indent="0" marL="0">
              <a:buNone/>
            </a:pPr>
            <a:r>
              <a:rPr lang="en-GB" altLang="en-US" sz="1100" dirty="0">
                <a:solidFill>
                  <a:schemeClr val="accent5"/>
                </a:solidFill>
              </a:rPr>
              <a:t>Tour views across five countries, managed end to end.</a:t>
            </a:r>
            <a:endParaRPr lang="en-GB" sz="1100" dirty="0"/>
          </a:p>
        </p:txBody>
      </p:sp>
      <p:sp>
        <p:nvSpPr>
          <p:cNvPr id="25" name="Shape 16"/>
          <p:cNvSpPr/>
          <p:nvPr/>
        </p:nvSpPr>
        <p:spPr>
          <a:xfrm>
            <a:off x="9387626" y="1783080"/>
            <a:ext cx="2255429" cy="2743200"/>
          </a:xfrm>
          <a:prstGeom prst="roundRect">
            <a:avLst>
              <a:gd name="adj" fmla="val 4054"/>
            </a:avLst>
          </a:prstGeom>
          <a:solidFill>
            <a:schemeClr val="accent6"/>
          </a:solidFill>
          <a:ln w="9525">
            <a:solidFill>
              <a:schemeClr val="accent1">
                <a:alpha val="45000"/>
              </a:schemeClr>
            </a:solidFill>
            <a:prstDash val="solid"/>
          </a:ln>
        </p:spPr>
      </p:sp>
      <p:sp>
        <p:nvSpPr>
          <p:cNvPr id="26" name="Text 17"/>
          <p:cNvSpPr txBox="1"/>
          <p:nvPr/>
        </p:nvSpPr>
        <p:spPr>
          <a:xfrm>
            <a:off x="9588794" y="2011680"/>
            <a:ext cx="1889669"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ATOURE DID</a:t>
            </a:r>
            <a:endParaRPr lang="en-GB" sz="1100" dirty="0"/>
          </a:p>
        </p:txBody>
      </p:sp>
      <p:sp>
        <p:nvSpPr>
          <p:cNvPr id="27" name="Text 18"/>
          <p:cNvSpPr txBox="1"/>
          <p:nvPr/>
        </p:nvSpPr>
        <p:spPr>
          <a:xfrm>
            <a:off x="9588794" y="2423160"/>
            <a:ext cx="1889669" cy="1965960"/>
          </a:xfrm>
          <a:prstGeom prst="rect">
            <a:avLst/>
          </a:prstGeom>
          <a:noFill/>
          <a:ln/>
        </p:spPr>
        <p:txBody>
          <a:bodyPr wrap="square" lIns="0" tIns="0" rIns="0" bIns="0" rtlCol="0" anchor="t"/>
          <a:lstStyle/>
          <a:p>
            <a:pPr marL="177800" indent="-177800">
              <a:spcAft>
                <a:spcPts val="800"/>
              </a:spcAft>
              <a:buSzPct val="100000"/>
              <a:buChar char="•"/>
            </a:pPr>
            <a:r>
              <a:rPr lang="en-GB" altLang="en-US" sz="1200" dirty="0">
                <a:solidFill>
                  <a:schemeClr val="accent5"/>
                </a:solidFill>
              </a:rPr>
              <a:t>Operations built from zero in Abidjan</a:t>
            </a:r>
            <a:endParaRPr lang="en-GB" sz="1200" dirty="0"/>
          </a:p>
          <a:p>
            <a:pPr marL="177800" indent="-177800">
              <a:spcAft>
                <a:spcPts val="800"/>
              </a:spcAft>
              <a:buSzPct val="100000"/>
              <a:buChar char="•"/>
            </a:pPr>
            <a:r>
              <a:rPr lang="en-GB" altLang="en-US" sz="1200" dirty="0">
                <a:solidFill>
                  <a:schemeClr val="accent5"/>
                </a:solidFill>
              </a:rPr>
              <a:t>State visas, permits and security</a:t>
            </a:r>
            <a:endParaRPr lang="en-GB" sz="1200" dirty="0"/>
          </a:p>
          <a:p>
            <a:pPr marL="177800" indent="-177800">
              <a:spcAft>
                <a:spcPts val="800"/>
              </a:spcAft>
              <a:buSzPct val="100000"/>
              <a:buChar char="•"/>
            </a:pPr>
            <a:r>
              <a:rPr lang="en-GB" altLang="en-US" sz="1200" dirty="0">
                <a:solidFill>
                  <a:schemeClr val="accent5"/>
                </a:solidFill>
              </a:rPr>
              <a:t>Sponsors and partners brought in</a:t>
            </a:r>
            <a:endParaRPr lang="en-GB" sz="1200" dirty="0"/>
          </a:p>
          <a:p>
            <a:pPr marL="177800" indent="-177800">
              <a:spcAft>
                <a:spcPts val="800"/>
              </a:spcAft>
              <a:buSzPct val="100000"/>
              <a:buChar char="•"/>
            </a:pPr>
            <a:r>
              <a:rPr lang="en-GB" altLang="en-US" sz="1200" dirty="0">
                <a:solidFill>
                  <a:schemeClr val="accent5"/>
                </a:solidFill>
              </a:rPr>
              <a:t>Creators managed end to end</a:t>
            </a:r>
            <a:endParaRPr lang="en-GB" sz="1200" dirty="0"/>
          </a:p>
        </p:txBody>
      </p:sp>
      <p:sp>
        <p:nvSpPr>
          <p:cNvPr id="28" name="Text 19"/>
          <p:cNvSpPr txBox="1"/>
          <p:nvPr/>
        </p:nvSpPr>
        <p:spPr>
          <a:xfrm>
            <a:off x="548640" y="5943600"/>
            <a:ext cx="11094415" cy="237744"/>
          </a:xfrm>
          <a:prstGeom prst="rect">
            <a:avLst/>
          </a:prstGeom>
          <a:noFill/>
          <a:ln/>
        </p:spPr>
        <p:txBody>
          <a:bodyPr wrap="square" lIns="0" tIns="0" rIns="0" bIns="0" rtlCol="0" anchor="t"/>
          <a:lstStyle/>
          <a:p>
            <a:pPr indent="0" marL="0">
              <a:buNone/>
            </a:pPr>
            <a:r>
              <a:rPr lang="en-GB" altLang="en-US" sz="1000" dirty="0">
                <a:solidFill>
                  <a:schemeClr val="accent5"/>
                </a:solidFill>
              </a:rPr>
              <a:t>Sources: Instagram and YouTube analytics, tour figures supplied by the client.</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This week</a:t>
            </a:r>
            <a:endParaRPr lang="en-GB"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13 November</a:t>
            </a:r>
            <a:endParaRPr lang="en-GB"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20 November</a:t>
            </a:r>
            <a:endParaRPr lang="en-GB"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From Monday 23 November</a:t>
            </a:r>
            <a:endParaRPr lang="en-GB"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2026-10-30T11:29:34Z</dcterms:created>
  <dcterms:modified xsi:type="dcterms:W3CDTF">2026-10-30T11:29:34Z</dcterms:modified>
</cp:coreProperties>
</file>