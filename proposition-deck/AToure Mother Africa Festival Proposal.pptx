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50c2eca-894e-41e1-0899-23d88bbe86cd}">
          <p14:sldIdLst>
            <p14:sldId id="256"/>
          </p14:sldIdLst>
        </p14:section>
        <p14:section name="Where we stand" id="{00c2d038-d408-13f2-700a-4d52439472ad}">
          <p14:sldIdLst>
            <p14:sldId id="257"/>
            <p14:sldId id="258"/>
          </p14:sldIdLst>
        </p14:section>
        <p14:section name="The AToure answer" id="{fcecd234-7045-e72b-f288-e32676b133af}">
          <p14:sldIdLst>
            <p14:sldId id="259"/>
            <p14:sldId id="260"/>
          </p14:sldIdLst>
        </p14:section>
        <p14:section name="Visibility" id="{112061c7-b307-7a32-59b5-2126a98ce7fa}">
          <p14:sldIdLst>
            <p14:sldId id="261"/>
            <p14:sldId id="262"/>
          </p14:sldIdLst>
        </p14:section>
        <p14:section name="The visibility report" id="{1e7f2a57-748a-2016-9ef1-acf4ac32d03d}">
          <p14:sldIdLst>
            <p14:sldId id="263"/>
            <p14:sldId id="264"/>
          </p14:sldIdLst>
        </p14:section>
        <p14:section name="Proof" id="{87168272-fd2b-175f-9b7b-c2ea1c087d18}">
          <p14:sldIdLst>
            <p14:sldId id="265"/>
          </p14:sldIdLst>
        </p14:section>
        <p14:section name="The ask" id="{9747eb90-a63e-1ac4-a639-3967d4d288be}">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public reporting and the festival’s own announcements, so ask the team to correct anything we have wrong. 15,000 and 40 percent are the figures reported for the first edition in December 2022. 20,000 is what the organisers expect for the 5th edition, not a result. The 1 billion FCFA figure is the festival’s weight as a sponsorship instrument. The right side is what any festival needs once it sells its audience to sponsors: present it as the next stage, not as a list of faults. Sources: Africa Radio, Music In Africa, Abidjan.net, Liferadio, France 24, Pulse and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run by one team. Talent access brings the right creators. Creator management means AToure runs them on the ground as the operator, not as a middleman. The visibility report turns everything they post into numbers the festival can put in front of sponsors. The report is the product: it is what makes the creator spend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The revenue model is the same chain as before, seen from the sponsor’s side: more creators bring more visibility, visibility meets the brands’ goals, and met goals bring sponsor money back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and for each one where the number comes from. Creators send their analytics as screen recordings, which is written into their agreement. Ticket clicks come from tracked links; codes only if the festival supplies them, to confirm with Tikerama. Targets for each line are agreed with the festival before the build up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only; it shows no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In Morocco it delivered the AFCON mascot reveal with CAF and the Royal Moroccan Football Federation. The Ashton Hall tour covered five countries, managed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6949440" cy="1600200"/>
          </a:xfrm>
          <a:prstGeom prst="rect">
            <a:avLst/>
          </a:prstGeom>
          <a:noFill/>
          <a:ln/>
        </p:spPr>
        <p:txBody>
          <a:bodyPr wrap="square" rtlCol="0"/>
          <a:lstStyle>
            <a:lvl1pPr algn="l" indent="0" marL="0">
              <a:lnSpc>
                <a:spcPct val="95000"/>
              </a:lnSpc>
              <a:buNone/>
              <a:defRPr lang="en-US" sz="5000" dirty="0">
                <a:solidFill>
                  <a:schemeClr val="bg1"/>
                </a:solidFill>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8362372" y="1472184"/>
            <a:ext cx="3134380" cy="4206240"/>
          </a:xfrm>
          <a:prstGeom prst="rect">
            <a:avLst/>
          </a:prstGeom>
          <a:ln w="15875">
            <a:solidFill>
              <a:schemeClr val="accent1"/>
            </a:solidFill>
            <a:prstDash val="solid"/>
          </a:ln>
        </p:spPr>
      </p:sp>
      <p:pic>
        <p:nvPicPr>
          <p:cNvPr id="4" name="Photo poster2026" descr="Mother Africa Festival 2026 poster: Davido, 27 and 28 December, Marcory Zone 4, Abidjan, 5th edition anniversary">    </p:cNvPr>
          <p:cNvPicPr>
            <a:picLocks noChangeAspect="1"/>
          </p:cNvPicPr>
          <p:nvPr/>
        </p:nvPicPr>
        <p:blipFill>
          <a:blip r:embed="rId2"/>
          <a:stretch>
            <a:fillRect/>
          </a:stretch>
        </p:blipFill>
        <p:spPr>
          <a:xfrm>
            <a:off x="8508676" y="1325880"/>
            <a:ext cx="3134380" cy="4206240"/>
          </a:xfrm>
          <a:prstGeom prst="rect">
            <a:avLst/>
          </a:prstGeom>
        </p:spPr>
      </p:pic>
      <p:sp>
        <p:nvSpPr>
          <p:cNvPr id="5" name="Text 0"/>
          <p:cNvSpPr/>
          <p:nvPr>
            <p:ph idx="100" type="title" hasCustomPrompt="1"/>
          </p:nvPr>
        </p:nvSpPr>
        <p:spPr>
          <a:xfrm>
            <a:off x="548640" y="2377440"/>
            <a:ext cx="6949440" cy="1600200"/>
          </a:xfrm>
          <a:prstGeom prst="rect">
            <a:avLst/>
          </a:prstGeom>
          <a:noFill/>
          <a:ln/>
        </p:spPr>
        <p:txBody>
          <a:bodyPr wrap="square" lIns="0" tIns="0" rIns="0" bIns="0" rtlCol="0" anchor="t"/>
          <a:lstStyle/>
          <a:p>
            <a:pPr algn="l" indent="0" marL="0">
              <a:lnSpc>
                <a:spcPct val="95000"/>
              </a:lnSpc>
              <a:buNone/>
            </a:pPr>
            <a:r>
              <a:rPr lang="en-GB" altLang="en-US" sz="5000" dirty="0">
                <a:solidFill>
                  <a:schemeClr val="bg1"/>
                </a:solidFill>
              </a:rPr>
              <a:t>Maximising Mother Africa visibility</a:t>
            </a:r>
            <a:endParaRPr lang="en-GB" sz="5000" dirty="0"/>
          </a:p>
        </p:txBody>
      </p:sp>
      <p:sp>
        <p:nvSpPr>
          <p:cNvPr id="6"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r>
              <a:rPr lang="en-GB" altLang="en-US" sz="1600" dirty="0">
                <a:solidFill>
                  <a:schemeClr val="accent5"/>
                </a:solidFill>
              </a:rPr>
              <a:t>A proposal for the 5th edition of Mother Africa Festival: talent access, creator management on the ground and one visibility report.</a:t>
            </a:r>
            <a:endParaRPr lang="en-GB" sz="1600" dirty="0"/>
          </a:p>
          <a:p>
            <a:pPr algn="l" indent="0" marL="0">
              <a:lnSpc>
                <a:spcPct val="115000"/>
              </a:lnSpc>
              <a:buNone/>
            </a:pPr>
            <a:r>
              <a:rPr lang="en-GB" altLang="en-US" sz="1600" dirty="0">
                <a:solidFill>
                  <a:schemeClr val="accent5"/>
                </a:solidFill>
              </a:rPr>
              <a:t>27 and 28 December 2026, Marcory Zone 4, Abidjan.</a:t>
            </a:r>
            <a:endParaRPr lang="en-GB" sz="1600" dirty="0"/>
          </a:p>
        </p:txBody>
      </p:sp>
      <p:sp>
        <p:nvSpPr>
          <p:cNvPr id="8" name="Text 3"/>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9" name="Image 2" descr="AToure Management &amp; Consulting">    </p:cNvPr>
          <p:cNvPicPr>
            <a:picLocks noChangeAspect="1"/>
          </p:cNvPicPr>
          <p:nvPr/>
        </p:nvPicPr>
        <p:blipFill>
          <a:blip r:embed="rId3"/>
          <a:stretch>
            <a:fillRect/>
          </a:stretch>
        </p:blipFill>
        <p:spPr>
          <a:xfrm>
            <a:off x="548640" y="1371600"/>
            <a:ext cx="2377440" cy="380390"/>
          </a:xfrm>
          <a:prstGeom prst="rect">
            <a:avLst/>
          </a:prstGeom>
        </p:spPr>
      </p:pic>
      <p:sp>
        <p:nvSpPr>
          <p:cNvPr id="10" name="Text 4"/>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1" name="Image 3" descr="Mother Africa Festival">    </p:cNvPr>
          <p:cNvPicPr>
            <a:picLocks noChangeAspect="1"/>
          </p:cNvPicPr>
          <p:nvPr/>
        </p:nvPicPr>
        <p:blipFill>
          <a:blip r:embed="rId4"/>
          <a:stretch>
            <a:fillRect/>
          </a:stretch>
        </p:blipFill>
        <p:spPr>
          <a:xfrm>
            <a:off x="3474720" y="1005840"/>
            <a:ext cx="1224254" cy="868680"/>
          </a:xfrm>
          <a:prstGeom prst="rect">
            <a:avLst/>
          </a:prstGeom>
        </p:spPr>
      </p:pic>
      <p:sp>
        <p:nvSpPr>
          <p:cNvPr id="12" name="Shape 5"/>
          <p:cNvSpPr/>
          <p:nvPr/>
        </p:nvSpPr>
        <p:spPr>
          <a:xfrm>
            <a:off x="548640" y="5760720"/>
            <a:ext cx="1463040" cy="0"/>
          </a:xfrm>
          <a:prstGeom prst="line">
            <a:avLst/>
          </a:prstGeom>
          <a:noFill/>
          <a:ln w="25400">
            <a:solidFill>
              <a:schemeClr val="accent2"/>
            </a:solidFill>
            <a:prstDash val="solid"/>
          </a:ln>
        </p:spPr>
      </p:sp>
      <p:sp>
        <p:nvSpPr>
          <p:cNvPr id="13"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15,000+</a:t>
            </a:r>
            <a:endParaRPr lang="en-GB"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Festival goers at the first edition, December 2022</a:t>
            </a:r>
            <a:endParaRPr lang="en-GB"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40%</a:t>
            </a:r>
            <a:endParaRPr lang="en-GB"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Of them came from other countries, as reported</a:t>
            </a:r>
            <a:endParaRPr lang="en-GB"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20,000+</a:t>
            </a:r>
            <a:endParaRPr lang="en-GB"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Expected at the 5th edition, according to the organisers</a:t>
            </a:r>
            <a:endParaRPr lang="en-GB"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1B+ FCFA</a:t>
            </a:r>
            <a:endParaRPr lang="en-GB"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en-GB" altLang="en-US" sz="1200" dirty="0">
                <a:solidFill>
                  <a:schemeClr val="accent5"/>
                </a:solidFill>
              </a:rPr>
              <a:t>Over 1 billion FCFA: the festival as a sponsorship instrument</a:t>
            </a:r>
            <a:endParaRPr lang="en-GB"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THE STORY SO FAR</a:t>
            </a:r>
            <a:endParaRPr lang="en-GB"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2022</a:t>
            </a:r>
            <a:endParaRPr lang="en-GB"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First edition, 28 to 30 December in Abidjan</a:t>
            </a:r>
            <a:endParaRPr lang="en-GB"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2023</a:t>
            </a:r>
            <a:endParaRPr lang="en-GB"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2nd edition: Aya Nakamura, Ayra Starr</a:t>
            </a:r>
            <a:endParaRPr lang="en-GB"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2024</a:t>
            </a:r>
            <a:endParaRPr lang="en-GB"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3rd edition: Dadju and Tayc</a:t>
            </a:r>
            <a:endParaRPr lang="en-GB"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2025</a:t>
            </a:r>
            <a:endParaRPr lang="en-GB"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4th edition: Gims, Asake. On France 24</a:t>
            </a:r>
            <a:endParaRPr lang="en-GB"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en-GB" altLang="en-US" sz="1300" b="1" dirty="0">
                <a:solidFill>
                  <a:schemeClr val="accent3"/>
                </a:solidFill>
              </a:rPr>
              <a:t>2026</a:t>
            </a:r>
            <a:endParaRPr lang="en-GB"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5th edition: Davido headlines</a:t>
            </a:r>
            <a:endParaRPr lang="en-GB"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en-GB" altLang="en-US" sz="950" i="1" dirty="0">
                <a:solidFill>
                  <a:schemeClr val="tx2"/>
                </a:solidFill>
              </a:rPr>
              <a:t>Sources: Africa Radio, Music In Africa, Abidjan.net, Liferadio, France 24, Pulse, allAfrica. 20,000+ is the organisers’ expected figure.</a:t>
            </a:r>
            <a:endParaRPr lang="en-GB"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Three layers, one operator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548640" y="1783080"/>
            <a:ext cx="3511296" cy="457200"/>
          </a:xfrm>
          <a:prstGeom prst="rect">
            <a:avLst/>
          </a:prstGeom>
          <a:solidFill>
            <a:schemeClr val="accent1"/>
          </a:solidFill>
          <a:ln/>
        </p:spPr>
      </p:sp>
      <p:sp>
        <p:nvSpPr>
          <p:cNvPr id="10" name="Text 5"/>
          <p:cNvSpPr txBox="1"/>
          <p:nvPr/>
        </p:nvSpPr>
        <p:spPr>
          <a:xfrm>
            <a:off x="777240"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01</a:t>
            </a:r>
            <a:endParaRPr lang="en-GB" sz="1300" dirty="0"/>
          </a:p>
        </p:txBody>
      </p:sp>
      <p:sp>
        <p:nvSpPr>
          <p:cNvPr id="11" name="Text 6"/>
          <p:cNvSpPr txBox="1"/>
          <p:nvPr/>
        </p:nvSpPr>
        <p:spPr>
          <a:xfrm>
            <a:off x="777240"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Talent access</a:t>
            </a:r>
            <a:endParaRPr lang="en-GB" sz="2200" dirty="0"/>
          </a:p>
        </p:txBody>
      </p:sp>
      <p:sp>
        <p:nvSpPr>
          <p:cNvPr id="12" name="Text 7"/>
          <p:cNvSpPr txBox="1"/>
          <p:nvPr/>
        </p:nvSpPr>
        <p:spPr>
          <a:xfrm>
            <a:off x="777240"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Creators matched to the audiences Mother Africa wants</a:t>
            </a:r>
            <a:endParaRPr lang="en-GB" sz="1400" dirty="0"/>
          </a:p>
          <a:p>
            <a:pPr marL="177800" indent="-177800">
              <a:spcAft>
                <a:spcPts val="600"/>
              </a:spcAft>
              <a:buSzPct val="100000"/>
              <a:buChar char="•"/>
            </a:pPr>
            <a:r>
              <a:rPr lang="en-GB" altLang="en-US" sz="1400" dirty="0">
                <a:solidFill>
                  <a:schemeClr val="tx2"/>
                </a:solidFill>
              </a:rPr>
              <a:t>Music, fashion and lifestyle voices in Abidjan and the diaspora</a:t>
            </a:r>
            <a:endParaRPr lang="en-GB" sz="1400" dirty="0"/>
          </a:p>
          <a:p>
            <a:pPr marL="177800" indent="-177800">
              <a:spcAft>
                <a:spcPts val="600"/>
              </a:spcAft>
              <a:buSzPct val="100000"/>
              <a:buChar char="•"/>
            </a:pPr>
            <a:r>
              <a:rPr lang="en-GB" altLang="en-US" sz="1400" dirty="0">
                <a:solidFill>
                  <a:schemeClr val="tx2"/>
                </a:solidFill>
              </a:rPr>
              <a:t>DJs and streamers for the headline sets</a:t>
            </a:r>
            <a:endParaRPr lang="en-GB" sz="1400" dirty="0"/>
          </a:p>
          <a:p>
            <a:pPr marL="177800" indent="-177800">
              <a:spcAft>
                <a:spcPts val="600"/>
              </a:spcAft>
              <a:buSzPct val="100000"/>
              <a:buChar char="•"/>
            </a:pPr>
            <a:r>
              <a:rPr lang="en-GB" altLang="en-US" sz="1400" dirty="0">
                <a:solidFill>
                  <a:schemeClr val="tx2"/>
                </a:solidFill>
              </a:rPr>
              <a:t>VIP invitations organised for talent</a:t>
            </a:r>
            <a:endParaRPr lang="en-GB" sz="1400" dirty="0"/>
          </a:p>
        </p:txBody>
      </p:sp>
      <p:sp>
        <p:nvSpPr>
          <p:cNvPr id="13" name="Shape 8"/>
          <p:cNvSpPr/>
          <p:nvPr/>
        </p:nvSpPr>
        <p:spPr>
          <a:xfrm>
            <a:off x="4338828"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9"/>
          <p:cNvSpPr/>
          <p:nvPr/>
        </p:nvSpPr>
        <p:spPr>
          <a:xfrm>
            <a:off x="4338828" y="1783080"/>
            <a:ext cx="3511296" cy="457200"/>
          </a:xfrm>
          <a:prstGeom prst="rect">
            <a:avLst/>
          </a:prstGeom>
          <a:solidFill>
            <a:schemeClr val="accent1"/>
          </a:solidFill>
          <a:ln/>
        </p:spPr>
      </p:sp>
      <p:sp>
        <p:nvSpPr>
          <p:cNvPr id="15" name="Text 10"/>
          <p:cNvSpPr txBox="1"/>
          <p:nvPr/>
        </p:nvSpPr>
        <p:spPr>
          <a:xfrm>
            <a:off x="4567428"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02</a:t>
            </a:r>
            <a:endParaRPr lang="en-GB" sz="1300" dirty="0"/>
          </a:p>
        </p:txBody>
      </p:sp>
      <p:sp>
        <p:nvSpPr>
          <p:cNvPr id="16" name="Text 11"/>
          <p:cNvSpPr txBox="1"/>
          <p:nvPr/>
        </p:nvSpPr>
        <p:spPr>
          <a:xfrm>
            <a:off x="4567428"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Creator management</a:t>
            </a:r>
            <a:endParaRPr lang="en-GB" sz="2200" dirty="0"/>
          </a:p>
        </p:txBody>
      </p:sp>
      <p:sp>
        <p:nvSpPr>
          <p:cNvPr id="17" name="Text 12"/>
          <p:cNvSpPr txBox="1"/>
          <p:nvPr/>
        </p:nvSpPr>
        <p:spPr>
          <a:xfrm>
            <a:off x="4567428"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Set deliverables agreed with every creator</a:t>
            </a:r>
            <a:endParaRPr lang="en-GB" sz="1400" dirty="0"/>
          </a:p>
          <a:p>
            <a:pPr marL="177800" indent="-177800">
              <a:spcAft>
                <a:spcPts val="600"/>
              </a:spcAft>
              <a:buSzPct val="100000"/>
              <a:buChar char="•"/>
            </a:pPr>
            <a:r>
              <a:rPr lang="en-GB" altLang="en-US" sz="1400" dirty="0">
                <a:solidFill>
                  <a:schemeClr val="tx2"/>
                </a:solidFill>
              </a:rPr>
              <a:t>Briefs with key messages, tags and the ticket link</a:t>
            </a:r>
            <a:endParaRPr lang="en-GB" sz="1400" dirty="0"/>
          </a:p>
          <a:p>
            <a:pPr marL="177800" indent="-177800">
              <a:spcAft>
                <a:spcPts val="600"/>
              </a:spcAft>
              <a:buSzPct val="100000"/>
              <a:buChar char="•"/>
            </a:pPr>
            <a:r>
              <a:rPr lang="en-GB" altLang="en-US" sz="1400" dirty="0">
                <a:solidFill>
                  <a:schemeClr val="tx2"/>
                </a:solidFill>
              </a:rPr>
              <a:t>Accreditation, scheduling and one point of contact</a:t>
            </a:r>
            <a:endParaRPr lang="en-GB" sz="1400" dirty="0"/>
          </a:p>
          <a:p>
            <a:pPr marL="177800" indent="-177800">
              <a:spcAft>
                <a:spcPts val="600"/>
              </a:spcAft>
              <a:buSzPct val="100000"/>
              <a:buChar char="•"/>
            </a:pPr>
            <a:r>
              <a:rPr lang="en-GB" altLang="en-US" sz="1400" dirty="0">
                <a:solidFill>
                  <a:schemeClr val="tx2"/>
                </a:solidFill>
              </a:rPr>
              <a:t>On site on both nights, in the moments that matter</a:t>
            </a:r>
            <a:endParaRPr lang="en-GB" sz="1400" dirty="0"/>
          </a:p>
        </p:txBody>
      </p:sp>
      <p:sp>
        <p:nvSpPr>
          <p:cNvPr id="18" name="Shape 13"/>
          <p:cNvSpPr/>
          <p:nvPr/>
        </p:nvSpPr>
        <p:spPr>
          <a:xfrm>
            <a:off x="8129016"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4"/>
          <p:cNvSpPr/>
          <p:nvPr/>
        </p:nvSpPr>
        <p:spPr>
          <a:xfrm>
            <a:off x="8129016" y="1783080"/>
            <a:ext cx="3511296" cy="457200"/>
          </a:xfrm>
          <a:prstGeom prst="rect">
            <a:avLst/>
          </a:prstGeom>
          <a:solidFill>
            <a:schemeClr val="accent1"/>
          </a:solidFill>
          <a:ln/>
        </p:spPr>
      </p:sp>
      <p:sp>
        <p:nvSpPr>
          <p:cNvPr id="20" name="Text 15"/>
          <p:cNvSpPr txBox="1"/>
          <p:nvPr/>
        </p:nvSpPr>
        <p:spPr>
          <a:xfrm>
            <a:off x="8357616"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03</a:t>
            </a:r>
            <a:endParaRPr lang="en-GB" sz="1300" dirty="0"/>
          </a:p>
        </p:txBody>
      </p:sp>
      <p:sp>
        <p:nvSpPr>
          <p:cNvPr id="21" name="Text 16"/>
          <p:cNvSpPr txBox="1"/>
          <p:nvPr/>
        </p:nvSpPr>
        <p:spPr>
          <a:xfrm>
            <a:off x="8357616"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The visibility report</a:t>
            </a:r>
            <a:endParaRPr lang="en-GB" sz="2200" dirty="0"/>
          </a:p>
        </p:txBody>
      </p:sp>
      <p:sp>
        <p:nvSpPr>
          <p:cNvPr id="22" name="Text 17"/>
          <p:cNvSpPr txBox="1"/>
          <p:nvPr/>
        </p:nvSpPr>
        <p:spPr>
          <a:xfrm>
            <a:off x="8357616"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A check at 48 hours, the full report on day 14</a:t>
            </a:r>
            <a:endParaRPr lang="en-GB" sz="1400" dirty="0"/>
          </a:p>
          <a:p>
            <a:pPr marL="177800" indent="-177800">
              <a:spcAft>
                <a:spcPts val="600"/>
              </a:spcAft>
              <a:buSzPct val="100000"/>
              <a:buChar char="•"/>
            </a:pPr>
            <a:r>
              <a:rPr lang="en-GB" altLang="en-US" sz="1400" dirty="0">
                <a:solidFill>
                  <a:schemeClr val="tx2"/>
                </a:solidFill>
              </a:rPr>
              <a:t>Every post, every platform, in one document</a:t>
            </a:r>
            <a:endParaRPr lang="en-GB" sz="1400" dirty="0"/>
          </a:p>
          <a:p>
            <a:pPr marL="177800" indent="-177800">
              <a:spcAft>
                <a:spcPts val="600"/>
              </a:spcAft>
              <a:buSzPct val="100000"/>
              <a:buChar char="•"/>
            </a:pPr>
            <a:r>
              <a:rPr lang="en-GB" altLang="en-US" sz="1400" dirty="0">
                <a:solidFill>
                  <a:schemeClr val="tx2"/>
                </a:solidFill>
              </a:rPr>
              <a:t>Audiences, diaspora reach and ticket links</a:t>
            </a:r>
            <a:endParaRPr lang="en-GB" sz="1400" dirty="0"/>
          </a:p>
          <a:p>
            <a:pPr marL="177800" indent="-177800">
              <a:spcAft>
                <a:spcPts val="600"/>
              </a:spcAft>
              <a:buSzPct val="100000"/>
              <a:buChar char="•"/>
            </a:pPr>
            <a:r>
              <a:rPr lang="en-GB" altLang="en-US" sz="1400" dirty="0">
                <a:solidFill>
                  <a:schemeClr val="tx2"/>
                </a:solidFill>
              </a:rPr>
              <a:t>Sponsor value, partner by partner</a:t>
            </a:r>
            <a:endParaRPr lang="en-GB" sz="1400" dirty="0"/>
          </a:p>
        </p:txBody>
      </p:sp>
      <p:sp>
        <p:nvSpPr>
          <p:cNvPr id="23" name="Shape 18"/>
          <p:cNvSpPr/>
          <p:nvPr/>
        </p:nvSpPr>
        <p:spPr>
          <a:xfrm>
            <a:off x="548640" y="5212080"/>
            <a:ext cx="11094415" cy="731520"/>
          </a:xfrm>
          <a:prstGeom prst="roundRect">
            <a:avLst>
              <a:gd name="adj" fmla="val 12500"/>
            </a:avLst>
          </a:prstGeom>
          <a:solidFill>
            <a:schemeClr val="tx1"/>
          </a:solidFill>
          <a:ln/>
        </p:spPr>
      </p:sp>
      <p:sp>
        <p:nvSpPr>
          <p:cNvPr id="24" name="Text 19"/>
          <p:cNvSpPr txBox="1"/>
          <p:nvPr/>
        </p:nvSpPr>
        <p:spPr>
          <a:xfrm>
            <a:off x="822960" y="521208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5486400" cy="1463040"/>
          </a:xfrm>
          <a:prstGeom prst="roundRect">
            <a:avLst>
              <a:gd name="adj" fmla="val 6250"/>
            </a:avLst>
          </a:prstGeom>
          <a:solidFill>
            <a:schemeClr val="tx1"/>
          </a:solidFill>
          <a:ln/>
        </p:spPr>
      </p:sp>
      <p:sp>
        <p:nvSpPr>
          <p:cNvPr id="43" name="Text 38"/>
          <p:cNvSpPr txBox="1"/>
          <p:nvPr/>
        </p:nvSpPr>
        <p:spPr>
          <a:xfrm>
            <a:off x="822960" y="4846320"/>
            <a:ext cx="45720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502920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300" dirty="0">
                <a:solidFill>
                  <a:schemeClr val="bg1"/>
                </a:solidFill>
              </a:rPr>
              <a:t>Every creator checked against the brief within 48 hours</a:t>
            </a:r>
            <a:endParaRPr lang="en-GB" sz="1300" dirty="0"/>
          </a:p>
          <a:p>
            <a:pPr marL="177800" indent="-177800">
              <a:spcAft>
                <a:spcPts val="400"/>
              </a:spcAft>
              <a:buSzPct val="100000"/>
              <a:buChar char="•"/>
            </a:pPr>
            <a:r>
              <a:rPr lang="en-GB" altLang="en-US" sz="1300" dirty="0">
                <a:solidFill>
                  <a:schemeClr val="bg1"/>
                </a:solidFill>
              </a:rPr>
              <a:t>Analytics collected by screen recording, not screenshots</a:t>
            </a:r>
            <a:endParaRPr lang="en-GB" sz="13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Image 2" descr="preencoded.png">    </p:cNvPr>
          <p:cNvPicPr>
            <a:picLocks noChangeAspect="1"/>
          </p:cNvPicPr>
          <p:nvPr/>
        </p:nvPicPr>
        <p:blipFill>
          <a:blip r:embed="rId3"/>
          <a:stretch>
            <a:fillRect/>
          </a:stretch>
        </p:blipFill>
        <p:spPr>
          <a:xfrm>
            <a:off x="6355080" y="4818888"/>
            <a:ext cx="274320" cy="274320"/>
          </a:xfrm>
          <a:prstGeom prst="rect">
            <a:avLst/>
          </a:prstGeom>
        </p:spPr>
      </p:pic>
      <p:sp>
        <p:nvSpPr>
          <p:cNvPr id="47" name="Text 41"/>
          <p:cNvSpPr txBox="1"/>
          <p:nvPr/>
        </p:nvSpPr>
        <p:spPr>
          <a:xfrm>
            <a:off x="6766560" y="4800600"/>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One point of contact for the festival team</a:t>
            </a:r>
            <a:endParaRPr lang="en-GB" sz="1400" dirty="0"/>
          </a:p>
        </p:txBody>
      </p:sp>
      <p:pic>
        <p:nvPicPr>
          <p:cNvPr id="48" name="Image 3" descr="preencoded.png">    </p:cNvPr>
          <p:cNvPicPr>
            <a:picLocks noChangeAspect="1"/>
          </p:cNvPicPr>
          <p:nvPr/>
        </p:nvPicPr>
        <p:blipFill>
          <a:blip r:embed="rId4"/>
          <a:stretch>
            <a:fillRect/>
          </a:stretch>
        </p:blipFill>
        <p:spPr>
          <a:xfrm>
            <a:off x="6355080" y="5294376"/>
            <a:ext cx="274320" cy="274320"/>
          </a:xfrm>
          <a:prstGeom prst="rect">
            <a:avLst/>
          </a:prstGeom>
        </p:spPr>
      </p:pic>
      <p:sp>
        <p:nvSpPr>
          <p:cNvPr id="49" name="Text 42"/>
          <p:cNvSpPr txBox="1"/>
          <p:nvPr/>
        </p:nvSpPr>
        <p:spPr>
          <a:xfrm>
            <a:off x="6766560" y="5276088"/>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A shared tracker of every creator and every post</a:t>
            </a:r>
            <a:endParaRPr lang="en-GB" sz="1400" dirty="0"/>
          </a:p>
        </p:txBody>
      </p:sp>
      <p:pic>
        <p:nvPicPr>
          <p:cNvPr id="50" name="Image 4" descr="preencoded.png">    </p:cNvPr>
          <p:cNvPicPr>
            <a:picLocks noChangeAspect="1"/>
          </p:cNvPicPr>
          <p:nvPr/>
        </p:nvPicPr>
        <p:blipFill>
          <a:blip r:embed="rId5"/>
          <a:stretch>
            <a:fillRect/>
          </a:stretch>
        </p:blipFill>
        <p:spPr>
          <a:xfrm>
            <a:off x="6355080" y="5769864"/>
            <a:ext cx="274320" cy="274320"/>
          </a:xfrm>
          <a:prstGeom prst="rect">
            <a:avLst/>
          </a:prstGeom>
        </p:spPr>
      </p:pic>
      <p:sp>
        <p:nvSpPr>
          <p:cNvPr id="51" name="Text 43"/>
          <p:cNvSpPr txBox="1"/>
          <p:nvPr/>
        </p:nvSpPr>
        <p:spPr>
          <a:xfrm>
            <a:off x="6766560" y="5751576"/>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Brand safety rules agreed with you before anyone posts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86000"/>
            <a:ext cx="4218127" cy="2971800"/>
          </a:xfrm>
          <a:prstGeom prst="roundRect">
            <a:avLst>
              <a:gd name="adj" fmla="val 3077"/>
            </a:avLst>
          </a:prstGeom>
          <a:solidFill>
            <a:schemeClr val="accent6"/>
          </a:solidFill>
          <a:ln/>
        </p:spPr>
      </p:sp>
      <p:sp>
        <p:nvSpPr>
          <p:cNvPr id="13" name="Text 7"/>
          <p:cNvSpPr txBox="1"/>
          <p:nvPr/>
        </p:nvSpPr>
        <p:spPr>
          <a:xfrm>
            <a:off x="822960" y="254203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4" name="Text 8"/>
          <p:cNvSpPr txBox="1"/>
          <p:nvPr/>
        </p:nvSpPr>
        <p:spPr>
          <a:xfrm>
            <a:off x="822960" y="2852928"/>
            <a:ext cx="3669487"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Build up</a:t>
            </a:r>
            <a:endParaRPr lang="en-GB" sz="2600" dirty="0"/>
          </a:p>
        </p:txBody>
      </p:sp>
      <p:sp>
        <p:nvSpPr>
          <p:cNvPr id="15" name="Text 9"/>
          <p:cNvSpPr txBox="1"/>
          <p:nvPr/>
        </p:nvSpPr>
        <p:spPr>
          <a:xfrm>
            <a:off x="822960" y="3383280"/>
            <a:ext cx="3669487"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awareness and ticket sales</a:t>
            </a:r>
            <a:endParaRPr lang="en-GB" sz="1400" dirty="0"/>
          </a:p>
        </p:txBody>
      </p:sp>
      <p:sp>
        <p:nvSpPr>
          <p:cNvPr id="16" name="Text 10"/>
          <p:cNvSpPr txBox="1"/>
          <p:nvPr/>
        </p:nvSpPr>
        <p:spPr>
          <a:xfrm>
            <a:off x="822960" y="3840480"/>
            <a:ext cx="3669487"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Creator lineup announced</a:t>
            </a:r>
            <a:endParaRPr lang="en-GB" sz="1300" dirty="0"/>
          </a:p>
          <a:p>
            <a:pPr marL="177800" indent="-177800">
              <a:spcAft>
                <a:spcPts val="600"/>
              </a:spcAft>
              <a:buSzPct val="100000"/>
              <a:buChar char="•"/>
            </a:pPr>
            <a:r>
              <a:rPr lang="en-GB" altLang="en-US" sz="1300" dirty="0">
                <a:solidFill>
                  <a:schemeClr val="accent5"/>
                </a:solidFill>
              </a:rPr>
              <a:t>Davido countdown</a:t>
            </a:r>
            <a:endParaRPr lang="en-GB" sz="1300" dirty="0"/>
          </a:p>
          <a:p>
            <a:pPr marL="177800" indent="-177800">
              <a:spcAft>
                <a:spcPts val="600"/>
              </a:spcAft>
              <a:buSzPct val="100000"/>
              <a:buChar char="•"/>
            </a:pPr>
            <a:r>
              <a:rPr lang="en-GB" altLang="en-US" sz="1300" dirty="0">
                <a:solidFill>
                  <a:schemeClr val="accent5"/>
                </a:solidFill>
              </a:rPr>
              <a:t>Weekly ticket pushes with tracked links</a:t>
            </a:r>
            <a:endParaRPr lang="en-GB" sz="1300" dirty="0"/>
          </a:p>
          <a:p>
            <a:pPr marL="177800" indent="-177800">
              <a:spcAft>
                <a:spcPts val="600"/>
              </a:spcAft>
              <a:buSzPct val="100000"/>
              <a:buChar char="•"/>
            </a:pPr>
            <a:r>
              <a:rPr lang="en-GB" altLang="en-US" sz="1300" dirty="0">
                <a:solidFill>
                  <a:schemeClr val="accent5"/>
                </a:solidFill>
              </a:rPr>
              <a:t>A last call before Christmas</a:t>
            </a:r>
            <a:endParaRPr lang="en-GB" sz="1300" dirty="0"/>
          </a:p>
        </p:txBody>
      </p:sp>
      <p:sp>
        <p:nvSpPr>
          <p:cNvPr id="17" name="Shape 11"/>
          <p:cNvSpPr/>
          <p:nvPr/>
        </p:nvSpPr>
        <p:spPr>
          <a:xfrm>
            <a:off x="5269687" y="1828800"/>
            <a:ext cx="274320" cy="274320"/>
          </a:xfrm>
          <a:prstGeom prst="ellipse">
            <a:avLst/>
          </a:prstGeom>
          <a:solidFill>
            <a:schemeClr val="accent2"/>
          </a:solidFill>
          <a:ln/>
        </p:spPr>
      </p:sp>
      <p:sp>
        <p:nvSpPr>
          <p:cNvPr id="18" name="Shape 12"/>
          <p:cNvSpPr/>
          <p:nvPr/>
        </p:nvSpPr>
        <p:spPr>
          <a:xfrm>
            <a:off x="5041087" y="2286000"/>
            <a:ext cx="3163824" cy="2971800"/>
          </a:xfrm>
          <a:prstGeom prst="roundRect">
            <a:avLst>
              <a:gd name="adj" fmla="val 3077"/>
            </a:avLst>
          </a:prstGeom>
          <a:solidFill>
            <a:schemeClr val="accent2"/>
          </a:solidFill>
          <a:ln/>
        </p:spPr>
      </p:sp>
      <p:sp>
        <p:nvSpPr>
          <p:cNvPr id="19" name="Text 13"/>
          <p:cNvSpPr txBox="1"/>
          <p:nvPr/>
        </p:nvSpPr>
        <p:spPr>
          <a:xfrm>
            <a:off x="5315407"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0" name="Text 14"/>
          <p:cNvSpPr txBox="1"/>
          <p:nvPr/>
        </p:nvSpPr>
        <p:spPr>
          <a:xfrm>
            <a:off x="5315407" y="2852928"/>
            <a:ext cx="2615184"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Festival nights</a:t>
            </a:r>
            <a:endParaRPr lang="en-GB" sz="2600" dirty="0"/>
          </a:p>
        </p:txBody>
      </p:sp>
      <p:sp>
        <p:nvSpPr>
          <p:cNvPr id="21" name="Text 15"/>
          <p:cNvSpPr txBox="1"/>
          <p:nvPr/>
        </p:nvSpPr>
        <p:spPr>
          <a:xfrm>
            <a:off x="5315407" y="3383280"/>
            <a:ext cx="2615184" cy="320040"/>
          </a:xfrm>
          <a:prstGeom prst="rect">
            <a:avLst/>
          </a:prstGeom>
          <a:noFill/>
          <a:ln/>
        </p:spPr>
        <p:txBody>
          <a:bodyPr wrap="square" lIns="0" tIns="0" rIns="0" bIns="0" rtlCol="0" anchor="t"/>
          <a:lstStyle/>
          <a:p>
            <a:pPr indent="0" marL="0">
              <a:buNone/>
            </a:pPr>
            <a:r>
              <a:rPr lang="en-GB" altLang="en-US" sz="1400" b="1" dirty="0">
                <a:solidFill>
                  <a:schemeClr val="tx1"/>
                </a:solidFill>
              </a:rPr>
              <a:t>Goal: live attention</a:t>
            </a:r>
            <a:endParaRPr lang="en-GB" sz="1400" dirty="0"/>
          </a:p>
        </p:txBody>
      </p:sp>
      <p:sp>
        <p:nvSpPr>
          <p:cNvPr id="22" name="Text 16"/>
          <p:cNvSpPr txBox="1"/>
          <p:nvPr/>
        </p:nvSpPr>
        <p:spPr>
          <a:xfrm>
            <a:off x="5315407"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tx1"/>
                </a:solidFill>
              </a:rPr>
              <a:t>Arrivals and festival looks</a:t>
            </a:r>
            <a:endParaRPr lang="en-GB" sz="1300" dirty="0"/>
          </a:p>
          <a:p>
            <a:pPr marL="177800" indent="-177800">
              <a:spcAft>
                <a:spcPts val="600"/>
              </a:spcAft>
              <a:buSzPct val="100000"/>
              <a:buChar char="•"/>
            </a:pPr>
            <a:r>
              <a:rPr lang="en-GB" altLang="en-US" sz="1300" dirty="0">
                <a:solidFill>
                  <a:schemeClr val="tx1"/>
                </a:solidFill>
              </a:rPr>
              <a:t>Crowd POV during headline sets</a:t>
            </a:r>
            <a:endParaRPr lang="en-GB" sz="1300" dirty="0"/>
          </a:p>
          <a:p>
            <a:pPr marL="177800" indent="-177800">
              <a:spcAft>
                <a:spcPts val="600"/>
              </a:spcAft>
              <a:buSzPct val="100000"/>
              <a:buChar char="•"/>
            </a:pPr>
            <a:r>
              <a:rPr lang="en-GB" altLang="en-US" sz="1300" dirty="0">
                <a:solidFill>
                  <a:schemeClr val="tx1"/>
                </a:solidFill>
              </a:rPr>
              <a:t>Sponsor activations in shot</a:t>
            </a:r>
            <a:endParaRPr lang="en-GB" sz="1300" dirty="0"/>
          </a:p>
          <a:p>
            <a:pPr marL="177800" indent="-177800">
              <a:spcAft>
                <a:spcPts val="600"/>
              </a:spcAft>
              <a:buSzPct val="100000"/>
              <a:buChar char="•"/>
            </a:pPr>
            <a:r>
              <a:rPr lang="en-GB" altLang="en-US" sz="1300" dirty="0">
                <a:solidFill>
                  <a:schemeClr val="tx1"/>
                </a:solidFill>
              </a:rPr>
              <a:t>A recap each night</a:t>
            </a:r>
            <a:endParaRPr lang="en-GB" sz="1300" dirty="0"/>
          </a:p>
        </p:txBody>
      </p:sp>
      <p:sp>
        <p:nvSpPr>
          <p:cNvPr id="23" name="Shape 17"/>
          <p:cNvSpPr/>
          <p:nvPr/>
        </p:nvSpPr>
        <p:spPr>
          <a:xfrm>
            <a:off x="8707831" y="1828800"/>
            <a:ext cx="274320" cy="274320"/>
          </a:xfrm>
          <a:prstGeom prst="ellipse">
            <a:avLst/>
          </a:prstGeom>
          <a:solidFill>
            <a:schemeClr val="accent1"/>
          </a:solidFill>
          <a:ln/>
        </p:spPr>
      </p:sp>
      <p:sp>
        <p:nvSpPr>
          <p:cNvPr id="24" name="Shape 18"/>
          <p:cNvSpPr/>
          <p:nvPr/>
        </p:nvSpPr>
        <p:spPr>
          <a:xfrm>
            <a:off x="8479231" y="2286000"/>
            <a:ext cx="3163824" cy="2971800"/>
          </a:xfrm>
          <a:prstGeom prst="roundRect">
            <a:avLst>
              <a:gd name="adj" fmla="val 3077"/>
            </a:avLst>
          </a:prstGeom>
          <a:solidFill>
            <a:schemeClr val="accent6"/>
          </a:solidFill>
          <a:ln/>
        </p:spPr>
      </p:sp>
      <p:sp>
        <p:nvSpPr>
          <p:cNvPr id="25" name="Text 19"/>
          <p:cNvSpPr txBox="1"/>
          <p:nvPr/>
        </p:nvSpPr>
        <p:spPr>
          <a:xfrm>
            <a:off x="8753551"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6" name="Text 20"/>
          <p:cNvSpPr txBox="1"/>
          <p:nvPr/>
        </p:nvSpPr>
        <p:spPr>
          <a:xfrm>
            <a:off x="8753551" y="2852928"/>
            <a:ext cx="2615184"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Afterglow</a:t>
            </a:r>
            <a:endParaRPr lang="en-GB" sz="2600" dirty="0"/>
          </a:p>
        </p:txBody>
      </p:sp>
      <p:sp>
        <p:nvSpPr>
          <p:cNvPr id="27" name="Text 21"/>
          <p:cNvSpPr txBox="1"/>
          <p:nvPr/>
        </p:nvSpPr>
        <p:spPr>
          <a:xfrm>
            <a:off x="8753551" y="3383280"/>
            <a:ext cx="2615184"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keep the story alive</a:t>
            </a:r>
            <a:endParaRPr lang="en-GB" sz="1400" dirty="0"/>
          </a:p>
        </p:txBody>
      </p:sp>
      <p:sp>
        <p:nvSpPr>
          <p:cNvPr id="28" name="Text 22"/>
          <p:cNvSpPr txBox="1"/>
          <p:nvPr/>
        </p:nvSpPr>
        <p:spPr>
          <a:xfrm>
            <a:off x="8753551"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Recap reels and best of edits</a:t>
            </a:r>
            <a:endParaRPr lang="en-GB" sz="1300" dirty="0"/>
          </a:p>
          <a:p>
            <a:pPr marL="177800" indent="-177800">
              <a:spcAft>
                <a:spcPts val="600"/>
              </a:spcAft>
              <a:buSzPct val="100000"/>
              <a:buChar char="•"/>
            </a:pPr>
            <a:r>
              <a:rPr lang="en-GB" altLang="en-US" sz="1300" dirty="0">
                <a:solidFill>
                  <a:schemeClr val="accent5"/>
                </a:solidFill>
              </a:rPr>
              <a:t>Creator thank you posts</a:t>
            </a:r>
            <a:endParaRPr lang="en-GB" sz="1300" dirty="0"/>
          </a:p>
          <a:p>
            <a:pPr marL="177800" indent="-177800">
              <a:spcAft>
                <a:spcPts val="600"/>
              </a:spcAft>
              <a:buSzPct val="100000"/>
              <a:buChar char="•"/>
            </a:pPr>
            <a:r>
              <a:rPr lang="en-GB" altLang="en-US" sz="1300" dirty="0">
                <a:solidFill>
                  <a:schemeClr val="accent5"/>
                </a:solidFill>
              </a:rPr>
              <a:t>Results shared with fans and partners</a:t>
            </a:r>
            <a:endParaRPr lang="en-GB" sz="1300" dirty="0"/>
          </a:p>
          <a:p>
            <a:pPr marL="177800" indent="-177800">
              <a:spcAft>
                <a:spcPts val="600"/>
              </a:spcAft>
              <a:buSzPct val="100000"/>
              <a:buChar char="•"/>
            </a:pPr>
            <a:r>
              <a:rPr lang="en-GB" altLang="en-US" sz="1300" dirty="0">
                <a:solidFill>
                  <a:schemeClr val="accent5"/>
                </a:solidFill>
              </a:rPr>
              <a:t>A 2027 save the date, if planned</a:t>
            </a:r>
            <a:endParaRPr lang="en-GB" sz="1300" dirty="0"/>
          </a:p>
        </p:txBody>
      </p:sp>
      <p:sp>
        <p:nvSpPr>
          <p:cNvPr id="29" name="Shape 23"/>
          <p:cNvSpPr/>
          <p:nvPr/>
        </p:nvSpPr>
        <p:spPr>
          <a:xfrm>
            <a:off x="548640" y="5532120"/>
            <a:ext cx="54864" cy="548640"/>
          </a:xfrm>
          <a:prstGeom prst="rect">
            <a:avLst/>
          </a:prstGeom>
          <a:solidFill>
            <a:schemeClr val="accent1"/>
          </a:solidFill>
          <a:ln/>
        </p:spPr>
      </p:sp>
      <p:sp>
        <p:nvSpPr>
          <p:cNvPr id="30" name="Text 24"/>
          <p:cNvSpPr txBox="1"/>
          <p:nvPr/>
        </p:nvSpPr>
        <p:spPr>
          <a:xfrm>
            <a:off x="777240" y="5532120"/>
            <a:ext cx="10789920" cy="54864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Every wave sits in one content calendar, approved by the festival before anything goes live.</a:t>
            </a:r>
            <a:endParaRPr lang="en-GB" sz="2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Visibility for every sponsor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2598725" cy="292608"/>
          </a:xfrm>
          <a:prstGeom prst="roundRect">
            <a:avLst>
              <a:gd name="adj" fmla="val 18750"/>
            </a:avLst>
          </a:prstGeom>
          <a:solidFill>
            <a:schemeClr val="tx1">
              <a:alpha val="70000"/>
            </a:schemeClr>
          </a:solidFill>
          <a:ln/>
        </p:spPr>
      </p:sp>
      <p:sp>
        <p:nvSpPr>
          <p:cNvPr id="10" name="Text 4"/>
          <p:cNvSpPr txBox="1"/>
          <p:nvPr/>
        </p:nvSpPr>
        <p:spPr>
          <a:xfrm>
            <a:off x="658368" y="367647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Written into every brief</a:t>
            </a:r>
            <a:endParaRPr lang="en-GB"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Sponsor mentions agreed in advance, so partners appear naturally.</a:t>
            </a:r>
            <a:endParaRPr lang="en-GB"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Branding in shot</a:t>
            </a:r>
            <a:endParaRPr lang="en-GB"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Creators guided to every activation and stage banner on both nights.</a:t>
            </a:r>
            <a:endParaRPr lang="en-GB"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A page per sponsor</a:t>
            </a:r>
            <a:endParaRPr lang="en-GB"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Posts, views, screen time and a media value, clearly labelled as estimated.</a:t>
            </a:r>
            <a:endParaRPr lang="en-GB"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Reusable content</a:t>
            </a:r>
            <a:endParaRPr lang="en-GB"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The festival and its sponsors can share the best pieces again.</a:t>
            </a:r>
            <a:endParaRPr lang="en-GB"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What Mother Africa actually receives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3657600"/>
                <a:gridCol w="5242255"/>
              </a:tblGrid>
              <a:tr h="438912">
                <a:tc>
                  <a:txBody>
                    <a:bodyPr/>
                    <a:lstStyle/>
                    <a:p>
                      <a:pPr indent="0" marL="0">
                        <a:buNone/>
                      </a:pPr>
                      <a:r>
                        <a:rPr lang="en-US" sz="1300" b="1" dirty="0">
                          <a:solidFill>
                            <a:schemeClr val="bg1"/>
                          </a:solidFill>
                        </a:rPr>
                        <a:t>What we measure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tells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How we capture it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tx1"/>
                          </a:solidFill>
                        </a:rPr>
                        <a:t>Views and reach</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far festival content travelled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Screen recorded analytics from every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Interactions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Whether people cared enough to react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Likes, comments, shares and saves, per post and per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Audiences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Who watched, and from where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Countries, Côte d’Ivoire and diaspora, age and gender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Tickets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Which creators drove ticket sales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Tracked links to maf.tikerama.com, and codes where supplied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Festival accounts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New followers for Mother Africa</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Account growth through the build up and the nights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Conversation</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much people talk about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Hashtag and mention tracking</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Sponsor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each partner received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 screen moments, screen time, estimated media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9" name="Text 3"/>
          <p:cNvSpPr txBox="1"/>
          <p:nvPr/>
        </p:nvSpPr>
        <p:spPr>
          <a:xfrm>
            <a:off x="548640" y="5623560"/>
            <a:ext cx="11094415" cy="274320"/>
          </a:xfrm>
          <a:prstGeom prst="rect">
            <a:avLst/>
          </a:prstGeom>
          <a:noFill/>
          <a:ln/>
        </p:spPr>
        <p:txBody>
          <a:bodyPr wrap="square" lIns="0" tIns="0" rIns="0" bIns="0" rtlCol="0" anchor="t"/>
          <a:lstStyle/>
          <a:p>
            <a:pPr indent="0" marL="0">
              <a:buNone/>
            </a:pPr>
            <a:r>
              <a:rPr lang="en-GB" altLang="en-US" sz="1300" i="1" dirty="0">
                <a:solidFill>
                  <a:schemeClr val="tx2"/>
                </a:solidFill>
              </a:rPr>
              <a:t>Every figure comes from creator analytics, tracked links or ticketing data. Anything modelled is labelled estimated.</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Reports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Weekly pulse</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EVERY MONDAY IN THE BUILD UP</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One page: posts live, views, top creators, ticket links used and what changes next.</a:t>
            </a:r>
            <a:endParaRPr lang="en-GB" sz="1400" dirty="0"/>
          </a:p>
        </p:txBody>
      </p:sp>
      <p:sp>
        <p:nvSpPr>
          <p:cNvPr id="13" name="Shape 7"/>
          <p:cNvSpPr/>
          <p:nvPr/>
        </p:nvSpPr>
        <p:spPr>
          <a:xfrm>
            <a:off x="548640" y="315468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97326"/>
            <a:ext cx="309067" cy="309067"/>
          </a:xfrm>
          <a:prstGeom prst="rect">
            <a:avLst/>
          </a:prstGeom>
        </p:spPr>
      </p:pic>
      <p:sp>
        <p:nvSpPr>
          <p:cNvPr id="15" name="Text 8"/>
          <p:cNvSpPr txBox="1"/>
          <p:nvPr/>
        </p:nvSpPr>
        <p:spPr>
          <a:xfrm>
            <a:off x="1371600" y="3118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538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840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48056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623206"/>
            <a:ext cx="309067" cy="309067"/>
          </a:xfrm>
          <a:prstGeom prst="rect">
            <a:avLst/>
          </a:prstGeom>
        </p:spPr>
      </p:pic>
      <p:sp>
        <p:nvSpPr>
          <p:cNvPr id="20" name="Text 12"/>
          <p:cNvSpPr txBox="1"/>
          <p:nvPr/>
        </p:nvSpPr>
        <p:spPr>
          <a:xfrm>
            <a:off x="1371600" y="444398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86460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516636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sponsor pages and recommendations for 2027.</a:t>
            </a:r>
            <a:endParaRPr lang="en-GB" sz="1400" dirty="0"/>
          </a:p>
        </p:txBody>
      </p:sp>
      <p:sp>
        <p:nvSpPr>
          <p:cNvPr id="23" name="Text 15"/>
          <p:cNvSpPr txBox="1"/>
          <p:nvPr/>
        </p:nvSpPr>
        <p:spPr>
          <a:xfrm>
            <a:off x="1371600" y="5852160"/>
            <a:ext cx="5120640" cy="274320"/>
          </a:xfrm>
          <a:prstGeom prst="rect">
            <a:avLst/>
          </a:prstGeom>
          <a:noFill/>
          <a:ln/>
        </p:spPr>
        <p:txBody>
          <a:bodyPr wrap="square" lIns="0" tIns="0" rIns="0" bIns="0" rtlCol="0" anchor="t"/>
          <a:lstStyle/>
          <a:p>
            <a:pPr indent="0" marL="0">
              <a:buNone/>
            </a:pPr>
            <a:r>
              <a:rPr lang="en-GB" altLang="en-US" sz="1200" dirty="0">
                <a:solidFill>
                  <a:schemeClr val="accent3"/>
                </a:solidFill>
              </a:rPr>
              <a:t>Delivered as a PDF for the board and sponsors, with a web version.</a:t>
            </a:r>
            <a:endParaRPr lang="en-GB" sz="1200" dirty="0"/>
          </a:p>
        </p:txBody>
      </p:sp>
      <p:sp>
        <p:nvSpPr>
          <p:cNvPr id="24" name="Shape 16"/>
          <p:cNvSpPr/>
          <p:nvPr/>
        </p:nvSpPr>
        <p:spPr>
          <a:xfrm>
            <a:off x="6949440" y="1783080"/>
            <a:ext cx="4690872" cy="4389120"/>
          </a:xfrm>
          <a:prstGeom prst="roundRect">
            <a:avLst>
              <a:gd name="adj" fmla="val 166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5" name="Text 17"/>
          <p:cNvSpPr txBox="1"/>
          <p:nvPr/>
        </p:nvSpPr>
        <p:spPr>
          <a:xfrm>
            <a:off x="7223760" y="201168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a:t>
            </a:r>
            <a:endParaRPr lang="en-GB" sz="900" dirty="0"/>
          </a:p>
        </p:txBody>
      </p:sp>
      <p:sp>
        <p:nvSpPr>
          <p:cNvPr id="26" name="Text 18"/>
          <p:cNvSpPr txBox="1"/>
          <p:nvPr/>
        </p:nvSpPr>
        <p:spPr>
          <a:xfrm>
            <a:off x="7223760" y="221284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7" name="Image 5" descr="Mother Africa Festival">    </p:cNvPr>
          <p:cNvPicPr>
            <a:picLocks noChangeAspect="1"/>
          </p:cNvPicPr>
          <p:nvPr/>
        </p:nvPicPr>
        <p:blipFill>
          <a:blip r:embed="rId6"/>
          <a:stretch>
            <a:fillRect/>
          </a:stretch>
        </p:blipFill>
        <p:spPr>
          <a:xfrm>
            <a:off x="10863072" y="2011680"/>
            <a:ext cx="541249" cy="384048"/>
          </a:xfrm>
          <a:prstGeom prst="rect">
            <a:avLst/>
          </a:prstGeom>
        </p:spPr>
      </p:pic>
      <p:sp>
        <p:nvSpPr>
          <p:cNvPr id="28" name="Shape 19"/>
          <p:cNvSpPr/>
          <p:nvPr/>
        </p:nvSpPr>
        <p:spPr>
          <a:xfrm>
            <a:off x="7223760" y="2651760"/>
            <a:ext cx="4142232" cy="0"/>
          </a:xfrm>
          <a:prstGeom prst="line">
            <a:avLst/>
          </a:prstGeom>
          <a:noFill/>
          <a:ln w="12700">
            <a:solidFill>
              <a:schemeClr val="accent1"/>
            </a:solidFill>
            <a:prstDash val="solid"/>
          </a:ln>
        </p:spPr>
      </p:sp>
      <p:sp>
        <p:nvSpPr>
          <p:cNvPr id="29" name="Shape 20"/>
          <p:cNvSpPr/>
          <p:nvPr/>
        </p:nvSpPr>
        <p:spPr>
          <a:xfrm>
            <a:off x="7223760" y="2834640"/>
            <a:ext cx="2011680" cy="731520"/>
          </a:xfrm>
          <a:prstGeom prst="roundRect">
            <a:avLst>
              <a:gd name="adj" fmla="val 7500"/>
            </a:avLst>
          </a:prstGeom>
          <a:solidFill>
            <a:schemeClr val="bg2"/>
          </a:solidFill>
          <a:ln/>
        </p:spPr>
      </p:sp>
      <p:sp>
        <p:nvSpPr>
          <p:cNvPr id="30" name="Shape 21"/>
          <p:cNvSpPr/>
          <p:nvPr/>
        </p:nvSpPr>
        <p:spPr>
          <a:xfrm>
            <a:off x="7388352" y="2980944"/>
            <a:ext cx="1005840" cy="201168"/>
          </a:xfrm>
          <a:prstGeom prst="roundRect">
            <a:avLst>
              <a:gd name="adj" fmla="val 18182"/>
            </a:avLst>
          </a:prstGeom>
          <a:solidFill>
            <a:schemeClr val="tx2">
              <a:alpha val="28000"/>
            </a:schemeClr>
          </a:solidFill>
          <a:ln/>
        </p:spPr>
      </p:sp>
      <p:sp>
        <p:nvSpPr>
          <p:cNvPr id="31" name="Text 22"/>
          <p:cNvSpPr txBox="1"/>
          <p:nvPr/>
        </p:nvSpPr>
        <p:spPr>
          <a:xfrm>
            <a:off x="7388352"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2" name="Shape 23"/>
          <p:cNvSpPr/>
          <p:nvPr/>
        </p:nvSpPr>
        <p:spPr>
          <a:xfrm>
            <a:off x="9345168" y="2834640"/>
            <a:ext cx="2011680" cy="731520"/>
          </a:xfrm>
          <a:prstGeom prst="roundRect">
            <a:avLst>
              <a:gd name="adj" fmla="val 7500"/>
            </a:avLst>
          </a:prstGeom>
          <a:solidFill>
            <a:schemeClr val="bg2"/>
          </a:solidFill>
          <a:ln/>
        </p:spPr>
      </p:sp>
      <p:sp>
        <p:nvSpPr>
          <p:cNvPr id="33" name="Shape 24"/>
          <p:cNvSpPr/>
          <p:nvPr/>
        </p:nvSpPr>
        <p:spPr>
          <a:xfrm>
            <a:off x="9509760" y="2980944"/>
            <a:ext cx="1005840" cy="201168"/>
          </a:xfrm>
          <a:prstGeom prst="roundRect">
            <a:avLst>
              <a:gd name="adj" fmla="val 18182"/>
            </a:avLst>
          </a:prstGeom>
          <a:solidFill>
            <a:schemeClr val="tx2">
              <a:alpha val="28000"/>
            </a:schemeClr>
          </a:solidFill>
          <a:ln/>
        </p:spPr>
      </p:sp>
      <p:sp>
        <p:nvSpPr>
          <p:cNvPr id="34" name="Text 25"/>
          <p:cNvSpPr txBox="1"/>
          <p:nvPr/>
        </p:nvSpPr>
        <p:spPr>
          <a:xfrm>
            <a:off x="9509760"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5" name="Shape 26"/>
          <p:cNvSpPr/>
          <p:nvPr/>
        </p:nvSpPr>
        <p:spPr>
          <a:xfrm>
            <a:off x="7223760" y="3703320"/>
            <a:ext cx="2011680" cy="731520"/>
          </a:xfrm>
          <a:prstGeom prst="roundRect">
            <a:avLst>
              <a:gd name="adj" fmla="val 7500"/>
            </a:avLst>
          </a:prstGeom>
          <a:solidFill>
            <a:schemeClr val="bg2"/>
          </a:solidFill>
          <a:ln/>
        </p:spPr>
      </p:sp>
      <p:sp>
        <p:nvSpPr>
          <p:cNvPr id="36" name="Shape 27"/>
          <p:cNvSpPr/>
          <p:nvPr/>
        </p:nvSpPr>
        <p:spPr>
          <a:xfrm>
            <a:off x="7388352" y="3849624"/>
            <a:ext cx="1005840" cy="201168"/>
          </a:xfrm>
          <a:prstGeom prst="roundRect">
            <a:avLst>
              <a:gd name="adj" fmla="val 18182"/>
            </a:avLst>
          </a:prstGeom>
          <a:solidFill>
            <a:schemeClr val="tx2">
              <a:alpha val="28000"/>
            </a:schemeClr>
          </a:solidFill>
          <a:ln/>
        </p:spPr>
      </p:sp>
      <p:sp>
        <p:nvSpPr>
          <p:cNvPr id="37" name="Text 28"/>
          <p:cNvSpPr txBox="1"/>
          <p:nvPr/>
        </p:nvSpPr>
        <p:spPr>
          <a:xfrm>
            <a:off x="7388352"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a:t>
            </a:r>
            <a:endParaRPr lang="en-GB" sz="1000" dirty="0"/>
          </a:p>
        </p:txBody>
      </p:sp>
      <p:sp>
        <p:nvSpPr>
          <p:cNvPr id="38" name="Shape 29"/>
          <p:cNvSpPr/>
          <p:nvPr/>
        </p:nvSpPr>
        <p:spPr>
          <a:xfrm>
            <a:off x="9345168" y="3703320"/>
            <a:ext cx="2011680" cy="731520"/>
          </a:xfrm>
          <a:prstGeom prst="roundRect">
            <a:avLst>
              <a:gd name="adj" fmla="val 7500"/>
            </a:avLst>
          </a:prstGeom>
          <a:solidFill>
            <a:schemeClr val="bg2"/>
          </a:solidFill>
          <a:ln/>
        </p:spPr>
      </p:sp>
      <p:sp>
        <p:nvSpPr>
          <p:cNvPr id="39" name="Shape 30"/>
          <p:cNvSpPr/>
          <p:nvPr/>
        </p:nvSpPr>
        <p:spPr>
          <a:xfrm>
            <a:off x="9509760" y="3849624"/>
            <a:ext cx="1005840" cy="201168"/>
          </a:xfrm>
          <a:prstGeom prst="roundRect">
            <a:avLst>
              <a:gd name="adj" fmla="val 18182"/>
            </a:avLst>
          </a:prstGeom>
          <a:solidFill>
            <a:schemeClr val="tx2">
              <a:alpha val="28000"/>
            </a:schemeClr>
          </a:solidFill>
          <a:ln/>
        </p:spPr>
      </p:sp>
      <p:sp>
        <p:nvSpPr>
          <p:cNvPr id="40" name="Text 31"/>
          <p:cNvSpPr txBox="1"/>
          <p:nvPr/>
        </p:nvSpPr>
        <p:spPr>
          <a:xfrm>
            <a:off x="9509760"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1" name="Text 32"/>
          <p:cNvSpPr txBox="1"/>
          <p:nvPr/>
        </p:nvSpPr>
        <p:spPr>
          <a:xfrm>
            <a:off x="7223760" y="461772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2" name="Text 33"/>
          <p:cNvSpPr txBox="1"/>
          <p:nvPr/>
        </p:nvSpPr>
        <p:spPr>
          <a:xfrm>
            <a:off x="7223760" y="491032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3" name="Shape 34"/>
          <p:cNvSpPr/>
          <p:nvPr/>
        </p:nvSpPr>
        <p:spPr>
          <a:xfrm>
            <a:off x="8275320" y="4946904"/>
            <a:ext cx="2651760" cy="146304"/>
          </a:xfrm>
          <a:prstGeom prst="roundRect">
            <a:avLst>
              <a:gd name="adj" fmla="val 18750"/>
            </a:avLst>
          </a:prstGeom>
          <a:solidFill>
            <a:schemeClr val="accent2"/>
          </a:solidFill>
          <a:ln/>
        </p:spPr>
      </p:sp>
      <p:sp>
        <p:nvSpPr>
          <p:cNvPr id="44" name="Text 35"/>
          <p:cNvSpPr txBox="1"/>
          <p:nvPr/>
        </p:nvSpPr>
        <p:spPr>
          <a:xfrm>
            <a:off x="7223760" y="523951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5" name="Shape 36"/>
          <p:cNvSpPr/>
          <p:nvPr/>
        </p:nvSpPr>
        <p:spPr>
          <a:xfrm>
            <a:off x="8275320" y="5276088"/>
            <a:ext cx="2011680" cy="146304"/>
          </a:xfrm>
          <a:prstGeom prst="roundRect">
            <a:avLst>
              <a:gd name="adj" fmla="val 18750"/>
            </a:avLst>
          </a:prstGeom>
          <a:solidFill>
            <a:schemeClr val="accent1"/>
          </a:solidFill>
          <a:ln/>
        </p:spPr>
      </p:sp>
      <p:sp>
        <p:nvSpPr>
          <p:cNvPr id="46" name="Text 37"/>
          <p:cNvSpPr txBox="1"/>
          <p:nvPr/>
        </p:nvSpPr>
        <p:spPr>
          <a:xfrm>
            <a:off x="7223760" y="556869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47" name="Shape 38"/>
          <p:cNvSpPr/>
          <p:nvPr/>
        </p:nvSpPr>
        <p:spPr>
          <a:xfrm>
            <a:off x="8275320" y="5605272"/>
            <a:ext cx="1005840" cy="146304"/>
          </a:xfrm>
          <a:prstGeom prst="roundRect">
            <a:avLst>
              <a:gd name="adj" fmla="val 18750"/>
            </a:avLst>
          </a:prstGeom>
          <a:solidFill>
            <a:schemeClr val="accent1"/>
          </a:solidFill>
          <a:ln/>
        </p:spPr>
      </p:sp>
      <p:sp>
        <p:nvSpPr>
          <p:cNvPr id="48" name="Text 39"/>
          <p:cNvSpPr txBox="1"/>
          <p:nvPr/>
        </p:nvSpPr>
        <p:spPr>
          <a:xfrm>
            <a:off x="7223760" y="5879592"/>
            <a:ext cx="3657600" cy="201168"/>
          </a:xfrm>
          <a:prstGeom prst="rect">
            <a:avLst/>
          </a:prstGeom>
          <a:noFill/>
          <a:ln/>
        </p:spPr>
        <p:txBody>
          <a:bodyPr wrap="square" lIns="0" tIns="0" rIns="0" bIns="0" rtlCol="0" anchor="t"/>
          <a:lstStyle/>
          <a:p>
            <a:pPr indent="0" marL="0">
              <a:buNone/>
            </a:pPr>
            <a:r>
              <a:rPr lang="en-GB" altLang="en-US" sz="1000" i="1" dirty="0">
                <a:solidFill>
                  <a:schemeClr val="tx2"/>
                </a:solidFill>
              </a:rPr>
              <a:t>Sample layout. No figures shown.</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4929872" cy="3429000"/>
          </a:xfrm>
          <a:prstGeom prst="rect">
            <a:avLst/>
          </a:prstGeom>
        </p:spPr>
      </p:pic>
      <p:sp>
        <p:nvSpPr>
          <p:cNvPr id="11" name="Shape 4"/>
          <p:cNvSpPr/>
          <p:nvPr/>
        </p:nvSpPr>
        <p:spPr>
          <a:xfrm>
            <a:off x="658368" y="4809744"/>
            <a:ext cx="796442" cy="292608"/>
          </a:xfrm>
          <a:prstGeom prst="roundRect">
            <a:avLst>
              <a:gd name="adj" fmla="val 18750"/>
            </a:avLst>
          </a:prstGeom>
          <a:solidFill>
            <a:schemeClr val="tx1">
              <a:alpha val="70000"/>
            </a:schemeClr>
          </a:solidFill>
          <a:ln/>
        </p:spPr>
      </p:sp>
      <p:sp>
        <p:nvSpPr>
          <p:cNvPr id="12" name="Text 5"/>
          <p:cNvSpPr txBox="1"/>
          <p:nvPr/>
        </p:nvSpPr>
        <p:spPr>
          <a:xfrm>
            <a:off x="658368" y="48097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5321808"/>
            <a:ext cx="4929872" cy="411480"/>
          </a:xfrm>
          <a:prstGeom prst="rect">
            <a:avLst/>
          </a:prstGeom>
          <a:noFill/>
          <a:ln/>
        </p:spPr>
        <p:txBody>
          <a:bodyPr wrap="square" lIns="0" tIns="0" rIns="0" bIns="0" rtlCol="0" anchor="t"/>
          <a:lstStyle/>
          <a:p>
            <a:pPr indent="0" marL="0">
              <a:buNone/>
            </a:pPr>
            <a:r>
              <a:rPr lang="en-GB" altLang="en-US" sz="2600" dirty="0">
                <a:solidFill>
                  <a:schemeClr val="accent4"/>
                </a:solidFill>
              </a:rPr>
              <a:t>55.8M</a:t>
            </a:r>
            <a:endParaRPr lang="en-GB" sz="2600" dirty="0"/>
          </a:p>
        </p:txBody>
      </p:sp>
      <p:sp>
        <p:nvSpPr>
          <p:cNvPr id="14" name="Text 7"/>
          <p:cNvSpPr txBox="1"/>
          <p:nvPr/>
        </p:nvSpPr>
        <p:spPr>
          <a:xfrm>
            <a:off x="548640" y="5733288"/>
            <a:ext cx="4929872" cy="347472"/>
          </a:xfrm>
          <a:prstGeom prst="rect">
            <a:avLst/>
          </a:prstGeom>
          <a:noFill/>
          <a:ln/>
        </p:spPr>
        <p:txBody>
          <a:bodyPr wrap="square" lIns="0" tIns="0" rIns="0" bIns="0" rtlCol="0" anchor="t"/>
          <a:lstStyle/>
          <a:p>
            <a:pPr indent="0" marL="0">
              <a:buNone/>
            </a:pPr>
            <a:r>
              <a:rPr lang="en-GB" altLang="en-US" sz="1050" dirty="0">
                <a:solidFill>
                  <a:schemeClr val="accent5"/>
                </a:solidFill>
              </a:rPr>
              <a:t>Instagram views on one reel. IShowSpeed in Côte d’Ivoire.</a:t>
            </a:r>
            <a:endParaRPr lang="en-GB" sz="1050" dirty="0"/>
          </a:p>
        </p:txBody>
      </p:sp>
      <p:pic>
        <p:nvPicPr>
          <p:cNvPr id="15" name="Photo speed_ma" descr="IShowSpeed in Morocco for the AFCON 2025 Final">    </p:cNvPr>
          <p:cNvPicPr>
            <a:picLocks noChangeAspect="1"/>
          </p:cNvPicPr>
          <p:nvPr/>
        </p:nvPicPr>
        <p:blipFill>
          <a:blip r:embed="rId5"/>
          <a:stretch>
            <a:fillRect/>
          </a:stretch>
        </p:blipFill>
        <p:spPr>
          <a:xfrm>
            <a:off x="6044279" y="1783080"/>
            <a:ext cx="2289810" cy="3429000"/>
          </a:xfrm>
          <a:prstGeom prst="rect">
            <a:avLst/>
          </a:prstGeom>
        </p:spPr>
      </p:pic>
      <p:sp>
        <p:nvSpPr>
          <p:cNvPr id="16" name="Shape 8"/>
          <p:cNvSpPr/>
          <p:nvPr/>
        </p:nvSpPr>
        <p:spPr>
          <a:xfrm>
            <a:off x="6154007" y="4809744"/>
            <a:ext cx="1664208" cy="292608"/>
          </a:xfrm>
          <a:prstGeom prst="roundRect">
            <a:avLst>
              <a:gd name="adj" fmla="val 18750"/>
            </a:avLst>
          </a:prstGeom>
          <a:solidFill>
            <a:schemeClr val="tx1">
              <a:alpha val="70000"/>
            </a:schemeClr>
          </a:solidFill>
          <a:ln/>
        </p:spPr>
      </p:sp>
      <p:sp>
        <p:nvSpPr>
          <p:cNvPr id="17" name="Text 9"/>
          <p:cNvSpPr txBox="1"/>
          <p:nvPr/>
        </p:nvSpPr>
        <p:spPr>
          <a:xfrm>
            <a:off x="6154007" y="4809744"/>
            <a:ext cx="1664208"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 AFCON Final</a:t>
            </a:r>
            <a:endParaRPr lang="en-GB" sz="1000" dirty="0"/>
          </a:p>
        </p:txBody>
      </p:sp>
      <p:sp>
        <p:nvSpPr>
          <p:cNvPr id="18" name="Text 10"/>
          <p:cNvSpPr txBox="1"/>
          <p:nvPr/>
        </p:nvSpPr>
        <p:spPr>
          <a:xfrm>
            <a:off x="6044279" y="5321808"/>
            <a:ext cx="2289810" cy="411480"/>
          </a:xfrm>
          <a:prstGeom prst="rect">
            <a:avLst/>
          </a:prstGeom>
          <a:noFill/>
          <a:ln/>
        </p:spPr>
        <p:txBody>
          <a:bodyPr wrap="square" lIns="0" tIns="0" rIns="0" bIns="0" rtlCol="0" anchor="t"/>
          <a:lstStyle/>
          <a:p>
            <a:pPr indent="0" marL="0">
              <a:buNone/>
            </a:pPr>
            <a:r>
              <a:rPr lang="en-GB" altLang="en-US" sz="2600" dirty="0">
                <a:solidFill>
                  <a:schemeClr val="accent4"/>
                </a:solidFill>
              </a:rPr>
              <a:t>16M</a:t>
            </a:r>
            <a:endParaRPr lang="en-GB" sz="2600" dirty="0"/>
          </a:p>
        </p:txBody>
      </p:sp>
      <p:sp>
        <p:nvSpPr>
          <p:cNvPr id="19" name="Text 11"/>
          <p:cNvSpPr txBox="1"/>
          <p:nvPr/>
        </p:nvSpPr>
        <p:spPr>
          <a:xfrm>
            <a:off x="6044279" y="5733288"/>
            <a:ext cx="2289810" cy="347472"/>
          </a:xfrm>
          <a:prstGeom prst="rect">
            <a:avLst/>
          </a:prstGeom>
          <a:noFill/>
          <a:ln/>
        </p:spPr>
        <p:txBody>
          <a:bodyPr wrap="square" lIns="0" tIns="0" rIns="0" bIns="0" rtlCol="0" anchor="t"/>
          <a:lstStyle/>
          <a:p>
            <a:pPr indent="0" marL="0">
              <a:buNone/>
            </a:pPr>
            <a:r>
              <a:rPr lang="en-GB" altLang="en-US" sz="1050" dirty="0">
                <a:solidFill>
                  <a:schemeClr val="accent5"/>
                </a:solidFill>
              </a:rPr>
              <a:t>Live stream views of the AFCON mascot reveal.</a:t>
            </a:r>
            <a:endParaRPr lang="en-GB" sz="1050" dirty="0"/>
          </a:p>
        </p:txBody>
      </p:sp>
      <p:pic>
        <p:nvPicPr>
          <p:cNvPr id="20" name="Photo ashton" descr="Ashton Hall Africa Tour, Nigeria leg">    </p:cNvPr>
          <p:cNvPicPr>
            <a:picLocks noChangeAspect="1"/>
          </p:cNvPicPr>
          <p:nvPr/>
        </p:nvPicPr>
        <p:blipFill>
          <a:blip r:embed="rId6"/>
          <a:stretch>
            <a:fillRect/>
          </a:stretch>
        </p:blipFill>
        <p:spPr>
          <a:xfrm>
            <a:off x="8899855" y="1783080"/>
            <a:ext cx="2743200" cy="3429000"/>
          </a:xfrm>
          <a:prstGeom prst="rect">
            <a:avLst/>
          </a:prstGeom>
        </p:spPr>
      </p:pic>
      <p:sp>
        <p:nvSpPr>
          <p:cNvPr id="21" name="Shape 12"/>
          <p:cNvSpPr/>
          <p:nvPr/>
        </p:nvSpPr>
        <p:spPr>
          <a:xfrm>
            <a:off x="9009583" y="4809744"/>
            <a:ext cx="662940" cy="292608"/>
          </a:xfrm>
          <a:prstGeom prst="roundRect">
            <a:avLst>
              <a:gd name="adj" fmla="val 18750"/>
            </a:avLst>
          </a:prstGeom>
          <a:solidFill>
            <a:schemeClr val="tx1">
              <a:alpha val="70000"/>
            </a:schemeClr>
          </a:solidFill>
          <a:ln/>
        </p:spPr>
      </p:sp>
      <p:sp>
        <p:nvSpPr>
          <p:cNvPr id="22" name="Text 13"/>
          <p:cNvSpPr txBox="1"/>
          <p:nvPr/>
        </p:nvSpPr>
        <p:spPr>
          <a:xfrm>
            <a:off x="9009583" y="48097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8899855" y="5321808"/>
            <a:ext cx="2743200" cy="411480"/>
          </a:xfrm>
          <a:prstGeom prst="rect">
            <a:avLst/>
          </a:prstGeom>
          <a:noFill/>
          <a:ln/>
        </p:spPr>
        <p:txBody>
          <a:bodyPr wrap="square" lIns="0" tIns="0" rIns="0" bIns="0" rtlCol="0" anchor="t"/>
          <a:lstStyle/>
          <a:p>
            <a:pPr indent="0" marL="0">
              <a:buNone/>
            </a:pPr>
            <a:r>
              <a:rPr lang="en-GB" altLang="en-US" sz="2600" dirty="0">
                <a:solidFill>
                  <a:schemeClr val="accent4"/>
                </a:solidFill>
              </a:rPr>
              <a:t>1.57B</a:t>
            </a:r>
            <a:endParaRPr lang="en-GB" sz="2600" dirty="0"/>
          </a:p>
        </p:txBody>
      </p:sp>
      <p:sp>
        <p:nvSpPr>
          <p:cNvPr id="24" name="Text 15"/>
          <p:cNvSpPr txBox="1"/>
          <p:nvPr/>
        </p:nvSpPr>
        <p:spPr>
          <a:xfrm>
            <a:off x="8899855" y="5733288"/>
            <a:ext cx="2743200" cy="347472"/>
          </a:xfrm>
          <a:prstGeom prst="rect">
            <a:avLst/>
          </a:prstGeom>
          <a:noFill/>
          <a:ln/>
        </p:spPr>
        <p:txBody>
          <a:bodyPr wrap="square" lIns="0" tIns="0" rIns="0" bIns="0" rtlCol="0" anchor="t"/>
          <a:lstStyle/>
          <a:p>
            <a:pPr indent="0" marL="0">
              <a:buNone/>
            </a:pPr>
            <a:r>
              <a:rPr lang="en-GB" altLang="en-US" sz="1050" dirty="0">
                <a:solidFill>
                  <a:schemeClr val="accent5"/>
                </a:solidFill>
              </a:rPr>
              <a:t>Tour views across five countries, managed end to end.</a:t>
            </a:r>
            <a:endParaRPr lang="en-GB" sz="1050" dirty="0"/>
          </a:p>
        </p:txBody>
      </p:sp>
      <p:sp>
        <p:nvSpPr>
          <p:cNvPr id="25" name="Text 16"/>
          <p:cNvSpPr txBox="1"/>
          <p:nvPr/>
        </p:nvSpPr>
        <p:spPr>
          <a:xfrm>
            <a:off x="548640" y="6144768"/>
            <a:ext cx="11094415" cy="201168"/>
          </a:xfrm>
          <a:prstGeom prst="rect">
            <a:avLst/>
          </a:prstGeom>
          <a:noFill/>
          <a:ln/>
        </p:spPr>
        <p:txBody>
          <a:bodyPr wrap="square" lIns="0" tIns="0" rIns="0" bIns="0" rtlCol="0" anchor="t"/>
          <a:lstStyle/>
          <a:p>
            <a:pPr indent="0" marL="0">
              <a:buNone/>
            </a:pPr>
            <a:r>
              <a:rPr lang="en-GB" altLang="en-US" sz="900" dirty="0">
                <a:solidFill>
                  <a:schemeClr val="accent5"/>
                </a:solidFill>
              </a:rPr>
              <a:t>Sources: Instagram and YouTube analytics, tour figures supplied by the client.</a:t>
            </a:r>
            <a:endParaRPr lang="en-GB"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2026-10-30T11:42:53Z</dcterms:created>
  <dcterms:modified xsi:type="dcterms:W3CDTF">2026-10-30T11:42:53Z</dcterms:modified>
</cp:coreProperties>
</file>