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4d33fa-f2c4-ae50-61a1-d070f0b47e5f}">
          <p14:sldIdLst>
            <p14:sldId id="256"/>
          </p14:sldIdLst>
        </p14:section>
        <p14:section name="Where we stand" id="{cde2ba44-b78f-8a02-fd81-129a32e7b7dd}">
          <p14:sldIdLst>
            <p14:sldId id="257"/>
            <p14:sldId id="258"/>
          </p14:sldIdLst>
        </p14:section>
        <p14:section name="The AToure answer" id="{ceeebc9c-8ac9-f1a0-ee74-72a9d957be83}">
          <p14:sldIdLst>
            <p14:sldId id="259"/>
            <p14:sldId id="260"/>
          </p14:sldIdLst>
        </p14:section>
        <p14:section name="Visibility" id="{3b69fa0d-1995-668f-d320-f35445c926c7}">
          <p14:sldIdLst>
            <p14:sldId id="261"/>
            <p14:sldId id="262"/>
          </p14:sldIdLst>
        </p14:section>
        <p14:section name="The visibility report" id="{81698a7a-df62-7082-27d4-73a9adb31b74}">
          <p14:sldIdLst>
            <p14:sldId id="263"/>
            <p14:sldId id="264"/>
          </p14:sldIdLst>
        </p14:section>
        <p14:section name="Proof" id="{d9ae477a-e6d6-2737-895c-c692adf1566d}">
          <p14:sldIdLst>
            <p14:sldId id="265"/>
          </p14:sldIdLst>
        </p14:section>
        <p14:section name="The ask" id="{f58007ae-1434-e264-4278-563b1ec01c3c}">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its figures are illustrative, to show the format, and are not a forecast for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In Morocco it delivered the AFCON mascot reveal with CAF and the Royal Moroccan Football Federation. The Ashton Hall tour covered five countries, managed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5486400" cy="1463040"/>
          </a:xfrm>
          <a:prstGeom prst="roundRect">
            <a:avLst>
              <a:gd name="adj" fmla="val 6250"/>
            </a:avLst>
          </a:prstGeom>
          <a:solidFill>
            <a:schemeClr val="tx1"/>
          </a:solidFill>
          <a:ln/>
        </p:spPr>
      </p:sp>
      <p:sp>
        <p:nvSpPr>
          <p:cNvPr id="43" name="Text 38"/>
          <p:cNvSpPr txBox="1"/>
          <p:nvPr/>
        </p:nvSpPr>
        <p:spPr>
          <a:xfrm>
            <a:off x="822960" y="484632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502920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Image 2" descr="preencoded.png">    </p:cNvPr>
          <p:cNvPicPr>
            <a:picLocks noChangeAspect="1"/>
          </p:cNvPicPr>
          <p:nvPr/>
        </p:nvPicPr>
        <p:blipFill>
          <a:blip r:embed="rId3"/>
          <a:stretch>
            <a:fillRect/>
          </a:stretch>
        </p:blipFill>
        <p:spPr>
          <a:xfrm>
            <a:off x="6355080" y="4818888"/>
            <a:ext cx="274320" cy="274320"/>
          </a:xfrm>
          <a:prstGeom prst="rect">
            <a:avLst/>
          </a:prstGeom>
        </p:spPr>
      </p:pic>
      <p:sp>
        <p:nvSpPr>
          <p:cNvPr id="47" name="Text 41"/>
          <p:cNvSpPr txBox="1"/>
          <p:nvPr/>
        </p:nvSpPr>
        <p:spPr>
          <a:xfrm>
            <a:off x="6766560" y="480060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8" name="Image 3" descr="preencoded.png">    </p:cNvPr>
          <p:cNvPicPr>
            <a:picLocks noChangeAspect="1"/>
          </p:cNvPicPr>
          <p:nvPr/>
        </p:nvPicPr>
        <p:blipFill>
          <a:blip r:embed="rId4"/>
          <a:stretch>
            <a:fillRect/>
          </a:stretch>
        </p:blipFill>
        <p:spPr>
          <a:xfrm>
            <a:off x="6355080" y="5294376"/>
            <a:ext cx="274320" cy="274320"/>
          </a:xfrm>
          <a:prstGeom prst="rect">
            <a:avLst/>
          </a:prstGeom>
        </p:spPr>
      </p:pic>
      <p:sp>
        <p:nvSpPr>
          <p:cNvPr id="49" name="Text 42"/>
          <p:cNvSpPr txBox="1"/>
          <p:nvPr/>
        </p:nvSpPr>
        <p:spPr>
          <a:xfrm>
            <a:off x="6766560" y="5276088"/>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50" name="Image 4" descr="preencoded.png">    </p:cNvPr>
          <p:cNvPicPr>
            <a:picLocks noChangeAspect="1"/>
          </p:cNvPicPr>
          <p:nvPr/>
        </p:nvPicPr>
        <p:blipFill>
          <a:blip r:embed="rId5"/>
          <a:stretch>
            <a:fillRect/>
          </a:stretch>
        </p:blipFill>
        <p:spPr>
          <a:xfrm>
            <a:off x="6355080" y="5769864"/>
            <a:ext cx="274320" cy="274320"/>
          </a:xfrm>
          <a:prstGeom prst="rect">
            <a:avLst/>
          </a:prstGeom>
        </p:spPr>
      </p:pic>
      <p:sp>
        <p:nvSpPr>
          <p:cNvPr id="51" name="Text 43"/>
          <p:cNvSpPr txBox="1"/>
          <p:nvPr/>
        </p:nvSpPr>
        <p:spPr>
          <a:xfrm>
            <a:off x="6766560" y="5751576"/>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Reports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15468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97326"/>
            <a:ext cx="309067" cy="309067"/>
          </a:xfrm>
          <a:prstGeom prst="rect">
            <a:avLst/>
          </a:prstGeom>
        </p:spPr>
      </p:pic>
      <p:sp>
        <p:nvSpPr>
          <p:cNvPr id="15" name="Text 8"/>
          <p:cNvSpPr txBox="1"/>
          <p:nvPr/>
        </p:nvSpPr>
        <p:spPr>
          <a:xfrm>
            <a:off x="1371600" y="3118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538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840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48056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623206"/>
            <a:ext cx="309067" cy="309067"/>
          </a:xfrm>
          <a:prstGeom prst="rect">
            <a:avLst/>
          </a:prstGeom>
        </p:spPr>
      </p:pic>
      <p:sp>
        <p:nvSpPr>
          <p:cNvPr id="20" name="Text 12"/>
          <p:cNvSpPr txBox="1"/>
          <p:nvPr/>
        </p:nvSpPr>
        <p:spPr>
          <a:xfrm>
            <a:off x="1371600" y="444398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86460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516636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sponsor pages and recommendations for 2027.</a:t>
            </a:r>
            <a:endParaRPr lang="en-GB" sz="1400" dirty="0"/>
          </a:p>
        </p:txBody>
      </p:sp>
      <p:sp>
        <p:nvSpPr>
          <p:cNvPr id="23" name="Text 15"/>
          <p:cNvSpPr txBox="1"/>
          <p:nvPr/>
        </p:nvSpPr>
        <p:spPr>
          <a:xfrm>
            <a:off x="1371600" y="5852160"/>
            <a:ext cx="5120640" cy="274320"/>
          </a:xfrm>
          <a:prstGeom prst="rect">
            <a:avLst/>
          </a:prstGeom>
          <a:noFill/>
          <a:ln/>
        </p:spPr>
        <p:txBody>
          <a:bodyPr wrap="square" lIns="0" tIns="0" rIns="0" bIns="0" rtlCol="0" anchor="t"/>
          <a:lstStyle/>
          <a:p>
            <a:pPr indent="0" marL="0">
              <a:buNone/>
            </a:pPr>
            <a:r>
              <a:rPr lang="en-GB" altLang="en-US" sz="1200" dirty="0">
                <a:solidFill>
                  <a:schemeClr val="accent3"/>
                </a:solidFill>
              </a:rPr>
              <a:t>Delivered as a PDF for the board and sponsors, with a web version.</a:t>
            </a:r>
            <a:endParaRPr lang="en-GB" sz="1200" dirty="0"/>
          </a:p>
        </p:txBody>
      </p:sp>
      <p:sp>
        <p:nvSpPr>
          <p:cNvPr id="24" name="Shape 16"/>
          <p:cNvSpPr/>
          <p:nvPr/>
        </p:nvSpPr>
        <p:spPr>
          <a:xfrm>
            <a:off x="6949440" y="1783080"/>
            <a:ext cx="4690872" cy="4389120"/>
          </a:xfrm>
          <a:prstGeom prst="roundRect">
            <a:avLst>
              <a:gd name="adj" fmla="val 166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5" name="Text 17"/>
          <p:cNvSpPr txBox="1"/>
          <p:nvPr/>
        </p:nvSpPr>
        <p:spPr>
          <a:xfrm>
            <a:off x="7223760" y="201168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a:t>
            </a:r>
            <a:endParaRPr lang="en-GB" sz="900" dirty="0"/>
          </a:p>
        </p:txBody>
      </p:sp>
      <p:sp>
        <p:nvSpPr>
          <p:cNvPr id="26" name="Text 18"/>
          <p:cNvSpPr txBox="1"/>
          <p:nvPr/>
        </p:nvSpPr>
        <p:spPr>
          <a:xfrm>
            <a:off x="7223760" y="221284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7" name="Image 5" descr="Mother Africa Festival">    </p:cNvPr>
          <p:cNvPicPr>
            <a:picLocks noChangeAspect="1"/>
          </p:cNvPicPr>
          <p:nvPr/>
        </p:nvPicPr>
        <p:blipFill>
          <a:blip r:embed="rId6"/>
          <a:stretch>
            <a:fillRect/>
          </a:stretch>
        </p:blipFill>
        <p:spPr>
          <a:xfrm>
            <a:off x="10863072" y="2011680"/>
            <a:ext cx="541249" cy="384048"/>
          </a:xfrm>
          <a:prstGeom prst="rect">
            <a:avLst/>
          </a:prstGeom>
        </p:spPr>
      </p:pic>
      <p:sp>
        <p:nvSpPr>
          <p:cNvPr id="28" name="Shape 19"/>
          <p:cNvSpPr/>
          <p:nvPr/>
        </p:nvSpPr>
        <p:spPr>
          <a:xfrm>
            <a:off x="7223760" y="2651760"/>
            <a:ext cx="4142232" cy="0"/>
          </a:xfrm>
          <a:prstGeom prst="line">
            <a:avLst/>
          </a:prstGeom>
          <a:noFill/>
          <a:ln w="12700">
            <a:solidFill>
              <a:schemeClr val="accent1"/>
            </a:solidFill>
            <a:prstDash val="solid"/>
          </a:ln>
        </p:spPr>
      </p:sp>
      <p:sp>
        <p:nvSpPr>
          <p:cNvPr id="29" name="Shape 20"/>
          <p:cNvSpPr/>
          <p:nvPr/>
        </p:nvSpPr>
        <p:spPr>
          <a:xfrm>
            <a:off x="7223760" y="2834640"/>
            <a:ext cx="2011680" cy="731520"/>
          </a:xfrm>
          <a:prstGeom prst="roundRect">
            <a:avLst>
              <a:gd name="adj" fmla="val 7500"/>
            </a:avLst>
          </a:prstGeom>
          <a:solidFill>
            <a:schemeClr val="bg2"/>
          </a:solidFill>
          <a:ln/>
        </p:spPr>
      </p:sp>
      <p:sp>
        <p:nvSpPr>
          <p:cNvPr id="30" name="Text 21"/>
          <p:cNvSpPr txBox="1"/>
          <p:nvPr/>
        </p:nvSpPr>
        <p:spPr>
          <a:xfrm>
            <a:off x="7388352" y="290779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3,200,000</a:t>
            </a:r>
            <a:endParaRPr lang="en-GB" sz="1800" dirty="0"/>
          </a:p>
        </p:txBody>
      </p:sp>
      <p:sp>
        <p:nvSpPr>
          <p:cNvPr id="31" name="Text 22"/>
          <p:cNvSpPr txBox="1"/>
          <p:nvPr/>
        </p:nvSpPr>
        <p:spPr>
          <a:xfrm>
            <a:off x="7388352" y="327355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2" name="Shape 23"/>
          <p:cNvSpPr/>
          <p:nvPr/>
        </p:nvSpPr>
        <p:spPr>
          <a:xfrm>
            <a:off x="9345168" y="2834640"/>
            <a:ext cx="2011680" cy="731520"/>
          </a:xfrm>
          <a:prstGeom prst="roundRect">
            <a:avLst>
              <a:gd name="adj" fmla="val 7500"/>
            </a:avLst>
          </a:prstGeom>
          <a:solidFill>
            <a:schemeClr val="bg2"/>
          </a:solidFill>
          <a:ln/>
        </p:spPr>
      </p:sp>
      <p:sp>
        <p:nvSpPr>
          <p:cNvPr id="33" name="Text 24"/>
          <p:cNvSpPr txBox="1"/>
          <p:nvPr/>
        </p:nvSpPr>
        <p:spPr>
          <a:xfrm>
            <a:off x="9509760" y="290779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1,450,000</a:t>
            </a:r>
            <a:endParaRPr lang="en-GB" sz="1800" dirty="0"/>
          </a:p>
        </p:txBody>
      </p:sp>
      <p:sp>
        <p:nvSpPr>
          <p:cNvPr id="34" name="Text 25"/>
          <p:cNvSpPr txBox="1"/>
          <p:nvPr/>
        </p:nvSpPr>
        <p:spPr>
          <a:xfrm>
            <a:off x="9509760" y="327355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5" name="Shape 26"/>
          <p:cNvSpPr/>
          <p:nvPr/>
        </p:nvSpPr>
        <p:spPr>
          <a:xfrm>
            <a:off x="7223760" y="3703320"/>
            <a:ext cx="2011680" cy="731520"/>
          </a:xfrm>
          <a:prstGeom prst="roundRect">
            <a:avLst>
              <a:gd name="adj" fmla="val 7500"/>
            </a:avLst>
          </a:prstGeom>
          <a:solidFill>
            <a:schemeClr val="bg2"/>
          </a:solidFill>
          <a:ln/>
        </p:spPr>
      </p:sp>
      <p:sp>
        <p:nvSpPr>
          <p:cNvPr id="36" name="Text 27"/>
          <p:cNvSpPr txBox="1"/>
          <p:nvPr/>
        </p:nvSpPr>
        <p:spPr>
          <a:xfrm>
            <a:off x="7388352" y="37764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64</a:t>
            </a:r>
            <a:endParaRPr lang="en-GB" sz="1800" dirty="0"/>
          </a:p>
        </p:txBody>
      </p:sp>
      <p:sp>
        <p:nvSpPr>
          <p:cNvPr id="37" name="Text 28"/>
          <p:cNvSpPr txBox="1"/>
          <p:nvPr/>
        </p:nvSpPr>
        <p:spPr>
          <a:xfrm>
            <a:off x="7388352" y="41422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 against the brief</a:t>
            </a:r>
            <a:endParaRPr lang="en-GB" sz="1000" dirty="0"/>
          </a:p>
        </p:txBody>
      </p:sp>
      <p:sp>
        <p:nvSpPr>
          <p:cNvPr id="38" name="Shape 29"/>
          <p:cNvSpPr/>
          <p:nvPr/>
        </p:nvSpPr>
        <p:spPr>
          <a:xfrm>
            <a:off x="9345168" y="3703320"/>
            <a:ext cx="2011680" cy="731520"/>
          </a:xfrm>
          <a:prstGeom prst="roundRect">
            <a:avLst>
              <a:gd name="adj" fmla="val 7500"/>
            </a:avLst>
          </a:prstGeom>
          <a:solidFill>
            <a:schemeClr val="bg2"/>
          </a:solidFill>
          <a:ln/>
        </p:spPr>
      </p:sp>
      <p:sp>
        <p:nvSpPr>
          <p:cNvPr id="39" name="Text 30"/>
          <p:cNvSpPr txBox="1"/>
          <p:nvPr/>
        </p:nvSpPr>
        <p:spPr>
          <a:xfrm>
            <a:off x="9509760" y="37764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18</a:t>
            </a:r>
            <a:endParaRPr lang="en-GB" sz="1800" dirty="0"/>
          </a:p>
        </p:txBody>
      </p:sp>
      <p:sp>
        <p:nvSpPr>
          <p:cNvPr id="40" name="Text 31"/>
          <p:cNvSpPr txBox="1"/>
          <p:nvPr/>
        </p:nvSpPr>
        <p:spPr>
          <a:xfrm>
            <a:off x="9509760" y="41422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1" name="Text 32"/>
          <p:cNvSpPr txBox="1"/>
          <p:nvPr/>
        </p:nvSpPr>
        <p:spPr>
          <a:xfrm>
            <a:off x="7223760" y="461772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2" name="Text 33"/>
          <p:cNvSpPr txBox="1"/>
          <p:nvPr/>
        </p:nvSpPr>
        <p:spPr>
          <a:xfrm>
            <a:off x="7223760" y="491032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3" name="Shape 34"/>
          <p:cNvSpPr/>
          <p:nvPr/>
        </p:nvSpPr>
        <p:spPr>
          <a:xfrm>
            <a:off x="8275320" y="4946904"/>
            <a:ext cx="2468880" cy="146304"/>
          </a:xfrm>
          <a:prstGeom prst="roundRect">
            <a:avLst>
              <a:gd name="adj" fmla="val 18750"/>
            </a:avLst>
          </a:prstGeom>
          <a:solidFill>
            <a:schemeClr val="accent2"/>
          </a:solidFill>
          <a:ln/>
        </p:spPr>
      </p:sp>
      <p:sp>
        <p:nvSpPr>
          <p:cNvPr id="44" name="Text 35"/>
          <p:cNvSpPr txBox="1"/>
          <p:nvPr/>
        </p:nvSpPr>
        <p:spPr>
          <a:xfrm>
            <a:off x="10835640" y="4910328"/>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52%</a:t>
            </a:r>
            <a:endParaRPr lang="en-GB" sz="1000" dirty="0"/>
          </a:p>
        </p:txBody>
      </p:sp>
      <p:sp>
        <p:nvSpPr>
          <p:cNvPr id="45" name="Text 36"/>
          <p:cNvSpPr txBox="1"/>
          <p:nvPr/>
        </p:nvSpPr>
        <p:spPr>
          <a:xfrm>
            <a:off x="7223760" y="523951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6" name="Shape 37"/>
          <p:cNvSpPr/>
          <p:nvPr/>
        </p:nvSpPr>
        <p:spPr>
          <a:xfrm>
            <a:off x="8275320" y="5276088"/>
            <a:ext cx="1804182" cy="146304"/>
          </a:xfrm>
          <a:prstGeom prst="roundRect">
            <a:avLst>
              <a:gd name="adj" fmla="val 18750"/>
            </a:avLst>
          </a:prstGeom>
          <a:solidFill>
            <a:schemeClr val="accent1"/>
          </a:solidFill>
          <a:ln/>
        </p:spPr>
      </p:sp>
      <p:sp>
        <p:nvSpPr>
          <p:cNvPr id="47" name="Text 38"/>
          <p:cNvSpPr txBox="1"/>
          <p:nvPr/>
        </p:nvSpPr>
        <p:spPr>
          <a:xfrm>
            <a:off x="10170942" y="523951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38%</a:t>
            </a:r>
            <a:endParaRPr lang="en-GB" sz="1000" dirty="0"/>
          </a:p>
        </p:txBody>
      </p:sp>
      <p:sp>
        <p:nvSpPr>
          <p:cNvPr id="48" name="Text 39"/>
          <p:cNvSpPr txBox="1"/>
          <p:nvPr/>
        </p:nvSpPr>
        <p:spPr>
          <a:xfrm>
            <a:off x="7223760" y="556869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49" name="Shape 40"/>
          <p:cNvSpPr/>
          <p:nvPr/>
        </p:nvSpPr>
        <p:spPr>
          <a:xfrm>
            <a:off x="8275320" y="5605272"/>
            <a:ext cx="474785" cy="146304"/>
          </a:xfrm>
          <a:prstGeom prst="roundRect">
            <a:avLst>
              <a:gd name="adj" fmla="val 18750"/>
            </a:avLst>
          </a:prstGeom>
          <a:solidFill>
            <a:schemeClr val="accent1"/>
          </a:solidFill>
          <a:ln/>
        </p:spPr>
      </p:sp>
      <p:sp>
        <p:nvSpPr>
          <p:cNvPr id="50" name="Text 41"/>
          <p:cNvSpPr txBox="1"/>
          <p:nvPr/>
        </p:nvSpPr>
        <p:spPr>
          <a:xfrm>
            <a:off x="8841545" y="5568696"/>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10%</a:t>
            </a:r>
            <a:endParaRPr lang="en-GB" sz="1000" dirty="0"/>
          </a:p>
        </p:txBody>
      </p:sp>
      <p:sp>
        <p:nvSpPr>
          <p:cNvPr id="51" name="Text 42"/>
          <p:cNvSpPr txBox="1"/>
          <p:nvPr/>
        </p:nvSpPr>
        <p:spPr>
          <a:xfrm>
            <a:off x="7223760" y="5879592"/>
            <a:ext cx="4114800" cy="201168"/>
          </a:xfrm>
          <a:prstGeom prst="rect">
            <a:avLst/>
          </a:prstGeom>
          <a:noFill/>
          <a:ln/>
        </p:spPr>
        <p:txBody>
          <a:bodyPr wrap="square" lIns="0" tIns="0" rIns="0" bIns="0" rtlCol="0" anchor="t"/>
          <a:lstStyle/>
          <a:p>
            <a:pPr indent="0" marL="0">
              <a:buNone/>
            </a:pPr>
            <a:r>
              <a:rPr lang="en-GB" altLang="en-US" sz="1000" b="1" i="1" dirty="0">
                <a:solidFill>
                  <a:schemeClr val="accent3"/>
                </a:solidFill>
              </a:rPr>
              <a:t>Sample layout. Figures are illustrative.</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4929872" cy="3429000"/>
          </a:xfrm>
          <a:prstGeom prst="rect">
            <a:avLst/>
          </a:prstGeom>
        </p:spPr>
      </p:pic>
      <p:sp>
        <p:nvSpPr>
          <p:cNvPr id="11" name="Shape 4"/>
          <p:cNvSpPr/>
          <p:nvPr/>
        </p:nvSpPr>
        <p:spPr>
          <a:xfrm>
            <a:off x="658368" y="4809744"/>
            <a:ext cx="796442" cy="292608"/>
          </a:xfrm>
          <a:prstGeom prst="roundRect">
            <a:avLst>
              <a:gd name="adj" fmla="val 18750"/>
            </a:avLst>
          </a:prstGeom>
          <a:solidFill>
            <a:schemeClr val="tx1">
              <a:alpha val="70000"/>
            </a:schemeClr>
          </a:solidFill>
          <a:ln/>
        </p:spPr>
      </p:sp>
      <p:sp>
        <p:nvSpPr>
          <p:cNvPr id="12" name="Text 5"/>
          <p:cNvSpPr txBox="1"/>
          <p:nvPr/>
        </p:nvSpPr>
        <p:spPr>
          <a:xfrm>
            <a:off x="658368" y="48097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5321808"/>
            <a:ext cx="4929872" cy="411480"/>
          </a:xfrm>
          <a:prstGeom prst="rect">
            <a:avLst/>
          </a:prstGeom>
          <a:noFill/>
          <a:ln/>
        </p:spPr>
        <p:txBody>
          <a:bodyPr wrap="square" lIns="0" tIns="0" rIns="0" bIns="0" rtlCol="0" anchor="t"/>
          <a:lstStyle/>
          <a:p>
            <a:pPr indent="0" marL="0">
              <a:buNone/>
            </a:pPr>
            <a:r>
              <a:rPr lang="en-GB" altLang="en-US" sz="2600" dirty="0">
                <a:solidFill>
                  <a:schemeClr val="accent4"/>
                </a:solidFill>
              </a:rPr>
              <a:t>55.8M</a:t>
            </a:r>
            <a:endParaRPr lang="en-GB" sz="2600" dirty="0"/>
          </a:p>
        </p:txBody>
      </p:sp>
      <p:sp>
        <p:nvSpPr>
          <p:cNvPr id="14" name="Text 7"/>
          <p:cNvSpPr txBox="1"/>
          <p:nvPr/>
        </p:nvSpPr>
        <p:spPr>
          <a:xfrm>
            <a:off x="548640" y="5733288"/>
            <a:ext cx="4929872" cy="347472"/>
          </a:xfrm>
          <a:prstGeom prst="rect">
            <a:avLst/>
          </a:prstGeom>
          <a:noFill/>
          <a:ln/>
        </p:spPr>
        <p:txBody>
          <a:bodyPr wrap="square" lIns="0" tIns="0" rIns="0" bIns="0" rtlCol="0" anchor="t"/>
          <a:lstStyle/>
          <a:p>
            <a:pPr indent="0" marL="0">
              <a:buNone/>
            </a:pPr>
            <a:r>
              <a:rPr lang="en-GB" altLang="en-US" sz="1050" dirty="0">
                <a:solidFill>
                  <a:schemeClr val="accent5"/>
                </a:solidFill>
              </a:rPr>
              <a:t>Instagram views on one reel. IShowSpeed in Côte d’Ivoire.</a:t>
            </a:r>
            <a:endParaRPr lang="en-GB" sz="1050" dirty="0"/>
          </a:p>
        </p:txBody>
      </p:sp>
      <p:pic>
        <p:nvPicPr>
          <p:cNvPr id="15" name="Photo speed_ma" descr="IShowSpeed in Morocco for the AFCON 2025 Final">    </p:cNvPr>
          <p:cNvPicPr>
            <a:picLocks noChangeAspect="1"/>
          </p:cNvPicPr>
          <p:nvPr/>
        </p:nvPicPr>
        <p:blipFill>
          <a:blip r:embed="rId5"/>
          <a:stretch>
            <a:fillRect/>
          </a:stretch>
        </p:blipFill>
        <p:spPr>
          <a:xfrm>
            <a:off x="6044279" y="1783080"/>
            <a:ext cx="2289810" cy="3429000"/>
          </a:xfrm>
          <a:prstGeom prst="rect">
            <a:avLst/>
          </a:prstGeom>
        </p:spPr>
      </p:pic>
      <p:sp>
        <p:nvSpPr>
          <p:cNvPr id="16" name="Shape 8"/>
          <p:cNvSpPr/>
          <p:nvPr/>
        </p:nvSpPr>
        <p:spPr>
          <a:xfrm>
            <a:off x="6154007" y="4809744"/>
            <a:ext cx="1664208" cy="292608"/>
          </a:xfrm>
          <a:prstGeom prst="roundRect">
            <a:avLst>
              <a:gd name="adj" fmla="val 18750"/>
            </a:avLst>
          </a:prstGeom>
          <a:solidFill>
            <a:schemeClr val="tx1">
              <a:alpha val="70000"/>
            </a:schemeClr>
          </a:solidFill>
          <a:ln/>
        </p:spPr>
      </p:sp>
      <p:sp>
        <p:nvSpPr>
          <p:cNvPr id="17" name="Text 9"/>
          <p:cNvSpPr txBox="1"/>
          <p:nvPr/>
        </p:nvSpPr>
        <p:spPr>
          <a:xfrm>
            <a:off x="6154007" y="4809744"/>
            <a:ext cx="1664208"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 AFCON Final</a:t>
            </a:r>
            <a:endParaRPr lang="en-GB" sz="1000" dirty="0"/>
          </a:p>
        </p:txBody>
      </p:sp>
      <p:sp>
        <p:nvSpPr>
          <p:cNvPr id="18" name="Text 10"/>
          <p:cNvSpPr txBox="1"/>
          <p:nvPr/>
        </p:nvSpPr>
        <p:spPr>
          <a:xfrm>
            <a:off x="6044279" y="5321808"/>
            <a:ext cx="2289810" cy="411480"/>
          </a:xfrm>
          <a:prstGeom prst="rect">
            <a:avLst/>
          </a:prstGeom>
          <a:noFill/>
          <a:ln/>
        </p:spPr>
        <p:txBody>
          <a:bodyPr wrap="square" lIns="0" tIns="0" rIns="0" bIns="0" rtlCol="0" anchor="t"/>
          <a:lstStyle/>
          <a:p>
            <a:pPr indent="0" marL="0">
              <a:buNone/>
            </a:pPr>
            <a:r>
              <a:rPr lang="en-GB" altLang="en-US" sz="2600" dirty="0">
                <a:solidFill>
                  <a:schemeClr val="accent4"/>
                </a:solidFill>
              </a:rPr>
              <a:t>16M</a:t>
            </a:r>
            <a:endParaRPr lang="en-GB" sz="2600" dirty="0"/>
          </a:p>
        </p:txBody>
      </p:sp>
      <p:sp>
        <p:nvSpPr>
          <p:cNvPr id="19" name="Text 11"/>
          <p:cNvSpPr txBox="1"/>
          <p:nvPr/>
        </p:nvSpPr>
        <p:spPr>
          <a:xfrm>
            <a:off x="6044279" y="5733288"/>
            <a:ext cx="2289810" cy="347472"/>
          </a:xfrm>
          <a:prstGeom prst="rect">
            <a:avLst/>
          </a:prstGeom>
          <a:noFill/>
          <a:ln/>
        </p:spPr>
        <p:txBody>
          <a:bodyPr wrap="square" lIns="0" tIns="0" rIns="0" bIns="0" rtlCol="0" anchor="t"/>
          <a:lstStyle/>
          <a:p>
            <a:pPr indent="0" marL="0">
              <a:buNone/>
            </a:pPr>
            <a:r>
              <a:rPr lang="en-GB" altLang="en-US" sz="1050" dirty="0">
                <a:solidFill>
                  <a:schemeClr val="accent5"/>
                </a:solidFill>
              </a:rPr>
              <a:t>Live stream views of the AFCON mascot reveal.</a:t>
            </a:r>
            <a:endParaRPr lang="en-GB" sz="1050" dirty="0"/>
          </a:p>
        </p:txBody>
      </p:sp>
      <p:pic>
        <p:nvPicPr>
          <p:cNvPr id="20" name="Photo ashton" descr="Ashton Hall Africa Tour, Nigeria leg">    </p:cNvPr>
          <p:cNvPicPr>
            <a:picLocks noChangeAspect="1"/>
          </p:cNvPicPr>
          <p:nvPr/>
        </p:nvPicPr>
        <p:blipFill>
          <a:blip r:embed="rId6"/>
          <a:stretch>
            <a:fillRect/>
          </a:stretch>
        </p:blipFill>
        <p:spPr>
          <a:xfrm>
            <a:off x="8899855" y="1783080"/>
            <a:ext cx="2743200" cy="3429000"/>
          </a:xfrm>
          <a:prstGeom prst="rect">
            <a:avLst/>
          </a:prstGeom>
        </p:spPr>
      </p:pic>
      <p:sp>
        <p:nvSpPr>
          <p:cNvPr id="21" name="Shape 12"/>
          <p:cNvSpPr/>
          <p:nvPr/>
        </p:nvSpPr>
        <p:spPr>
          <a:xfrm>
            <a:off x="9009583" y="4809744"/>
            <a:ext cx="662940" cy="292608"/>
          </a:xfrm>
          <a:prstGeom prst="roundRect">
            <a:avLst>
              <a:gd name="adj" fmla="val 18750"/>
            </a:avLst>
          </a:prstGeom>
          <a:solidFill>
            <a:schemeClr val="tx1">
              <a:alpha val="70000"/>
            </a:schemeClr>
          </a:solidFill>
          <a:ln/>
        </p:spPr>
      </p:sp>
      <p:sp>
        <p:nvSpPr>
          <p:cNvPr id="22" name="Text 13"/>
          <p:cNvSpPr txBox="1"/>
          <p:nvPr/>
        </p:nvSpPr>
        <p:spPr>
          <a:xfrm>
            <a:off x="9009583" y="48097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8899855" y="5321808"/>
            <a:ext cx="2743200" cy="411480"/>
          </a:xfrm>
          <a:prstGeom prst="rect">
            <a:avLst/>
          </a:prstGeom>
          <a:noFill/>
          <a:ln/>
        </p:spPr>
        <p:txBody>
          <a:bodyPr wrap="square" lIns="0" tIns="0" rIns="0" bIns="0" rtlCol="0" anchor="t"/>
          <a:lstStyle/>
          <a:p>
            <a:pPr indent="0" marL="0">
              <a:buNone/>
            </a:pPr>
            <a:r>
              <a:rPr lang="en-GB" altLang="en-US" sz="2600" dirty="0">
                <a:solidFill>
                  <a:schemeClr val="accent4"/>
                </a:solidFill>
              </a:rPr>
              <a:t>1.57B</a:t>
            </a:r>
            <a:endParaRPr lang="en-GB" sz="2600" dirty="0"/>
          </a:p>
        </p:txBody>
      </p:sp>
      <p:sp>
        <p:nvSpPr>
          <p:cNvPr id="24" name="Text 15"/>
          <p:cNvSpPr txBox="1"/>
          <p:nvPr/>
        </p:nvSpPr>
        <p:spPr>
          <a:xfrm>
            <a:off x="8899855" y="5733288"/>
            <a:ext cx="2743200" cy="347472"/>
          </a:xfrm>
          <a:prstGeom prst="rect">
            <a:avLst/>
          </a:prstGeom>
          <a:noFill/>
          <a:ln/>
        </p:spPr>
        <p:txBody>
          <a:bodyPr wrap="square" lIns="0" tIns="0" rIns="0" bIns="0" rtlCol="0" anchor="t"/>
          <a:lstStyle/>
          <a:p>
            <a:pPr indent="0" marL="0">
              <a:buNone/>
            </a:pPr>
            <a:r>
              <a:rPr lang="en-GB" altLang="en-US" sz="1050" dirty="0">
                <a:solidFill>
                  <a:schemeClr val="accent5"/>
                </a:solidFill>
              </a:rPr>
              <a:t>Tour views across five countries, managed end to end.</a:t>
            </a:r>
            <a:endParaRPr lang="en-GB" sz="1050" dirty="0"/>
          </a:p>
        </p:txBody>
      </p:sp>
      <p:sp>
        <p:nvSpPr>
          <p:cNvPr id="25" name="Text 16"/>
          <p:cNvSpPr txBox="1"/>
          <p:nvPr/>
        </p:nvSpPr>
        <p:spPr>
          <a:xfrm>
            <a:off x="548640" y="6144768"/>
            <a:ext cx="11094415" cy="201168"/>
          </a:xfrm>
          <a:prstGeom prst="rect">
            <a:avLst/>
          </a:prstGeom>
          <a:noFill/>
          <a:ln/>
        </p:spPr>
        <p:txBody>
          <a:bodyPr wrap="square" lIns="0" tIns="0" rIns="0" bIns="0" rtlCol="0" anchor="t"/>
          <a:lstStyle/>
          <a:p>
            <a:pPr indent="0" marL="0">
              <a:buNone/>
            </a:pPr>
            <a:r>
              <a:rPr lang="en-GB" altLang="en-US" sz="900" dirty="0">
                <a:solidFill>
                  <a:schemeClr val="accent5"/>
                </a:solidFill>
              </a:rPr>
              <a:t>Sources: Instagram and YouTube analytics, tour figures supplied by the client.</a:t>
            </a:r>
            <a:endParaRPr lang="en-GB"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2026-10-30T11:45:51Z</dcterms:created>
  <dcterms:modified xsi:type="dcterms:W3CDTF">2026-10-30T11:45:51Z</dcterms:modified>
</cp:coreProperties>
</file>