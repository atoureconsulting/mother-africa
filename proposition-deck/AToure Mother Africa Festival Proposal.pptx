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0000311-732c-2d10-74c1-8efbadcfd056}">
          <p14:sldIdLst>
            <p14:sldId id="256"/>
          </p14:sldIdLst>
        </p14:section>
        <p14:section name="Where we stand" id="{1663daec-388d-495c-fe94-427393a3f80f}">
          <p14:sldIdLst>
            <p14:sldId id="257"/>
            <p14:sldId id="258"/>
          </p14:sldIdLst>
        </p14:section>
        <p14:section name="The AToure answer" id="{c4371925-ff2f-1cea-2456-8ca85570c1b7}">
          <p14:sldIdLst>
            <p14:sldId id="259"/>
            <p14:sldId id="260"/>
          </p14:sldIdLst>
        </p14:section>
        <p14:section name="Visibility" id="{c4edc138-bade-a0e0-46d3-34e86f8c404c}">
          <p14:sldIdLst>
            <p14:sldId id="261"/>
            <p14:sldId id="262"/>
          </p14:sldIdLst>
        </p14:section>
        <p14:section name="The visibility report" id="{5dda36f6-aa59-b648-bb8b-fadc0856c663}">
          <p14:sldIdLst>
            <p14:sldId id="263"/>
          </p14:sldIdLst>
        </p14:section>
        <p14:section name="The proposal" id="{f715338a-5bd7-82c4-3c5f-fc8150f012a6}">
          <p14:sldIdLst>
            <p14:sldId id="264"/>
          </p14:sldIdLst>
        </p14:section>
        <p14:section name="Proof" id="{6149dafd-314a-ad9b-edce-93772ad636da}">
          <p14:sldIdLst>
            <p14:sldId id="265"/>
          </p14:sldIdLst>
        </p14:section>
        <p14:section name="The ask" id="{1f219f9a-85e9-adac-4f90-dd4e91e6f4aa}">
          <p14:sldIdLst>
            <p14:sldId id="266"/>
          </p14:sldIdLst>
        </p14:section>
        <p14:section name="Appendix" id="{9394e37a-130a-0729-3c1f-061fea9af12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Mother Africa team for the time. This proposal is about one thing: making the visibility that creators bring to the festival provable, so the festival can show it to sponsors. Everything on the next slide comes from the festival’s own posters and press material, so ask the team to correct anything we have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left comes from public reporting and the festival’s own announcements, so ask the team to correct anything we have wrong. 15,000 and 40 percent are the figures reported for the first edition in December 2022. 20,000 is what the organisers expect for the 5th edition, not a result. The 1 billion FCFA figure is the festival’s weight as a sponsorship instrument. The right side is what any festival needs once it sells its audience to sponsors: present it as the next stage, not as a list of faults. Sources: Africa Radio, Music In Africa, Abidjan.net, Liferadio, France 24, Pulse and allAfrica.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anniversary edition with a headliner of Davido’s size is when sponsors pay the most attention, so it is the year to start measuring. Look at any picture from the festival: phones up everywhere. That content already exists, but nobody directs it and nobody counts it. The revenue model is the chain at the bottom: more creators bring more visibility, visibility meets the brands’ goals, and met goals bring sponsor and investor money back for 2027. AToure supplies the creators and the proof at every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what the festival provides, in orange, and what AToure delivers, in gold. The festival’s side is small on purpose: access for the creators, its brand guidelines and key messages, the ticket links, and one contact on production. Everything else is AToure’s: the creators, running them on the ground as the operator, and the report that makes the visibility provable.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the festival team never has to touch. AToure scouts and vets, agrees deliverables in writing, briefs, gets every creator accredited for both nights, and checks drafts before they go live. After the festival, every creator is checked against the brief within 48 hours, and analytics are collected by screen recording. One contact at AToure, and a shared tracker the team can look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Visibility comes in three waves. The build up runs about five weeks and has one job: sell tickets. The two festival nights are about live reach, making people who are not there wish they were. The afterglow keeps Mother Africa in feeds into January and gives sponsors content to point to. If the festival plans a 2027 announcement, the afterglow is where it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Sponsors are paying for visibility, and creators are one of the best ways to deliver it. Sponsor mentions go into every brief, creators are guided to each activation and stage banner on both nights, and every partner gets its own page in the report. The revenue model is the same chain as before, seen from the sponsor’s side: more creators bring more visibility, visibility meets the brands’ goals, and met goals bring sponsor money back for 2027. Any media value is an estimate and is labelled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fixed dates. A one page weekly pulse during the build up, so effort moves to the creators who are working. A check 48 hours after the festival: who posted, where, against which brief. The full report on day 14, by 11 January 2027, as a PDF for the board and sponsors with a web version. The page on the right is a sample layout: its figures are illustrative, to show the format, and are not a forecast for the festival.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trial, not a long term ask. One edition: AToure runs the creators and delivers one full report on a fixed date. The trial is what earns the conversation about 2027. There is no price on this slide on purpose: scope and fees are agreed once the festival says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new capability. In Abidjan, AToure built the IShowSpeed operation from zero. In Morocco it delivered the AFCON mascot reveal with CAF and the Royal Moroccan Football Federation. The Ashton Hall tour covered five countries, managed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To be ready for 27 December, the work starts on Monday 2 November. Four steps: confirm the scope and targets this week, approve the shortlist by 13 November, creators signed and briefed by 20 November, build up content live from 23 November. Do not read past this slide: let the ask land, and let the Mother Africa team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2 of the sample report, to show the depth behind the headline numbers: every creator with posts, views, interactions and ticket clicks, where the audience was, and what each partner received. The figures are illustrative and add up to page 1; they are not a forecast. The full report also lists every post with its link and time, and ends with recommendations for the next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6949440" cy="1600200"/>
          </a:xfrm>
          <a:prstGeom prst="rect">
            <a:avLst/>
          </a:prstGeom>
          <a:noFill/>
          <a:ln/>
        </p:spPr>
        <p:txBody>
          <a:bodyPr wrap="square" rtlCol="0"/>
          <a:lstStyle>
            <a:lvl1pPr algn="l" indent="0" marL="0">
              <a:lnSpc>
                <a:spcPct val="95000"/>
              </a:lnSpc>
              <a:buNone/>
              <a:defRPr lang="en-US" sz="5000" dirty="0">
                <a:solidFill>
                  <a:schemeClr val="bg1"/>
                </a:solidFill>
              </a:defRPr>
            </a:lvl1pPr>
          </a:lstStyle>
          <a:p>
            <a:pPr algn="l" indent="0" marL="0">
              <a:lnSpc>
                <a:spcPct val="95000"/>
              </a:lnSpc>
              <a:buNone/>
            </a:pPr>
            <a:endParaRPr lang="en-US" sz="5000" dirty="0"/>
          </a:p>
        </p:txBody>
      </p:sp>
      <p:sp>
        <p:nvSpPr>
          <p:cNvPr id="3" name="Text 0"/>
          <p:cNvSpPr/>
          <p:nvPr>
            <p:ph idx="101" type="body" hasCustomPrompt="1"/>
          </p:nvPr>
        </p:nvSpPr>
        <p:spPr>
          <a:xfrm>
            <a:off x="548640" y="4206240"/>
            <a:ext cx="5760720" cy="1371600"/>
          </a:xfrm>
          <a:prstGeom prst="rect">
            <a:avLst/>
          </a:prstGeom>
          <a:noFill/>
          <a:ln/>
        </p:spPr>
        <p:txBody>
          <a:bodyPr wrap="square" rtlCol="0"/>
          <a:lstStyle>
            <a:lvl1pPr algn="l" indent="0" marL="0">
              <a:lnSpc>
                <a:spcPct val="115000"/>
              </a:lnSpc>
              <a:buNone/>
              <a:defRPr lang="en-US" sz="1600" dirty="0">
                <a:solidFill>
                  <a:schemeClr val="accent5"/>
                </a:solidFill>
              </a:defRPr>
            </a:lvl1pPr>
          </a:lstStyle>
          <a:p>
            <a:pPr algn="l" indent="0" marL="0">
              <a:lnSpc>
                <a:spcPct val="115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3"/>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tx1"/>
                </a:solidFill>
              </a:defRPr>
            </a:lvl1pPr>
          </a:lstStyle>
          <a:p>
            <a:pPr algn="l" indent="0" marL="0">
              <a:buNone/>
            </a:pPr>
            <a:endParaRPr lang="en-US" sz="3800" dirty="0"/>
          </a:p>
        </p:txBody>
      </p:sp>
      <p:sp>
        <p:nvSpPr>
          <p:cNvPr id="4" name="Text 0"/>
          <p:cNvSpPr/>
          <p:nvPr/>
        </p:nvSpPr>
        <p:spPr>
          <a:xfrm>
            <a:off x="548640" y="6437376"/>
            <a:ext cx="8229600" cy="237744"/>
          </a:xfrm>
          <a:prstGeom prst="rect">
            <a:avLst/>
          </a:prstGeom>
          <a:noFill/>
          <a:ln/>
        </p:spPr>
        <p:txBody>
          <a:bodyPr wrap="square" lIns="0" tIns="0" rIns="0" bIns="0" rtlCol="0" anchor="ctr"/>
          <a:lstStyle/>
          <a:p>
            <a:pPr indent="0" marL="0">
              <a:buNone/>
            </a:pPr>
            <a:r>
              <a:rPr lang="en-US" sz="1000" dirty="0">
                <a:solidFill>
                  <a:schemeClr val="tx2"/>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
        <p:nvSpPr>
          <p:cNvPr id="4" name="Text 0"/>
          <p:cNvSpPr/>
          <p:nvPr/>
        </p:nvSpPr>
        <p:spPr>
          <a:xfrm>
            <a:off x="548640" y="6437376"/>
            <a:ext cx="8229600" cy="237744"/>
          </a:xfrm>
          <a:prstGeom prst="rect">
            <a:avLst/>
          </a:prstGeom>
          <a:noFill/>
          <a:ln/>
        </p:spPr>
        <p:txBody>
          <a:bodyPr wrap="square" lIns="0" tIns="0" rIns="0" bIns="0" rtlCol="0" anchor="ctr"/>
          <a:lstStyle/>
          <a:p>
            <a:pPr indent="0" marL="0">
              <a:buNone/>
            </a:pPr>
            <a:r>
              <a:rPr lang="en-US" sz="1000" dirty="0">
                <a:solidFill>
                  <a:schemeClr val="accent4"/>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PLIT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715000" y="411480"/>
            <a:ext cx="592805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715000" y="676656"/>
            <a:ext cx="592805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
        <p:nvSpPr>
          <p:cNvPr id="4" name="Text 0"/>
          <p:cNvSpPr/>
          <p:nvPr/>
        </p:nvSpPr>
        <p:spPr>
          <a:xfrm>
            <a:off x="5715000" y="6437376"/>
            <a:ext cx="5287975" cy="237744"/>
          </a:xfrm>
          <a:prstGeom prst="rect">
            <a:avLst/>
          </a:prstGeom>
          <a:noFill/>
          <a:ln/>
        </p:spPr>
        <p:txBody>
          <a:bodyPr wrap="square" lIns="0" tIns="0" rIns="0" bIns="0" rtlCol="0" anchor="ctr"/>
          <a:lstStyle/>
          <a:p>
            <a:pPr indent="0" marL="0">
              <a:buNone/>
            </a:pPr>
            <a:r>
              <a:rPr lang="en-US" sz="1000" dirty="0">
                <a:solidFill>
                  <a:schemeClr val="accent4"/>
                </a:solidFill>
              </a:rPr>
              <a:t>AToure Management &amp; Consulting</a:t>
            </a:r>
            <a:endParaRPr lang="en-US"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5257800"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5257800" cy="118872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PHOTO_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11094415" cy="77724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3749040" cy="256032"/>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3" name="Text 0"/>
          <p:cNvSpPr/>
          <p:nvPr>
            <p:ph idx="101" type="title" hasCustomPrompt="1"/>
          </p:nvPr>
        </p:nvSpPr>
        <p:spPr>
          <a:xfrm>
            <a:off x="548640" y="676656"/>
            <a:ext cx="3749040" cy="1325880"/>
          </a:xfrm>
          <a:prstGeom prst="rect">
            <a:avLst/>
          </a:prstGeom>
          <a:noFill/>
          <a:ln/>
        </p:spPr>
        <p:txBody>
          <a:bodyPr wrap="square" rtlCol="0"/>
          <a:lstStyle>
            <a:lvl1pPr algn="l" indent="0" marL="0">
              <a:buNone/>
              <a:defRPr lang="en-US" sz="3800"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jp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6" Type="http://schemas.openxmlformats.org/officeDocument/2006/relationships/slide" Target="slide12.xml"/><Relationship Id="rId8" Type="http://schemas.openxmlformats.org/officeDocument/2006/relationships/slide" Target="slide12.xm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7" Type="http://schemas.openxmlformats.org/officeDocument/2006/relationships/image" Target="../media/image-8-2.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slideLayout" Target="../slideLayouts/slideLayout6.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4" Type="http://schemas.openxmlformats.org/officeDocument/2006/relationships/slide" Target="slide8.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2.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8362372" y="1472184"/>
            <a:ext cx="3134380" cy="4206240"/>
          </a:xfrm>
          <a:prstGeom prst="rect">
            <a:avLst/>
          </a:prstGeom>
          <a:ln w="15875">
            <a:solidFill>
              <a:schemeClr val="accent1"/>
            </a:solidFill>
            <a:prstDash val="solid"/>
          </a:ln>
        </p:spPr>
      </p:sp>
      <p:pic>
        <p:nvPicPr>
          <p:cNvPr id="4" name="Photo poster2026" descr="Mother Africa Festival 2026 poster: Davido, 27 and 28 December, Marcory Zone 4, Abidjan, 5th edition anniversary">    </p:cNvPr>
          <p:cNvPicPr>
            <a:picLocks noChangeAspect="1"/>
          </p:cNvPicPr>
          <p:nvPr/>
        </p:nvPicPr>
        <p:blipFill>
          <a:blip r:embed="rId2"/>
          <a:stretch>
            <a:fillRect/>
          </a:stretch>
        </p:blipFill>
        <p:spPr>
          <a:xfrm>
            <a:off x="8508676" y="1325880"/>
            <a:ext cx="3134380" cy="4206240"/>
          </a:xfrm>
          <a:prstGeom prst="rect">
            <a:avLst/>
          </a:prstGeom>
        </p:spPr>
      </p:pic>
      <p:sp>
        <p:nvSpPr>
          <p:cNvPr id="5" name="Text 0"/>
          <p:cNvSpPr/>
          <p:nvPr>
            <p:ph idx="100" type="title" hasCustomPrompt="1"/>
          </p:nvPr>
        </p:nvSpPr>
        <p:spPr>
          <a:xfrm>
            <a:off x="548640" y="2377440"/>
            <a:ext cx="6949440" cy="1600200"/>
          </a:xfrm>
          <a:prstGeom prst="rect">
            <a:avLst/>
          </a:prstGeom>
          <a:noFill/>
          <a:ln/>
        </p:spPr>
        <p:txBody>
          <a:bodyPr wrap="square" lIns="0" tIns="0" rIns="0" bIns="0" rtlCol="0" anchor="t"/>
          <a:lstStyle/>
          <a:p>
            <a:pPr algn="l" indent="0" marL="0">
              <a:lnSpc>
                <a:spcPct val="95000"/>
              </a:lnSpc>
              <a:buNone/>
            </a:pPr>
            <a:r>
              <a:rPr lang="en-GB" altLang="en-US" sz="5000" dirty="0">
                <a:solidFill>
                  <a:schemeClr val="bg1"/>
                </a:solidFill>
              </a:rPr>
              <a:t>Maximising Mother Africa visibility</a:t>
            </a:r>
            <a:endParaRPr lang="en-GB" sz="5000" dirty="0"/>
          </a:p>
        </p:txBody>
      </p:sp>
      <p:sp>
        <p:nvSpPr>
          <p:cNvPr id="6" name="Text 0"/>
          <p:cNvSpPr/>
          <p:nvPr>
            <p:ph idx="101" type="body" hasCustomPrompt="1"/>
          </p:nvPr>
        </p:nvSpPr>
        <p:spPr>
          <a:xfrm>
            <a:off x="548640" y="4206240"/>
            <a:ext cx="5760720" cy="1371600"/>
          </a:xfrm>
          <a:prstGeom prst="rect">
            <a:avLst/>
          </a:prstGeom>
          <a:noFill/>
          <a:ln/>
        </p:spPr>
        <p:txBody>
          <a:bodyPr wrap="square" lIns="0" tIns="0" rIns="0" bIns="0" rtlCol="0" anchor="t"/>
          <a:lstStyle/>
          <a:p>
            <a:pPr algn="l" indent="0" marL="0">
              <a:lnSpc>
                <a:spcPct val="115000"/>
              </a:lnSpc>
              <a:buNone/>
            </a:pPr>
            <a:r>
              <a:rPr lang="en-GB" altLang="en-US" sz="1600" dirty="0">
                <a:solidFill>
                  <a:schemeClr val="accent5"/>
                </a:solidFill>
              </a:rPr>
              <a:t>A proposal for the 5th edition of Mother Africa Festival: talent access, creator management on the ground and one visibility report.</a:t>
            </a:r>
            <a:endParaRPr lang="en-GB" sz="1600" dirty="0"/>
          </a:p>
          <a:p>
            <a:pPr algn="l" indent="0" marL="0">
              <a:lnSpc>
                <a:spcPct val="115000"/>
              </a:lnSpc>
              <a:buNone/>
            </a:pPr>
            <a:r>
              <a:rPr lang="en-GB" altLang="en-US" sz="1600" dirty="0">
                <a:solidFill>
                  <a:schemeClr val="accent5"/>
                </a:solidFill>
              </a:rPr>
              <a:t>27 and 28 December 2026, Marcory Zone 4, Abidjan.</a:t>
            </a:r>
            <a:endParaRPr lang="en-GB" sz="1600" dirty="0"/>
          </a:p>
        </p:txBody>
      </p:sp>
      <p:sp>
        <p:nvSpPr>
          <p:cNvPr id="8" name="Text 3"/>
          <p:cNvSpPr txBox="1"/>
          <p:nvPr/>
        </p:nvSpPr>
        <p:spPr>
          <a:xfrm>
            <a:off x="548640" y="411480"/>
            <a:ext cx="3657600" cy="237744"/>
          </a:xfrm>
          <a:prstGeom prst="rect">
            <a:avLst/>
          </a:prstGeom>
          <a:noFill/>
          <a:ln/>
        </p:spPr>
        <p:txBody>
          <a:bodyPr wrap="square" lIns="0" tIns="0" rIns="0" bIns="0" rtlCol="0" anchor="t"/>
          <a:lstStyle/>
          <a:p>
            <a:pPr indent="0" marL="0">
              <a:buNone/>
            </a:pPr>
            <a:r>
              <a:rPr lang="en-GB" altLang="en-US" sz="1000" dirty="0">
                <a:solidFill>
                  <a:schemeClr val="accent5"/>
                </a:solidFill>
              </a:rPr>
              <a:t>atoureconsulting.com</a:t>
            </a:r>
            <a:endParaRPr lang="en-GB" sz="1000" dirty="0"/>
          </a:p>
        </p:txBody>
      </p:sp>
      <p:pic>
        <p:nvPicPr>
          <p:cNvPr id="9" name="Image 2" descr="AToure Management &amp; Consulting">    </p:cNvPr>
          <p:cNvPicPr>
            <a:picLocks noChangeAspect="1"/>
          </p:cNvPicPr>
          <p:nvPr/>
        </p:nvPicPr>
        <p:blipFill>
          <a:blip r:embed="rId3"/>
          <a:stretch>
            <a:fillRect/>
          </a:stretch>
        </p:blipFill>
        <p:spPr>
          <a:xfrm>
            <a:off x="548640" y="1371600"/>
            <a:ext cx="2377440" cy="380390"/>
          </a:xfrm>
          <a:prstGeom prst="rect">
            <a:avLst/>
          </a:prstGeom>
        </p:spPr>
      </p:pic>
      <p:sp>
        <p:nvSpPr>
          <p:cNvPr id="10" name="Text 4"/>
          <p:cNvSpPr txBox="1"/>
          <p:nvPr/>
        </p:nvSpPr>
        <p:spPr>
          <a:xfrm>
            <a:off x="3017520" y="1261872"/>
            <a:ext cx="365760" cy="365760"/>
          </a:xfrm>
          <a:prstGeom prst="rect">
            <a:avLst/>
          </a:prstGeom>
          <a:noFill/>
          <a:ln/>
        </p:spPr>
        <p:txBody>
          <a:bodyPr wrap="square" lIns="0" tIns="0" rIns="0" bIns="0" rtlCol="0" anchor="ctr"/>
          <a:lstStyle/>
          <a:p>
            <a:pPr algn="ctr" indent="0" marL="0">
              <a:buNone/>
            </a:pPr>
            <a:r>
              <a:rPr lang="en-GB" altLang="en-US" sz="2000" dirty="0">
                <a:solidFill>
                  <a:schemeClr val="accent1"/>
                </a:solidFill>
              </a:rPr>
              <a:t>×</a:t>
            </a:r>
            <a:endParaRPr lang="en-GB" sz="2000" dirty="0"/>
          </a:p>
        </p:txBody>
      </p:sp>
      <p:pic>
        <p:nvPicPr>
          <p:cNvPr id="11" name="Image 3" descr="Mother Africa Festival">    </p:cNvPr>
          <p:cNvPicPr>
            <a:picLocks noChangeAspect="1"/>
          </p:cNvPicPr>
          <p:nvPr/>
        </p:nvPicPr>
        <p:blipFill>
          <a:blip r:embed="rId4"/>
          <a:stretch>
            <a:fillRect/>
          </a:stretch>
        </p:blipFill>
        <p:spPr>
          <a:xfrm>
            <a:off x="3474720" y="1005840"/>
            <a:ext cx="1224254" cy="868680"/>
          </a:xfrm>
          <a:prstGeom prst="rect">
            <a:avLst/>
          </a:prstGeom>
        </p:spPr>
      </p:pic>
      <p:sp>
        <p:nvSpPr>
          <p:cNvPr id="12" name="Shape 5"/>
          <p:cNvSpPr/>
          <p:nvPr/>
        </p:nvSpPr>
        <p:spPr>
          <a:xfrm>
            <a:off x="548640" y="5760720"/>
            <a:ext cx="1463040" cy="0"/>
          </a:xfrm>
          <a:prstGeom prst="line">
            <a:avLst/>
          </a:prstGeom>
          <a:noFill/>
          <a:ln w="25400">
            <a:solidFill>
              <a:schemeClr val="accent2"/>
            </a:solidFill>
            <a:prstDash val="solid"/>
          </a:ln>
        </p:spPr>
      </p:sp>
      <p:sp>
        <p:nvSpPr>
          <p:cNvPr id="13" name="Text 6"/>
          <p:cNvSpPr txBox="1"/>
          <p:nvPr/>
        </p:nvSpPr>
        <p:spPr>
          <a:xfrm>
            <a:off x="548640" y="5897880"/>
            <a:ext cx="6400800" cy="274320"/>
          </a:xfrm>
          <a:prstGeom prst="rect">
            <a:avLst/>
          </a:prstGeom>
          <a:noFill/>
          <a:ln/>
        </p:spPr>
        <p:txBody>
          <a:bodyPr wrap="square" lIns="0" tIns="0" rIns="0" bIns="0" rtlCol="0" anchor="t"/>
          <a:lstStyle/>
          <a:p>
            <a:pPr indent="0" marL="0">
              <a:buNone/>
            </a:pPr>
            <a:r>
              <a:rPr lang="en-GB" altLang="en-US" sz="1200" dirty="0">
                <a:solidFill>
                  <a:schemeClr val="accent4"/>
                </a:solidFill>
              </a:rPr>
              <a:t>Prepared by Baba Touré, Director  ·  30.10.2026</a:t>
            </a:r>
            <a:endParaRPr lang="en-GB"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WHERE WE STAND</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Four editions in, this is already working</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3086100" cy="1097280"/>
          </a:xfrm>
          <a:prstGeom prst="rect">
            <a:avLst/>
          </a:prstGeom>
          <a:solidFill>
            <a:schemeClr val="bg1"/>
          </a:solidFill>
          <a:ln w="9525">
            <a:solidFill>
              <a:schemeClr val="tx2">
                <a:alpha val="28000"/>
              </a:schemeClr>
            </a:solidFill>
            <a:prstDash val="solid"/>
          </a:ln>
        </p:spPr>
      </p:sp>
      <p:sp>
        <p:nvSpPr>
          <p:cNvPr id="9" name="Shape 4"/>
          <p:cNvSpPr/>
          <p:nvPr/>
        </p:nvSpPr>
        <p:spPr>
          <a:xfrm>
            <a:off x="548640" y="1783080"/>
            <a:ext cx="3086100" cy="45720"/>
          </a:xfrm>
          <a:prstGeom prst="rect">
            <a:avLst/>
          </a:prstGeom>
          <a:solidFill>
            <a:schemeClr val="accent1"/>
          </a:solidFill>
          <a:ln/>
        </p:spPr>
      </p:sp>
      <p:sp>
        <p:nvSpPr>
          <p:cNvPr id="10" name="Text 5"/>
          <p:cNvSpPr txBox="1"/>
          <p:nvPr/>
        </p:nvSpPr>
        <p:spPr>
          <a:xfrm>
            <a:off x="777240" y="1929384"/>
            <a:ext cx="2628900" cy="457200"/>
          </a:xfrm>
          <a:prstGeom prst="rect">
            <a:avLst/>
          </a:prstGeom>
          <a:noFill/>
          <a:ln/>
        </p:spPr>
        <p:txBody>
          <a:bodyPr wrap="square" lIns="0" tIns="0" rIns="0" bIns="0" rtlCol="0" anchor="t"/>
          <a:lstStyle/>
          <a:p>
            <a:pPr indent="0" marL="0">
              <a:buNone/>
            </a:pPr>
            <a:r>
              <a:rPr lang="en-GB" altLang="en-US" sz="2800" b="1" dirty="0">
                <a:solidFill>
                  <a:schemeClr val="accent3"/>
                </a:solidFill>
              </a:rPr>
              <a:t>15,000+</a:t>
            </a:r>
            <a:endParaRPr lang="en-GB" sz="2800" dirty="0"/>
          </a:p>
        </p:txBody>
      </p:sp>
      <p:sp>
        <p:nvSpPr>
          <p:cNvPr id="11" name="Text 6"/>
          <p:cNvSpPr txBox="1"/>
          <p:nvPr/>
        </p:nvSpPr>
        <p:spPr>
          <a:xfrm>
            <a:off x="777240" y="2423160"/>
            <a:ext cx="2674620" cy="384048"/>
          </a:xfrm>
          <a:prstGeom prst="rect">
            <a:avLst/>
          </a:prstGeom>
          <a:noFill/>
          <a:ln/>
        </p:spPr>
        <p:txBody>
          <a:bodyPr wrap="square" lIns="0" tIns="0" rIns="0" bIns="0" rtlCol="0" anchor="t"/>
          <a:lstStyle/>
          <a:p>
            <a:pPr indent="0" marL="0">
              <a:buNone/>
            </a:pPr>
            <a:r>
              <a:rPr lang="en-GB" altLang="en-US" sz="1200" dirty="0">
                <a:solidFill>
                  <a:schemeClr val="tx2"/>
                </a:solidFill>
              </a:rPr>
              <a:t>Festival goers at the first edition, December 2022</a:t>
            </a:r>
            <a:endParaRPr lang="en-GB" sz="1200" dirty="0"/>
          </a:p>
        </p:txBody>
      </p:sp>
      <p:sp>
        <p:nvSpPr>
          <p:cNvPr id="12" name="Shape 7"/>
          <p:cNvSpPr/>
          <p:nvPr/>
        </p:nvSpPr>
        <p:spPr>
          <a:xfrm>
            <a:off x="3863340" y="1783080"/>
            <a:ext cx="3086100" cy="1097280"/>
          </a:xfrm>
          <a:prstGeom prst="rect">
            <a:avLst/>
          </a:prstGeom>
          <a:solidFill>
            <a:schemeClr val="bg1"/>
          </a:solidFill>
          <a:ln w="9525">
            <a:solidFill>
              <a:schemeClr val="tx2">
                <a:alpha val="28000"/>
              </a:schemeClr>
            </a:solidFill>
            <a:prstDash val="solid"/>
          </a:ln>
        </p:spPr>
      </p:sp>
      <p:sp>
        <p:nvSpPr>
          <p:cNvPr id="13" name="Shape 8"/>
          <p:cNvSpPr/>
          <p:nvPr/>
        </p:nvSpPr>
        <p:spPr>
          <a:xfrm>
            <a:off x="3863340" y="1783080"/>
            <a:ext cx="3086100" cy="45720"/>
          </a:xfrm>
          <a:prstGeom prst="rect">
            <a:avLst/>
          </a:prstGeom>
          <a:solidFill>
            <a:schemeClr val="accent1"/>
          </a:solidFill>
          <a:ln/>
        </p:spPr>
      </p:sp>
      <p:sp>
        <p:nvSpPr>
          <p:cNvPr id="14" name="Text 9"/>
          <p:cNvSpPr txBox="1"/>
          <p:nvPr/>
        </p:nvSpPr>
        <p:spPr>
          <a:xfrm>
            <a:off x="4091940" y="1929384"/>
            <a:ext cx="2628900" cy="457200"/>
          </a:xfrm>
          <a:prstGeom prst="rect">
            <a:avLst/>
          </a:prstGeom>
          <a:noFill/>
          <a:ln/>
        </p:spPr>
        <p:txBody>
          <a:bodyPr wrap="square" lIns="0" tIns="0" rIns="0" bIns="0" rtlCol="0" anchor="t"/>
          <a:lstStyle/>
          <a:p>
            <a:pPr indent="0" marL="0">
              <a:buNone/>
            </a:pPr>
            <a:r>
              <a:rPr lang="en-GB" altLang="en-US" sz="2800" b="1" dirty="0">
                <a:solidFill>
                  <a:schemeClr val="accent3"/>
                </a:solidFill>
              </a:rPr>
              <a:t>40%</a:t>
            </a:r>
            <a:endParaRPr lang="en-GB" sz="2800" dirty="0"/>
          </a:p>
        </p:txBody>
      </p:sp>
      <p:sp>
        <p:nvSpPr>
          <p:cNvPr id="15" name="Text 10"/>
          <p:cNvSpPr txBox="1"/>
          <p:nvPr/>
        </p:nvSpPr>
        <p:spPr>
          <a:xfrm>
            <a:off x="4091940" y="2423160"/>
            <a:ext cx="2674620" cy="384048"/>
          </a:xfrm>
          <a:prstGeom prst="rect">
            <a:avLst/>
          </a:prstGeom>
          <a:noFill/>
          <a:ln/>
        </p:spPr>
        <p:txBody>
          <a:bodyPr wrap="square" lIns="0" tIns="0" rIns="0" bIns="0" rtlCol="0" anchor="t"/>
          <a:lstStyle/>
          <a:p>
            <a:pPr indent="0" marL="0">
              <a:buNone/>
            </a:pPr>
            <a:r>
              <a:rPr lang="en-GB" altLang="en-US" sz="1200" dirty="0">
                <a:solidFill>
                  <a:schemeClr val="tx2"/>
                </a:solidFill>
              </a:rPr>
              <a:t>Of them came from other countries, as reported</a:t>
            </a:r>
            <a:endParaRPr lang="en-GB" sz="1200" dirty="0"/>
          </a:p>
        </p:txBody>
      </p:sp>
      <p:sp>
        <p:nvSpPr>
          <p:cNvPr id="16" name="Shape 11"/>
          <p:cNvSpPr/>
          <p:nvPr/>
        </p:nvSpPr>
        <p:spPr>
          <a:xfrm>
            <a:off x="548640" y="3044952"/>
            <a:ext cx="3086100" cy="1097280"/>
          </a:xfrm>
          <a:prstGeom prst="rect">
            <a:avLst/>
          </a:prstGeom>
          <a:solidFill>
            <a:schemeClr val="bg1"/>
          </a:solidFill>
          <a:ln w="9525">
            <a:solidFill>
              <a:schemeClr val="tx2">
                <a:alpha val="28000"/>
              </a:schemeClr>
            </a:solidFill>
            <a:prstDash val="solid"/>
          </a:ln>
        </p:spPr>
      </p:sp>
      <p:sp>
        <p:nvSpPr>
          <p:cNvPr id="17" name="Shape 12"/>
          <p:cNvSpPr/>
          <p:nvPr/>
        </p:nvSpPr>
        <p:spPr>
          <a:xfrm>
            <a:off x="548640" y="3044952"/>
            <a:ext cx="3086100" cy="45720"/>
          </a:xfrm>
          <a:prstGeom prst="rect">
            <a:avLst/>
          </a:prstGeom>
          <a:solidFill>
            <a:schemeClr val="accent1"/>
          </a:solidFill>
          <a:ln/>
        </p:spPr>
      </p:sp>
      <p:sp>
        <p:nvSpPr>
          <p:cNvPr id="18" name="Text 13"/>
          <p:cNvSpPr txBox="1"/>
          <p:nvPr/>
        </p:nvSpPr>
        <p:spPr>
          <a:xfrm>
            <a:off x="777240" y="3191256"/>
            <a:ext cx="2628900" cy="457200"/>
          </a:xfrm>
          <a:prstGeom prst="rect">
            <a:avLst/>
          </a:prstGeom>
          <a:noFill/>
          <a:ln/>
        </p:spPr>
        <p:txBody>
          <a:bodyPr wrap="square" lIns="0" tIns="0" rIns="0" bIns="0" rtlCol="0" anchor="t"/>
          <a:lstStyle/>
          <a:p>
            <a:pPr indent="0" marL="0">
              <a:buNone/>
            </a:pPr>
            <a:r>
              <a:rPr lang="en-GB" altLang="en-US" sz="2800" b="1" dirty="0">
                <a:solidFill>
                  <a:schemeClr val="accent3"/>
                </a:solidFill>
              </a:rPr>
              <a:t>20,000+</a:t>
            </a:r>
            <a:endParaRPr lang="en-GB" sz="2800" dirty="0"/>
          </a:p>
        </p:txBody>
      </p:sp>
      <p:sp>
        <p:nvSpPr>
          <p:cNvPr id="19" name="Text 14"/>
          <p:cNvSpPr txBox="1"/>
          <p:nvPr/>
        </p:nvSpPr>
        <p:spPr>
          <a:xfrm>
            <a:off x="777240" y="3685032"/>
            <a:ext cx="2674620" cy="384048"/>
          </a:xfrm>
          <a:prstGeom prst="rect">
            <a:avLst/>
          </a:prstGeom>
          <a:noFill/>
          <a:ln/>
        </p:spPr>
        <p:txBody>
          <a:bodyPr wrap="square" lIns="0" tIns="0" rIns="0" bIns="0" rtlCol="0" anchor="t"/>
          <a:lstStyle/>
          <a:p>
            <a:pPr indent="0" marL="0">
              <a:buNone/>
            </a:pPr>
            <a:r>
              <a:rPr lang="en-GB" altLang="en-US" sz="1200" dirty="0">
                <a:solidFill>
                  <a:schemeClr val="tx2"/>
                </a:solidFill>
              </a:rPr>
              <a:t>Expected at the 5th edition, according to the organisers</a:t>
            </a:r>
            <a:endParaRPr lang="en-GB" sz="1200" dirty="0"/>
          </a:p>
        </p:txBody>
      </p:sp>
      <p:sp>
        <p:nvSpPr>
          <p:cNvPr id="20" name="Shape 15"/>
          <p:cNvSpPr/>
          <p:nvPr/>
        </p:nvSpPr>
        <p:spPr>
          <a:xfrm>
            <a:off x="3863340" y="3044952"/>
            <a:ext cx="3086100" cy="1097280"/>
          </a:xfrm>
          <a:prstGeom prst="rect">
            <a:avLst/>
          </a:prstGeom>
          <a:solidFill>
            <a:schemeClr val="tx1"/>
          </a:solidFill>
          <a:ln/>
        </p:spPr>
      </p:sp>
      <p:sp>
        <p:nvSpPr>
          <p:cNvPr id="21" name="Shape 16"/>
          <p:cNvSpPr/>
          <p:nvPr/>
        </p:nvSpPr>
        <p:spPr>
          <a:xfrm>
            <a:off x="3863340" y="3044952"/>
            <a:ext cx="3086100" cy="45720"/>
          </a:xfrm>
          <a:prstGeom prst="rect">
            <a:avLst/>
          </a:prstGeom>
          <a:solidFill>
            <a:schemeClr val="accent2"/>
          </a:solidFill>
          <a:ln/>
        </p:spPr>
      </p:sp>
      <p:sp>
        <p:nvSpPr>
          <p:cNvPr id="22" name="Text 17"/>
          <p:cNvSpPr txBox="1"/>
          <p:nvPr/>
        </p:nvSpPr>
        <p:spPr>
          <a:xfrm>
            <a:off x="4091940" y="3191256"/>
            <a:ext cx="2628900" cy="457200"/>
          </a:xfrm>
          <a:prstGeom prst="rect">
            <a:avLst/>
          </a:prstGeom>
          <a:noFill/>
          <a:ln/>
        </p:spPr>
        <p:txBody>
          <a:bodyPr wrap="square" lIns="0" tIns="0" rIns="0" bIns="0" rtlCol="0" anchor="t"/>
          <a:lstStyle/>
          <a:p>
            <a:pPr indent="0" marL="0">
              <a:buNone/>
            </a:pPr>
            <a:r>
              <a:rPr lang="en-GB" altLang="en-US" sz="2800" b="1" dirty="0">
                <a:solidFill>
                  <a:schemeClr val="accent4"/>
                </a:solidFill>
              </a:rPr>
              <a:t>1B+ FCFA</a:t>
            </a:r>
            <a:endParaRPr lang="en-GB" sz="2800" dirty="0"/>
          </a:p>
        </p:txBody>
      </p:sp>
      <p:sp>
        <p:nvSpPr>
          <p:cNvPr id="23" name="Text 18"/>
          <p:cNvSpPr txBox="1"/>
          <p:nvPr/>
        </p:nvSpPr>
        <p:spPr>
          <a:xfrm>
            <a:off x="4091940" y="3685032"/>
            <a:ext cx="2674620" cy="384048"/>
          </a:xfrm>
          <a:prstGeom prst="rect">
            <a:avLst/>
          </a:prstGeom>
          <a:noFill/>
          <a:ln/>
        </p:spPr>
        <p:txBody>
          <a:bodyPr wrap="square" lIns="0" tIns="0" rIns="0" bIns="0" rtlCol="0" anchor="t"/>
          <a:lstStyle/>
          <a:p>
            <a:pPr indent="0" marL="0">
              <a:buNone/>
            </a:pPr>
            <a:r>
              <a:rPr lang="en-GB" altLang="en-US" sz="1200" dirty="0">
                <a:solidFill>
                  <a:schemeClr val="accent5"/>
                </a:solidFill>
              </a:rPr>
              <a:t>Over 1 billion FCFA: the festival as a sponsorship instrument</a:t>
            </a:r>
            <a:endParaRPr lang="en-GB" sz="1200" dirty="0"/>
          </a:p>
        </p:txBody>
      </p:sp>
      <p:sp>
        <p:nvSpPr>
          <p:cNvPr id="24" name="Text 19"/>
          <p:cNvSpPr txBox="1"/>
          <p:nvPr/>
        </p:nvSpPr>
        <p:spPr>
          <a:xfrm>
            <a:off x="548640" y="4370832"/>
            <a:ext cx="36576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THE STORY SO FAR</a:t>
            </a:r>
            <a:endParaRPr lang="en-GB" sz="1100" dirty="0"/>
          </a:p>
        </p:txBody>
      </p:sp>
      <p:sp>
        <p:nvSpPr>
          <p:cNvPr id="25" name="Shape 20"/>
          <p:cNvSpPr/>
          <p:nvPr/>
        </p:nvSpPr>
        <p:spPr>
          <a:xfrm>
            <a:off x="548640" y="4846320"/>
            <a:ext cx="6400800" cy="0"/>
          </a:xfrm>
          <a:prstGeom prst="line">
            <a:avLst/>
          </a:prstGeom>
          <a:noFill/>
          <a:ln w="19050">
            <a:solidFill>
              <a:schemeClr val="accent1"/>
            </a:solidFill>
            <a:prstDash val="solid"/>
          </a:ln>
        </p:spPr>
      </p:sp>
      <p:sp>
        <p:nvSpPr>
          <p:cNvPr id="26" name="Shape 21"/>
          <p:cNvSpPr/>
          <p:nvPr/>
        </p:nvSpPr>
        <p:spPr>
          <a:xfrm>
            <a:off x="548640" y="4773168"/>
            <a:ext cx="146304" cy="146304"/>
          </a:xfrm>
          <a:prstGeom prst="ellipse">
            <a:avLst/>
          </a:prstGeom>
          <a:solidFill>
            <a:schemeClr val="accent1"/>
          </a:solidFill>
          <a:ln/>
        </p:spPr>
      </p:sp>
      <p:sp>
        <p:nvSpPr>
          <p:cNvPr id="27" name="Text 22"/>
          <p:cNvSpPr txBox="1"/>
          <p:nvPr/>
        </p:nvSpPr>
        <p:spPr>
          <a:xfrm>
            <a:off x="548640" y="4983480"/>
            <a:ext cx="1188720" cy="237744"/>
          </a:xfrm>
          <a:prstGeom prst="rect">
            <a:avLst/>
          </a:prstGeom>
          <a:noFill/>
          <a:ln/>
        </p:spPr>
        <p:txBody>
          <a:bodyPr wrap="square" lIns="0" tIns="0" rIns="0" bIns="0" rtlCol="0" anchor="t"/>
          <a:lstStyle/>
          <a:p>
            <a:pPr indent="0" marL="0">
              <a:buNone/>
            </a:pPr>
            <a:r>
              <a:rPr lang="en-GB" altLang="en-US" sz="1300" b="1" dirty="0">
                <a:solidFill>
                  <a:schemeClr val="tx1"/>
                </a:solidFill>
              </a:rPr>
              <a:t>2022</a:t>
            </a:r>
            <a:endParaRPr lang="en-GB" sz="1300" dirty="0"/>
          </a:p>
        </p:txBody>
      </p:sp>
      <p:sp>
        <p:nvSpPr>
          <p:cNvPr id="28" name="Text 23"/>
          <p:cNvSpPr txBox="1"/>
          <p:nvPr/>
        </p:nvSpPr>
        <p:spPr>
          <a:xfrm>
            <a:off x="548640" y="5248656"/>
            <a:ext cx="1188720" cy="640080"/>
          </a:xfrm>
          <a:prstGeom prst="rect">
            <a:avLst/>
          </a:prstGeom>
          <a:noFill/>
          <a:ln/>
        </p:spPr>
        <p:txBody>
          <a:bodyPr wrap="square" lIns="0" tIns="0" rIns="0" bIns="0" rtlCol="0" anchor="t"/>
          <a:lstStyle/>
          <a:p>
            <a:pPr indent="0" marL="0">
              <a:buNone/>
            </a:pPr>
            <a:r>
              <a:rPr lang="en-GB" altLang="en-US" sz="1050" dirty="0">
                <a:solidFill>
                  <a:schemeClr val="tx2"/>
                </a:solidFill>
              </a:rPr>
              <a:t>First edition, 28 to 30 December in Abidjan</a:t>
            </a:r>
            <a:endParaRPr lang="en-GB" sz="1050" dirty="0"/>
          </a:p>
        </p:txBody>
      </p:sp>
      <p:sp>
        <p:nvSpPr>
          <p:cNvPr id="29" name="Shape 24"/>
          <p:cNvSpPr/>
          <p:nvPr/>
        </p:nvSpPr>
        <p:spPr>
          <a:xfrm>
            <a:off x="1828800" y="4773168"/>
            <a:ext cx="146304" cy="146304"/>
          </a:xfrm>
          <a:prstGeom prst="ellipse">
            <a:avLst/>
          </a:prstGeom>
          <a:solidFill>
            <a:schemeClr val="accent1"/>
          </a:solidFill>
          <a:ln/>
        </p:spPr>
      </p:sp>
      <p:sp>
        <p:nvSpPr>
          <p:cNvPr id="30" name="Text 25"/>
          <p:cNvSpPr txBox="1"/>
          <p:nvPr/>
        </p:nvSpPr>
        <p:spPr>
          <a:xfrm>
            <a:off x="1828800" y="4983480"/>
            <a:ext cx="1188720" cy="237744"/>
          </a:xfrm>
          <a:prstGeom prst="rect">
            <a:avLst/>
          </a:prstGeom>
          <a:noFill/>
          <a:ln/>
        </p:spPr>
        <p:txBody>
          <a:bodyPr wrap="square" lIns="0" tIns="0" rIns="0" bIns="0" rtlCol="0" anchor="t"/>
          <a:lstStyle/>
          <a:p>
            <a:pPr indent="0" marL="0">
              <a:buNone/>
            </a:pPr>
            <a:r>
              <a:rPr lang="en-GB" altLang="en-US" sz="1300" b="1" dirty="0">
                <a:solidFill>
                  <a:schemeClr val="tx1"/>
                </a:solidFill>
              </a:rPr>
              <a:t>2023</a:t>
            </a:r>
            <a:endParaRPr lang="en-GB" sz="1300" dirty="0"/>
          </a:p>
        </p:txBody>
      </p:sp>
      <p:sp>
        <p:nvSpPr>
          <p:cNvPr id="31" name="Text 26"/>
          <p:cNvSpPr txBox="1"/>
          <p:nvPr/>
        </p:nvSpPr>
        <p:spPr>
          <a:xfrm>
            <a:off x="1828800" y="5248656"/>
            <a:ext cx="1188720" cy="640080"/>
          </a:xfrm>
          <a:prstGeom prst="rect">
            <a:avLst/>
          </a:prstGeom>
          <a:noFill/>
          <a:ln/>
        </p:spPr>
        <p:txBody>
          <a:bodyPr wrap="square" lIns="0" tIns="0" rIns="0" bIns="0" rtlCol="0" anchor="t"/>
          <a:lstStyle/>
          <a:p>
            <a:pPr indent="0" marL="0">
              <a:buNone/>
            </a:pPr>
            <a:r>
              <a:rPr lang="en-GB" altLang="en-US" sz="1050" dirty="0">
                <a:solidFill>
                  <a:schemeClr val="tx2"/>
                </a:solidFill>
              </a:rPr>
              <a:t>2nd edition: Aya Nakamura, Ayra Starr</a:t>
            </a:r>
            <a:endParaRPr lang="en-GB" sz="1050" dirty="0"/>
          </a:p>
        </p:txBody>
      </p:sp>
      <p:sp>
        <p:nvSpPr>
          <p:cNvPr id="32" name="Shape 27"/>
          <p:cNvSpPr/>
          <p:nvPr/>
        </p:nvSpPr>
        <p:spPr>
          <a:xfrm>
            <a:off x="3108960" y="4773168"/>
            <a:ext cx="146304" cy="146304"/>
          </a:xfrm>
          <a:prstGeom prst="ellipse">
            <a:avLst/>
          </a:prstGeom>
          <a:solidFill>
            <a:schemeClr val="accent1"/>
          </a:solidFill>
          <a:ln/>
        </p:spPr>
      </p:sp>
      <p:sp>
        <p:nvSpPr>
          <p:cNvPr id="33" name="Text 28"/>
          <p:cNvSpPr txBox="1"/>
          <p:nvPr/>
        </p:nvSpPr>
        <p:spPr>
          <a:xfrm>
            <a:off x="3108960" y="4983480"/>
            <a:ext cx="1188720" cy="237744"/>
          </a:xfrm>
          <a:prstGeom prst="rect">
            <a:avLst/>
          </a:prstGeom>
          <a:noFill/>
          <a:ln/>
        </p:spPr>
        <p:txBody>
          <a:bodyPr wrap="square" lIns="0" tIns="0" rIns="0" bIns="0" rtlCol="0" anchor="t"/>
          <a:lstStyle/>
          <a:p>
            <a:pPr indent="0" marL="0">
              <a:buNone/>
            </a:pPr>
            <a:r>
              <a:rPr lang="en-GB" altLang="en-US" sz="1300" b="1" dirty="0">
                <a:solidFill>
                  <a:schemeClr val="tx1"/>
                </a:solidFill>
              </a:rPr>
              <a:t>2024</a:t>
            </a:r>
            <a:endParaRPr lang="en-GB" sz="1300" dirty="0"/>
          </a:p>
        </p:txBody>
      </p:sp>
      <p:sp>
        <p:nvSpPr>
          <p:cNvPr id="34" name="Text 29"/>
          <p:cNvSpPr txBox="1"/>
          <p:nvPr/>
        </p:nvSpPr>
        <p:spPr>
          <a:xfrm>
            <a:off x="3108960" y="5248656"/>
            <a:ext cx="1188720" cy="640080"/>
          </a:xfrm>
          <a:prstGeom prst="rect">
            <a:avLst/>
          </a:prstGeom>
          <a:noFill/>
          <a:ln/>
        </p:spPr>
        <p:txBody>
          <a:bodyPr wrap="square" lIns="0" tIns="0" rIns="0" bIns="0" rtlCol="0" anchor="t"/>
          <a:lstStyle/>
          <a:p>
            <a:pPr indent="0" marL="0">
              <a:buNone/>
            </a:pPr>
            <a:r>
              <a:rPr lang="en-GB" altLang="en-US" sz="1050" dirty="0">
                <a:solidFill>
                  <a:schemeClr val="tx2"/>
                </a:solidFill>
              </a:rPr>
              <a:t>3rd edition: Dadju and Tayc</a:t>
            </a:r>
            <a:endParaRPr lang="en-GB" sz="1050" dirty="0"/>
          </a:p>
        </p:txBody>
      </p:sp>
      <p:sp>
        <p:nvSpPr>
          <p:cNvPr id="35" name="Shape 30"/>
          <p:cNvSpPr/>
          <p:nvPr/>
        </p:nvSpPr>
        <p:spPr>
          <a:xfrm>
            <a:off x="4389120" y="4773168"/>
            <a:ext cx="146304" cy="146304"/>
          </a:xfrm>
          <a:prstGeom prst="ellipse">
            <a:avLst/>
          </a:prstGeom>
          <a:solidFill>
            <a:schemeClr val="accent1"/>
          </a:solidFill>
          <a:ln/>
        </p:spPr>
      </p:sp>
      <p:sp>
        <p:nvSpPr>
          <p:cNvPr id="36" name="Text 31"/>
          <p:cNvSpPr txBox="1"/>
          <p:nvPr/>
        </p:nvSpPr>
        <p:spPr>
          <a:xfrm>
            <a:off x="4389120" y="4983480"/>
            <a:ext cx="1188720" cy="237744"/>
          </a:xfrm>
          <a:prstGeom prst="rect">
            <a:avLst/>
          </a:prstGeom>
          <a:noFill/>
          <a:ln/>
        </p:spPr>
        <p:txBody>
          <a:bodyPr wrap="square" lIns="0" tIns="0" rIns="0" bIns="0" rtlCol="0" anchor="t"/>
          <a:lstStyle/>
          <a:p>
            <a:pPr indent="0" marL="0">
              <a:buNone/>
            </a:pPr>
            <a:r>
              <a:rPr lang="en-GB" altLang="en-US" sz="1300" b="1" dirty="0">
                <a:solidFill>
                  <a:schemeClr val="tx1"/>
                </a:solidFill>
              </a:rPr>
              <a:t>2025</a:t>
            </a:r>
            <a:endParaRPr lang="en-GB" sz="1300" dirty="0"/>
          </a:p>
        </p:txBody>
      </p:sp>
      <p:sp>
        <p:nvSpPr>
          <p:cNvPr id="37" name="Text 32"/>
          <p:cNvSpPr txBox="1"/>
          <p:nvPr/>
        </p:nvSpPr>
        <p:spPr>
          <a:xfrm>
            <a:off x="4389120" y="5248656"/>
            <a:ext cx="1188720" cy="640080"/>
          </a:xfrm>
          <a:prstGeom prst="rect">
            <a:avLst/>
          </a:prstGeom>
          <a:noFill/>
          <a:ln/>
        </p:spPr>
        <p:txBody>
          <a:bodyPr wrap="square" lIns="0" tIns="0" rIns="0" bIns="0" rtlCol="0" anchor="t"/>
          <a:lstStyle/>
          <a:p>
            <a:pPr indent="0" marL="0">
              <a:buNone/>
            </a:pPr>
            <a:r>
              <a:rPr lang="en-GB" altLang="en-US" sz="1050" dirty="0">
                <a:solidFill>
                  <a:schemeClr val="tx2"/>
                </a:solidFill>
              </a:rPr>
              <a:t>4th edition: Gims, Asake. On France 24</a:t>
            </a:r>
            <a:endParaRPr lang="en-GB" sz="1050" dirty="0"/>
          </a:p>
        </p:txBody>
      </p:sp>
      <p:sp>
        <p:nvSpPr>
          <p:cNvPr id="38" name="Shape 33"/>
          <p:cNvSpPr/>
          <p:nvPr/>
        </p:nvSpPr>
        <p:spPr>
          <a:xfrm>
            <a:off x="5669280" y="4773168"/>
            <a:ext cx="146304" cy="146304"/>
          </a:xfrm>
          <a:prstGeom prst="ellipse">
            <a:avLst/>
          </a:prstGeom>
          <a:solidFill>
            <a:schemeClr val="accent2"/>
          </a:solidFill>
          <a:ln/>
        </p:spPr>
      </p:sp>
      <p:sp>
        <p:nvSpPr>
          <p:cNvPr id="39" name="Text 34"/>
          <p:cNvSpPr txBox="1"/>
          <p:nvPr/>
        </p:nvSpPr>
        <p:spPr>
          <a:xfrm>
            <a:off x="5669280" y="4983480"/>
            <a:ext cx="1188720" cy="237744"/>
          </a:xfrm>
          <a:prstGeom prst="rect">
            <a:avLst/>
          </a:prstGeom>
          <a:noFill/>
          <a:ln/>
        </p:spPr>
        <p:txBody>
          <a:bodyPr wrap="square" lIns="0" tIns="0" rIns="0" bIns="0" rtlCol="0" anchor="t"/>
          <a:lstStyle/>
          <a:p>
            <a:pPr indent="0" marL="0">
              <a:buNone/>
            </a:pPr>
            <a:r>
              <a:rPr lang="en-GB" altLang="en-US" sz="1300" b="1" dirty="0">
                <a:solidFill>
                  <a:schemeClr val="accent3"/>
                </a:solidFill>
              </a:rPr>
              <a:t>2026</a:t>
            </a:r>
            <a:endParaRPr lang="en-GB" sz="1300" dirty="0"/>
          </a:p>
        </p:txBody>
      </p:sp>
      <p:sp>
        <p:nvSpPr>
          <p:cNvPr id="40" name="Text 35"/>
          <p:cNvSpPr txBox="1"/>
          <p:nvPr/>
        </p:nvSpPr>
        <p:spPr>
          <a:xfrm>
            <a:off x="5669280" y="5248656"/>
            <a:ext cx="1188720" cy="640080"/>
          </a:xfrm>
          <a:prstGeom prst="rect">
            <a:avLst/>
          </a:prstGeom>
          <a:noFill/>
          <a:ln/>
        </p:spPr>
        <p:txBody>
          <a:bodyPr wrap="square" lIns="0" tIns="0" rIns="0" bIns="0" rtlCol="0" anchor="t"/>
          <a:lstStyle/>
          <a:p>
            <a:pPr indent="0" marL="0">
              <a:buNone/>
            </a:pPr>
            <a:r>
              <a:rPr lang="en-GB" altLang="en-US" sz="1050" dirty="0">
                <a:solidFill>
                  <a:schemeClr val="tx2"/>
                </a:solidFill>
              </a:rPr>
              <a:t>5th edition: Davido headlines</a:t>
            </a:r>
            <a:endParaRPr lang="en-GB" sz="1050" dirty="0"/>
          </a:p>
        </p:txBody>
      </p:sp>
      <p:sp>
        <p:nvSpPr>
          <p:cNvPr id="41" name="Text 36"/>
          <p:cNvSpPr txBox="1"/>
          <p:nvPr/>
        </p:nvSpPr>
        <p:spPr>
          <a:xfrm>
            <a:off x="548640" y="5989320"/>
            <a:ext cx="6400800" cy="274320"/>
          </a:xfrm>
          <a:prstGeom prst="rect">
            <a:avLst/>
          </a:prstGeom>
          <a:noFill/>
          <a:ln/>
        </p:spPr>
        <p:txBody>
          <a:bodyPr wrap="square" lIns="0" tIns="0" rIns="0" bIns="0" rtlCol="0" anchor="t"/>
          <a:lstStyle/>
          <a:p>
            <a:pPr indent="0" marL="0">
              <a:buNone/>
            </a:pPr>
            <a:r>
              <a:rPr lang="en-GB" altLang="en-US" sz="950" i="1" dirty="0">
                <a:solidFill>
                  <a:schemeClr val="tx2"/>
                </a:solidFill>
              </a:rPr>
              <a:t>Sources: Africa Radio, Music In Africa, Abidjan.net, Liferadio, France 24, Pulse, allAfrica. 20,000+ is the organisers’ expected figure.</a:t>
            </a:r>
            <a:endParaRPr lang="en-GB" sz="950" dirty="0"/>
          </a:p>
        </p:txBody>
      </p:sp>
      <p:sp>
        <p:nvSpPr>
          <p:cNvPr id="42" name="Shape 37"/>
          <p:cNvSpPr/>
          <p:nvPr/>
        </p:nvSpPr>
        <p:spPr>
          <a:xfrm>
            <a:off x="7178040" y="1783080"/>
            <a:ext cx="4465015" cy="4251960"/>
          </a:xfrm>
          <a:prstGeom prst="roundRect">
            <a:avLst>
              <a:gd name="adj" fmla="val 2151"/>
            </a:avLst>
          </a:prstGeom>
          <a:solidFill>
            <a:schemeClr val="tx1"/>
          </a:solidFill>
          <a:ln/>
        </p:spPr>
      </p:sp>
      <p:sp>
        <p:nvSpPr>
          <p:cNvPr id="43" name="Text 38"/>
          <p:cNvSpPr txBox="1"/>
          <p:nvPr/>
        </p:nvSpPr>
        <p:spPr>
          <a:xfrm>
            <a:off x="7452360" y="2029968"/>
            <a:ext cx="3931920"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WHAT THE 5TH EDITION NEEDS</a:t>
            </a:r>
            <a:endParaRPr lang="en-GB" sz="1100" dirty="0"/>
          </a:p>
        </p:txBody>
      </p:sp>
      <p:pic>
        <p:nvPicPr>
          <p:cNvPr id="44" name="Image 2" descr="preencoded.png">    </p:cNvPr>
          <p:cNvPicPr>
            <a:picLocks noChangeAspect="1"/>
          </p:cNvPicPr>
          <p:nvPr/>
        </p:nvPicPr>
        <p:blipFill>
          <a:blip r:embed="rId3"/>
          <a:stretch>
            <a:fillRect/>
          </a:stretch>
        </p:blipFill>
        <p:spPr>
          <a:xfrm>
            <a:off x="7452360" y="2532888"/>
            <a:ext cx="256032" cy="256032"/>
          </a:xfrm>
          <a:prstGeom prst="rect">
            <a:avLst/>
          </a:prstGeom>
        </p:spPr>
      </p:pic>
      <p:sp>
        <p:nvSpPr>
          <p:cNvPr id="45" name="Text 39"/>
          <p:cNvSpPr txBox="1"/>
          <p:nvPr/>
        </p:nvSpPr>
        <p:spPr>
          <a:xfrm>
            <a:off x="7863840" y="2514600"/>
            <a:ext cx="3520440" cy="457200"/>
          </a:xfrm>
          <a:prstGeom prst="rect">
            <a:avLst/>
          </a:prstGeom>
          <a:noFill/>
          <a:ln/>
        </p:spPr>
        <p:txBody>
          <a:bodyPr wrap="square" lIns="0" tIns="0" rIns="0" bIns="0" rtlCol="0" anchor="t"/>
          <a:lstStyle/>
          <a:p>
            <a:pPr indent="0" marL="0">
              <a:buNone/>
            </a:pPr>
            <a:r>
              <a:rPr lang="en-GB" altLang="en-US" sz="1400" dirty="0">
                <a:solidFill>
                  <a:schemeClr val="bg1"/>
                </a:solidFill>
              </a:rPr>
              <a:t>Creators chosen for the audiences the festival wants most</a:t>
            </a:r>
            <a:endParaRPr lang="en-GB" sz="1400" dirty="0"/>
          </a:p>
        </p:txBody>
      </p:sp>
      <p:pic>
        <p:nvPicPr>
          <p:cNvPr id="46" name="Image 3" descr="preencoded.png">    </p:cNvPr>
          <p:cNvPicPr>
            <a:picLocks noChangeAspect="1"/>
          </p:cNvPicPr>
          <p:nvPr/>
        </p:nvPicPr>
        <p:blipFill>
          <a:blip r:embed="rId4"/>
          <a:stretch>
            <a:fillRect/>
          </a:stretch>
        </p:blipFill>
        <p:spPr>
          <a:xfrm>
            <a:off x="7452360" y="3246120"/>
            <a:ext cx="256032" cy="256032"/>
          </a:xfrm>
          <a:prstGeom prst="rect">
            <a:avLst/>
          </a:prstGeom>
        </p:spPr>
      </p:pic>
      <p:sp>
        <p:nvSpPr>
          <p:cNvPr id="47" name="Text 40"/>
          <p:cNvSpPr txBox="1"/>
          <p:nvPr/>
        </p:nvSpPr>
        <p:spPr>
          <a:xfrm>
            <a:off x="7863840" y="3227832"/>
            <a:ext cx="3520440" cy="457200"/>
          </a:xfrm>
          <a:prstGeom prst="rect">
            <a:avLst/>
          </a:prstGeom>
          <a:noFill/>
          <a:ln/>
        </p:spPr>
        <p:txBody>
          <a:bodyPr wrap="square" lIns="0" tIns="0" rIns="0" bIns="0" rtlCol="0" anchor="t"/>
          <a:lstStyle/>
          <a:p>
            <a:pPr indent="0" marL="0">
              <a:buNone/>
            </a:pPr>
            <a:r>
              <a:rPr lang="en-GB" altLang="en-US" sz="1400" dirty="0">
                <a:solidFill>
                  <a:schemeClr val="bg1"/>
                </a:solidFill>
              </a:rPr>
              <a:t>Set deliverables and key messages for every creator</a:t>
            </a:r>
            <a:endParaRPr lang="en-GB" sz="1400" dirty="0"/>
          </a:p>
        </p:txBody>
      </p:sp>
      <p:pic>
        <p:nvPicPr>
          <p:cNvPr id="48" name="Image 4" descr="preencoded.png">    </p:cNvPr>
          <p:cNvPicPr>
            <a:picLocks noChangeAspect="1"/>
          </p:cNvPicPr>
          <p:nvPr/>
        </p:nvPicPr>
        <p:blipFill>
          <a:blip r:embed="rId5"/>
          <a:stretch>
            <a:fillRect/>
          </a:stretch>
        </p:blipFill>
        <p:spPr>
          <a:xfrm>
            <a:off x="7452360" y="3959352"/>
            <a:ext cx="256032" cy="256032"/>
          </a:xfrm>
          <a:prstGeom prst="rect">
            <a:avLst/>
          </a:prstGeom>
        </p:spPr>
      </p:pic>
      <p:sp>
        <p:nvSpPr>
          <p:cNvPr id="49" name="Text 41"/>
          <p:cNvSpPr txBox="1"/>
          <p:nvPr/>
        </p:nvSpPr>
        <p:spPr>
          <a:xfrm>
            <a:off x="7863840" y="3941064"/>
            <a:ext cx="3520440" cy="457200"/>
          </a:xfrm>
          <a:prstGeom prst="rect">
            <a:avLst/>
          </a:prstGeom>
          <a:noFill/>
          <a:ln/>
        </p:spPr>
        <p:txBody>
          <a:bodyPr wrap="square" lIns="0" tIns="0" rIns="0" bIns="0" rtlCol="0" anchor="t"/>
          <a:lstStyle/>
          <a:p>
            <a:pPr indent="0" marL="0">
              <a:buNone/>
            </a:pPr>
            <a:r>
              <a:rPr lang="en-GB" altLang="en-US" sz="1400" dirty="0">
                <a:solidFill>
                  <a:schemeClr val="bg1"/>
                </a:solidFill>
              </a:rPr>
              <a:t>A clear view of what each creator posts, and when</a:t>
            </a:r>
            <a:endParaRPr lang="en-GB" sz="1400" dirty="0"/>
          </a:p>
        </p:txBody>
      </p:sp>
      <p:pic>
        <p:nvPicPr>
          <p:cNvPr id="50" name="Image 5" descr="preencoded.png">    </p:cNvPr>
          <p:cNvPicPr>
            <a:picLocks noChangeAspect="1"/>
          </p:cNvPicPr>
          <p:nvPr/>
        </p:nvPicPr>
        <p:blipFill>
          <a:blip r:embed="rId6"/>
          <a:stretch>
            <a:fillRect/>
          </a:stretch>
        </p:blipFill>
        <p:spPr>
          <a:xfrm>
            <a:off x="7452360" y="4672584"/>
            <a:ext cx="256032" cy="256032"/>
          </a:xfrm>
          <a:prstGeom prst="rect">
            <a:avLst/>
          </a:prstGeom>
        </p:spPr>
      </p:pic>
      <p:sp>
        <p:nvSpPr>
          <p:cNvPr id="51" name="Text 42"/>
          <p:cNvSpPr txBox="1"/>
          <p:nvPr/>
        </p:nvSpPr>
        <p:spPr>
          <a:xfrm>
            <a:off x="7863840" y="4654296"/>
            <a:ext cx="3520440" cy="457200"/>
          </a:xfrm>
          <a:prstGeom prst="rect">
            <a:avLst/>
          </a:prstGeom>
          <a:noFill/>
          <a:ln/>
        </p:spPr>
        <p:txBody>
          <a:bodyPr wrap="square" lIns="0" tIns="0" rIns="0" bIns="0" rtlCol="0" anchor="t"/>
          <a:lstStyle/>
          <a:p>
            <a:pPr indent="0" marL="0">
              <a:buNone/>
            </a:pPr>
            <a:r>
              <a:rPr lang="en-GB" altLang="en-US" sz="1400" dirty="0">
                <a:solidFill>
                  <a:schemeClr val="bg1"/>
                </a:solidFill>
              </a:rPr>
              <a:t>Sponsor visibility the festival can prove, partner by partner</a:t>
            </a:r>
            <a:endParaRPr lang="en-GB" sz="1400" dirty="0"/>
          </a:p>
        </p:txBody>
      </p:sp>
      <p:pic>
        <p:nvPicPr>
          <p:cNvPr id="52" name="Image 6" descr="preencoded.png">    </p:cNvPr>
          <p:cNvPicPr>
            <a:picLocks noChangeAspect="1"/>
          </p:cNvPicPr>
          <p:nvPr/>
        </p:nvPicPr>
        <p:blipFill>
          <a:blip r:embed="rId7"/>
          <a:stretch>
            <a:fillRect/>
          </a:stretch>
        </p:blipFill>
        <p:spPr>
          <a:xfrm>
            <a:off x="7452360" y="5385816"/>
            <a:ext cx="256032" cy="256032"/>
          </a:xfrm>
          <a:prstGeom prst="rect">
            <a:avLst/>
          </a:prstGeom>
        </p:spPr>
      </p:pic>
      <p:sp>
        <p:nvSpPr>
          <p:cNvPr id="53" name="Text 43"/>
          <p:cNvSpPr txBox="1"/>
          <p:nvPr/>
        </p:nvSpPr>
        <p:spPr>
          <a:xfrm>
            <a:off x="7863840" y="5367528"/>
            <a:ext cx="3520440" cy="457200"/>
          </a:xfrm>
          <a:prstGeom prst="rect">
            <a:avLst/>
          </a:prstGeom>
          <a:noFill/>
          <a:ln/>
        </p:spPr>
        <p:txBody>
          <a:bodyPr wrap="square" lIns="0" tIns="0" rIns="0" bIns="0" rtlCol="0" anchor="t"/>
          <a:lstStyle/>
          <a:p>
            <a:pPr indent="0" marL="0">
              <a:buNone/>
            </a:pPr>
            <a:r>
              <a:rPr lang="en-GB" altLang="en-US" sz="1400" dirty="0">
                <a:solidFill>
                  <a:schemeClr val="bg1"/>
                </a:solidFill>
              </a:rPr>
              <a:t>Festival numbers: views, audiences, the diaspora, tickets</a:t>
            </a:r>
            <a:endParaRPr lang="en-GB" sz="14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en-GB" altLang="en-US" sz="1000" dirty="0">
                <a:solidFill>
                  <a:schemeClr val="accent4"/>
                </a:solidFill>
              </a:rPr>
              <a:t>AToure Management &amp; Consulting</a:t>
            </a:r>
            <a:endParaRPr lang="en-GB"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1"/>
                </a:solidFill>
              </a:rPr>
              <a:t>WHY NOW</a:t>
            </a:r>
            <a:endParaRPr lang="en-GB"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bg1"/>
                </a:solidFill>
              </a:rPr>
              <a:t>Set the foundation in the anniversary year</a:t>
            </a:r>
            <a:endParaRPr lang="en-GB"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1"/>
                </a:solidFill>
              </a:rPr>
              <a:t>×</a:t>
            </a:r>
            <a:endParaRPr lang="en-GB"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sp>
        <p:nvSpPr>
          <p:cNvPr id="10" name="Text 4"/>
          <p:cNvSpPr txBox="1"/>
          <p:nvPr/>
        </p:nvSpPr>
        <p:spPr>
          <a:xfrm>
            <a:off x="548640" y="1783080"/>
            <a:ext cx="6903720" cy="685800"/>
          </a:xfrm>
          <a:prstGeom prst="rect">
            <a:avLst/>
          </a:prstGeom>
          <a:noFill/>
          <a:ln/>
        </p:spPr>
        <p:txBody>
          <a:bodyPr wrap="square" lIns="0" tIns="0" rIns="0" bIns="0" rtlCol="0" anchor="t"/>
          <a:lstStyle/>
          <a:p>
            <a:pPr indent="0" marL="0">
              <a:lnSpc>
                <a:spcPct val="110000"/>
              </a:lnSpc>
              <a:buNone/>
            </a:pPr>
            <a:r>
              <a:rPr lang="en-GB" altLang="en-US" sz="1500" dirty="0">
                <a:solidFill>
                  <a:schemeClr val="accent5"/>
                </a:solidFill>
              </a:rPr>
              <a:t>Five editions in, with Davido headlining, sponsors will ask what the Mother Africa audience is worth. Every number the festival produces now builds that case.</a:t>
            </a:r>
            <a:endParaRPr lang="en-GB" sz="1500" dirty="0"/>
          </a:p>
        </p:txBody>
      </p:sp>
      <p:sp>
        <p:nvSpPr>
          <p:cNvPr id="11" name="Shape 5"/>
          <p:cNvSpPr/>
          <p:nvPr/>
        </p:nvSpPr>
        <p:spPr>
          <a:xfrm>
            <a:off x="548640" y="2651760"/>
            <a:ext cx="2179320" cy="1188720"/>
          </a:xfrm>
          <a:prstGeom prst="rect">
            <a:avLst/>
          </a:prstGeom>
          <a:solidFill>
            <a:schemeClr val="accent6"/>
          </a:solidFill>
          <a:ln/>
        </p:spPr>
      </p:sp>
      <p:sp>
        <p:nvSpPr>
          <p:cNvPr id="12" name="Shape 6"/>
          <p:cNvSpPr/>
          <p:nvPr/>
        </p:nvSpPr>
        <p:spPr>
          <a:xfrm>
            <a:off x="548640" y="2651760"/>
            <a:ext cx="2179320" cy="45720"/>
          </a:xfrm>
          <a:prstGeom prst="rect">
            <a:avLst/>
          </a:prstGeom>
          <a:solidFill>
            <a:schemeClr val="accent1"/>
          </a:solidFill>
          <a:ln/>
        </p:spPr>
      </p:sp>
      <p:sp>
        <p:nvSpPr>
          <p:cNvPr id="13" name="Text 7"/>
          <p:cNvSpPr txBox="1"/>
          <p:nvPr/>
        </p:nvSpPr>
        <p:spPr>
          <a:xfrm>
            <a:off x="731520" y="2816352"/>
            <a:ext cx="1813560" cy="457200"/>
          </a:xfrm>
          <a:prstGeom prst="rect">
            <a:avLst/>
          </a:prstGeom>
          <a:noFill/>
          <a:ln/>
        </p:spPr>
        <p:txBody>
          <a:bodyPr wrap="square" lIns="0" tIns="0" rIns="0" bIns="0" rtlCol="0" anchor="t"/>
          <a:lstStyle/>
          <a:p>
            <a:pPr indent="0" marL="0">
              <a:buNone/>
            </a:pPr>
            <a:r>
              <a:rPr lang="en-GB" altLang="en-US" sz="2800" b="1" dirty="0">
                <a:solidFill>
                  <a:schemeClr val="accent4"/>
                </a:solidFill>
              </a:rPr>
              <a:t>5th</a:t>
            </a:r>
            <a:endParaRPr lang="en-GB" sz="2800" dirty="0"/>
          </a:p>
        </p:txBody>
      </p:sp>
      <p:sp>
        <p:nvSpPr>
          <p:cNvPr id="14" name="Text 8"/>
          <p:cNvSpPr txBox="1"/>
          <p:nvPr/>
        </p:nvSpPr>
        <p:spPr>
          <a:xfrm>
            <a:off x="731520" y="3310128"/>
            <a:ext cx="1859280" cy="457200"/>
          </a:xfrm>
          <a:prstGeom prst="rect">
            <a:avLst/>
          </a:prstGeom>
          <a:noFill/>
          <a:ln/>
        </p:spPr>
        <p:txBody>
          <a:bodyPr wrap="square" lIns="0" tIns="0" rIns="0" bIns="0" rtlCol="0" anchor="t"/>
          <a:lstStyle/>
          <a:p>
            <a:pPr indent="0" marL="0">
              <a:buNone/>
            </a:pPr>
            <a:r>
              <a:rPr lang="en-GB" altLang="en-US" sz="950" b="1" spc="100" kern="0" dirty="0">
                <a:solidFill>
                  <a:schemeClr val="accent5"/>
                </a:solidFill>
              </a:rPr>
              <a:t>ANNIVERSARY EDITION</a:t>
            </a:r>
            <a:endParaRPr lang="en-GB" sz="950" dirty="0"/>
          </a:p>
        </p:txBody>
      </p:sp>
      <p:sp>
        <p:nvSpPr>
          <p:cNvPr id="15" name="Shape 9"/>
          <p:cNvSpPr/>
          <p:nvPr/>
        </p:nvSpPr>
        <p:spPr>
          <a:xfrm>
            <a:off x="2910840" y="2651760"/>
            <a:ext cx="2179320" cy="1188720"/>
          </a:xfrm>
          <a:prstGeom prst="rect">
            <a:avLst/>
          </a:prstGeom>
          <a:solidFill>
            <a:schemeClr val="accent6"/>
          </a:solidFill>
          <a:ln/>
        </p:spPr>
      </p:sp>
      <p:sp>
        <p:nvSpPr>
          <p:cNvPr id="16" name="Shape 10"/>
          <p:cNvSpPr/>
          <p:nvPr/>
        </p:nvSpPr>
        <p:spPr>
          <a:xfrm>
            <a:off x="2910840" y="2651760"/>
            <a:ext cx="2179320" cy="45720"/>
          </a:xfrm>
          <a:prstGeom prst="rect">
            <a:avLst/>
          </a:prstGeom>
          <a:solidFill>
            <a:schemeClr val="accent1"/>
          </a:solidFill>
          <a:ln/>
        </p:spPr>
      </p:sp>
      <p:sp>
        <p:nvSpPr>
          <p:cNvPr id="17" name="Text 11"/>
          <p:cNvSpPr txBox="1"/>
          <p:nvPr/>
        </p:nvSpPr>
        <p:spPr>
          <a:xfrm>
            <a:off x="3093720" y="2816352"/>
            <a:ext cx="1813560" cy="457200"/>
          </a:xfrm>
          <a:prstGeom prst="rect">
            <a:avLst/>
          </a:prstGeom>
          <a:noFill/>
          <a:ln/>
        </p:spPr>
        <p:txBody>
          <a:bodyPr wrap="square" lIns="0" tIns="0" rIns="0" bIns="0" rtlCol="0" anchor="t"/>
          <a:lstStyle/>
          <a:p>
            <a:pPr indent="0" marL="0">
              <a:buNone/>
            </a:pPr>
            <a:r>
              <a:rPr lang="en-GB" altLang="en-US" sz="2800" b="1" dirty="0">
                <a:solidFill>
                  <a:schemeClr val="accent4"/>
                </a:solidFill>
              </a:rPr>
              <a:t>2 nights</a:t>
            </a:r>
            <a:endParaRPr lang="en-GB" sz="2800" dirty="0"/>
          </a:p>
        </p:txBody>
      </p:sp>
      <p:sp>
        <p:nvSpPr>
          <p:cNvPr id="18" name="Text 12"/>
          <p:cNvSpPr txBox="1"/>
          <p:nvPr/>
        </p:nvSpPr>
        <p:spPr>
          <a:xfrm>
            <a:off x="3093720" y="3310128"/>
            <a:ext cx="1859280" cy="457200"/>
          </a:xfrm>
          <a:prstGeom prst="rect">
            <a:avLst/>
          </a:prstGeom>
          <a:noFill/>
          <a:ln/>
        </p:spPr>
        <p:txBody>
          <a:bodyPr wrap="square" lIns="0" tIns="0" rIns="0" bIns="0" rtlCol="0" anchor="t"/>
          <a:lstStyle/>
          <a:p>
            <a:pPr indent="0" marL="0">
              <a:buNone/>
            </a:pPr>
            <a:r>
              <a:rPr lang="en-GB" altLang="en-US" sz="950" b="1" spc="100" kern="0" dirty="0">
                <a:solidFill>
                  <a:schemeClr val="accent5"/>
                </a:solidFill>
              </a:rPr>
              <a:t>27 AND 28 DECEMBER, MARCORY ZONE 4</a:t>
            </a:r>
            <a:endParaRPr lang="en-GB" sz="950" dirty="0"/>
          </a:p>
        </p:txBody>
      </p:sp>
      <p:sp>
        <p:nvSpPr>
          <p:cNvPr id="19" name="Shape 13"/>
          <p:cNvSpPr/>
          <p:nvPr/>
        </p:nvSpPr>
        <p:spPr>
          <a:xfrm>
            <a:off x="5273040" y="2651760"/>
            <a:ext cx="2179320" cy="1188720"/>
          </a:xfrm>
          <a:prstGeom prst="rect">
            <a:avLst/>
          </a:prstGeom>
          <a:solidFill>
            <a:schemeClr val="accent6"/>
          </a:solidFill>
          <a:ln/>
        </p:spPr>
      </p:sp>
      <p:sp>
        <p:nvSpPr>
          <p:cNvPr id="20" name="Shape 14"/>
          <p:cNvSpPr/>
          <p:nvPr/>
        </p:nvSpPr>
        <p:spPr>
          <a:xfrm>
            <a:off x="5273040" y="2651760"/>
            <a:ext cx="2179320" cy="45720"/>
          </a:xfrm>
          <a:prstGeom prst="rect">
            <a:avLst/>
          </a:prstGeom>
          <a:solidFill>
            <a:schemeClr val="accent2"/>
          </a:solidFill>
          <a:ln/>
        </p:spPr>
      </p:sp>
      <p:sp>
        <p:nvSpPr>
          <p:cNvPr id="21" name="Text 15"/>
          <p:cNvSpPr txBox="1"/>
          <p:nvPr/>
        </p:nvSpPr>
        <p:spPr>
          <a:xfrm>
            <a:off x="5455920" y="2816352"/>
            <a:ext cx="1813560" cy="457200"/>
          </a:xfrm>
          <a:prstGeom prst="rect">
            <a:avLst/>
          </a:prstGeom>
          <a:noFill/>
          <a:ln/>
        </p:spPr>
        <p:txBody>
          <a:bodyPr wrap="square" lIns="0" tIns="0" rIns="0" bIns="0" rtlCol="0" anchor="t"/>
          <a:lstStyle/>
          <a:p>
            <a:pPr indent="0" marL="0">
              <a:buNone/>
            </a:pPr>
            <a:r>
              <a:rPr lang="en-GB" altLang="en-US" sz="2800" b="1" dirty="0">
                <a:solidFill>
                  <a:schemeClr val="accent2"/>
                </a:solidFill>
              </a:rPr>
              <a:t>Davido</a:t>
            </a:r>
            <a:endParaRPr lang="en-GB" sz="2800" dirty="0"/>
          </a:p>
        </p:txBody>
      </p:sp>
      <p:sp>
        <p:nvSpPr>
          <p:cNvPr id="22" name="Text 16"/>
          <p:cNvSpPr txBox="1"/>
          <p:nvPr/>
        </p:nvSpPr>
        <p:spPr>
          <a:xfrm>
            <a:off x="5455920" y="3310128"/>
            <a:ext cx="1859280" cy="457200"/>
          </a:xfrm>
          <a:prstGeom prst="rect">
            <a:avLst/>
          </a:prstGeom>
          <a:noFill/>
          <a:ln/>
        </p:spPr>
        <p:txBody>
          <a:bodyPr wrap="square" lIns="0" tIns="0" rIns="0" bIns="0" rtlCol="0" anchor="t"/>
          <a:lstStyle/>
          <a:p>
            <a:pPr indent="0" marL="0">
              <a:buNone/>
            </a:pPr>
            <a:r>
              <a:rPr lang="en-GB" altLang="en-US" sz="950" b="1" spc="100" kern="0" dirty="0">
                <a:solidFill>
                  <a:schemeClr val="accent5"/>
                </a:solidFill>
              </a:rPr>
              <a:t>HEADLINER, FOLLOWED ACROSS AFRICA AND THE DIASPORA</a:t>
            </a:r>
            <a:endParaRPr lang="en-GB" sz="950" dirty="0"/>
          </a:p>
        </p:txBody>
      </p:sp>
      <p:sp>
        <p:nvSpPr>
          <p:cNvPr id="23" name="Shape 17"/>
          <p:cNvSpPr/>
          <p:nvPr/>
        </p:nvSpPr>
        <p:spPr>
          <a:xfrm>
            <a:off x="548640" y="4069080"/>
            <a:ext cx="6903720" cy="1737360"/>
          </a:xfrm>
          <a:prstGeom prst="roundRect">
            <a:avLst>
              <a:gd name="adj" fmla="val 4211"/>
            </a:avLst>
          </a:prstGeom>
          <a:solidFill>
            <a:schemeClr val="tx1"/>
          </a:solidFill>
          <a:ln w="22225">
            <a:solidFill>
              <a:schemeClr val="accent1"/>
            </a:solidFill>
            <a:prstDash val="solid"/>
          </a:ln>
          <a:effectLst>
            <a:outerShdw sx="100000" sy="100000" kx="0" ky="0" algn="bl" rotWithShape="0" blurRad="228600" dist="50800" dir="5400000">
              <a:srgbClr val="C8A951">
                <a:alpha val="30000"/>
              </a:srgbClr>
            </a:outerShdw>
          </a:effectLst>
        </p:spPr>
      </p:sp>
      <p:sp>
        <p:nvSpPr>
          <p:cNvPr id="24" name="Text 18"/>
          <p:cNvSpPr txBox="1"/>
          <p:nvPr/>
        </p:nvSpPr>
        <p:spPr>
          <a:xfrm>
            <a:off x="822960" y="4270248"/>
            <a:ext cx="3108960" cy="365760"/>
          </a:xfrm>
          <a:prstGeom prst="rect">
            <a:avLst/>
          </a:prstGeom>
          <a:noFill/>
          <a:ln/>
        </p:spPr>
        <p:txBody>
          <a:bodyPr wrap="square" lIns="0" tIns="0" rIns="0" bIns="0" rtlCol="0" anchor="ctr"/>
          <a:lstStyle/>
          <a:p>
            <a:pPr indent="0" marL="0">
              <a:buNone/>
            </a:pPr>
            <a:r>
              <a:rPr lang="en-GB" altLang="en-US" sz="1700" b="1" spc="100" kern="0" dirty="0">
                <a:solidFill>
                  <a:schemeClr val="accent1"/>
                </a:solidFill>
              </a:rPr>
              <a:t>THE REVENUE MODEL</a:t>
            </a:r>
            <a:endParaRPr lang="en-GB" sz="1700" dirty="0"/>
          </a:p>
        </p:txBody>
      </p:sp>
      <p:sp>
        <p:nvSpPr>
          <p:cNvPr id="25" name="Text 19"/>
          <p:cNvSpPr txBox="1"/>
          <p:nvPr/>
        </p:nvSpPr>
        <p:spPr>
          <a:xfrm>
            <a:off x="3291840" y="4270248"/>
            <a:ext cx="3886200" cy="365760"/>
          </a:xfrm>
          <a:prstGeom prst="rect">
            <a:avLst/>
          </a:prstGeom>
          <a:noFill/>
          <a:ln/>
        </p:spPr>
        <p:txBody>
          <a:bodyPr wrap="square" lIns="0" tIns="0" rIns="0" bIns="0" rtlCol="0" anchor="ctr"/>
          <a:lstStyle/>
          <a:p>
            <a:pPr algn="r" indent="0" marL="0">
              <a:buNone/>
            </a:pPr>
            <a:r>
              <a:rPr lang="en-GB" altLang="en-US" sz="950" b="1" spc="200" kern="0" dirty="0">
                <a:solidFill>
                  <a:schemeClr val="bg1"/>
                </a:solidFill>
              </a:rPr>
              <a:t>WHERE THE NEW MONEY COMES FROM</a:t>
            </a:r>
            <a:endParaRPr lang="en-GB" sz="950" dirty="0"/>
          </a:p>
        </p:txBody>
      </p:sp>
      <p:sp>
        <p:nvSpPr>
          <p:cNvPr id="26" name="Shape 20"/>
          <p:cNvSpPr/>
          <p:nvPr/>
        </p:nvSpPr>
        <p:spPr>
          <a:xfrm>
            <a:off x="822960"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27" name="Text 21"/>
          <p:cNvSpPr txBox="1"/>
          <p:nvPr/>
        </p:nvSpPr>
        <p:spPr>
          <a:xfrm>
            <a:off x="877824" y="4846320"/>
            <a:ext cx="1179038"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MORE CREATORS</a:t>
            </a:r>
            <a:endParaRPr lang="en-GB" sz="1150" dirty="0"/>
          </a:p>
        </p:txBody>
      </p:sp>
      <p:sp>
        <p:nvSpPr>
          <p:cNvPr id="28" name="Text 22"/>
          <p:cNvSpPr txBox="1"/>
          <p:nvPr/>
        </p:nvSpPr>
        <p:spPr>
          <a:xfrm>
            <a:off x="2111726" y="484632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29" name="Shape 23"/>
          <p:cNvSpPr/>
          <p:nvPr/>
        </p:nvSpPr>
        <p:spPr>
          <a:xfrm>
            <a:off x="2404334"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30" name="Text 24"/>
          <p:cNvSpPr txBox="1"/>
          <p:nvPr/>
        </p:nvSpPr>
        <p:spPr>
          <a:xfrm>
            <a:off x="2459198" y="4846320"/>
            <a:ext cx="1179038"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MORE VISIBILITY</a:t>
            </a:r>
            <a:endParaRPr lang="en-GB" sz="1150" dirty="0"/>
          </a:p>
        </p:txBody>
      </p:sp>
      <p:sp>
        <p:nvSpPr>
          <p:cNvPr id="31" name="Text 25"/>
          <p:cNvSpPr txBox="1"/>
          <p:nvPr/>
        </p:nvSpPr>
        <p:spPr>
          <a:xfrm>
            <a:off x="3693100" y="484632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32" name="Shape 26"/>
          <p:cNvSpPr/>
          <p:nvPr/>
        </p:nvSpPr>
        <p:spPr>
          <a:xfrm>
            <a:off x="3985708" y="4846320"/>
            <a:ext cx="1288766" cy="731520"/>
          </a:xfrm>
          <a:prstGeom prst="roundRect">
            <a:avLst>
              <a:gd name="adj" fmla="val 7500"/>
            </a:avLst>
          </a:prstGeom>
          <a:solidFill>
            <a:schemeClr val="accent6"/>
          </a:solidFill>
          <a:ln w="6350">
            <a:solidFill>
              <a:schemeClr val="accent5">
                <a:alpha val="25000"/>
              </a:schemeClr>
            </a:solidFill>
            <a:prstDash val="solid"/>
          </a:ln>
        </p:spPr>
      </p:sp>
      <p:sp>
        <p:nvSpPr>
          <p:cNvPr id="33" name="Text 27"/>
          <p:cNvSpPr txBox="1"/>
          <p:nvPr/>
        </p:nvSpPr>
        <p:spPr>
          <a:xfrm>
            <a:off x="4040572" y="4846320"/>
            <a:ext cx="1179038"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BRAND KPIS MET</a:t>
            </a:r>
            <a:endParaRPr lang="en-GB" sz="1150" dirty="0"/>
          </a:p>
        </p:txBody>
      </p:sp>
      <p:sp>
        <p:nvSpPr>
          <p:cNvPr id="34" name="Text 28"/>
          <p:cNvSpPr txBox="1"/>
          <p:nvPr/>
        </p:nvSpPr>
        <p:spPr>
          <a:xfrm>
            <a:off x="5274474" y="484632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35" name="Shape 29"/>
          <p:cNvSpPr/>
          <p:nvPr/>
        </p:nvSpPr>
        <p:spPr>
          <a:xfrm>
            <a:off x="5567082" y="4846320"/>
            <a:ext cx="1610958" cy="731520"/>
          </a:xfrm>
          <a:prstGeom prst="roundRect">
            <a:avLst>
              <a:gd name="adj" fmla="val 7500"/>
            </a:avLst>
          </a:prstGeom>
          <a:solidFill>
            <a:schemeClr val="accent1"/>
          </a:solidFill>
          <a:ln/>
        </p:spPr>
      </p:sp>
      <p:sp>
        <p:nvSpPr>
          <p:cNvPr id="36" name="Text 30"/>
          <p:cNvSpPr txBox="1"/>
          <p:nvPr/>
        </p:nvSpPr>
        <p:spPr>
          <a:xfrm>
            <a:off x="5621946" y="4846320"/>
            <a:ext cx="1501230" cy="731520"/>
          </a:xfrm>
          <a:prstGeom prst="rect">
            <a:avLst/>
          </a:prstGeom>
          <a:noFill/>
          <a:ln/>
        </p:spPr>
        <p:txBody>
          <a:bodyPr wrap="square" lIns="0" tIns="0" rIns="0" bIns="0" rtlCol="0" anchor="ctr"/>
          <a:lstStyle/>
          <a:p>
            <a:pPr algn="ctr" indent="0" marL="0">
              <a:buNone/>
            </a:pPr>
            <a:r>
              <a:rPr lang="en-GB" altLang="en-US" sz="1150" b="1" dirty="0">
                <a:solidFill>
                  <a:schemeClr val="tx1"/>
                </a:solidFill>
              </a:rPr>
              <a:t>SPONSOR AND INVESTOR MONEY</a:t>
            </a:r>
            <a:endParaRPr lang="en-GB" sz="1150" dirty="0"/>
          </a:p>
        </p:txBody>
      </p:sp>
      <p:sp>
        <p:nvSpPr>
          <p:cNvPr id="37" name="Shape 31"/>
          <p:cNvSpPr/>
          <p:nvPr/>
        </p:nvSpPr>
        <p:spPr>
          <a:xfrm>
            <a:off x="7726680" y="1783080"/>
            <a:ext cx="3916375" cy="4023360"/>
          </a:xfrm>
          <a:prstGeom prst="rect">
            <a:avLst/>
          </a:prstGeom>
          <a:solidFill>
            <a:schemeClr val="accent6"/>
          </a:solidFill>
          <a:ln/>
        </p:spPr>
      </p:sp>
      <p:sp>
        <p:nvSpPr>
          <p:cNvPr id="38" name="Shape 32"/>
          <p:cNvSpPr/>
          <p:nvPr/>
        </p:nvSpPr>
        <p:spPr>
          <a:xfrm>
            <a:off x="7726680" y="1783080"/>
            <a:ext cx="3916375" cy="54864"/>
          </a:xfrm>
          <a:prstGeom prst="rect">
            <a:avLst/>
          </a:prstGeom>
          <a:solidFill>
            <a:schemeClr val="accent1"/>
          </a:solidFill>
          <a:ln/>
        </p:spPr>
      </p:sp>
      <p:pic>
        <p:nvPicPr>
          <p:cNvPr id="39" name="Photo crowd" descr="A crowd holding up their phones to film a performer on stage at night">    </p:cNvPr>
          <p:cNvPicPr>
            <a:picLocks noChangeAspect="1"/>
          </p:cNvPicPr>
          <p:nvPr/>
        </p:nvPicPr>
        <p:blipFill>
          <a:blip r:embed="rId4"/>
          <a:stretch>
            <a:fillRect/>
          </a:stretch>
        </p:blipFill>
        <p:spPr>
          <a:xfrm>
            <a:off x="7955280" y="2057400"/>
            <a:ext cx="3459175" cy="1941374"/>
          </a:xfrm>
          <a:prstGeom prst="rect">
            <a:avLst/>
          </a:prstGeom>
        </p:spPr>
      </p:pic>
      <p:sp>
        <p:nvSpPr>
          <p:cNvPr id="40" name="Text 33"/>
          <p:cNvSpPr txBox="1"/>
          <p:nvPr/>
        </p:nvSpPr>
        <p:spPr>
          <a:xfrm>
            <a:off x="7955280" y="4114800"/>
            <a:ext cx="3459175" cy="731520"/>
          </a:xfrm>
          <a:prstGeom prst="rect">
            <a:avLst/>
          </a:prstGeom>
          <a:noFill/>
          <a:ln/>
        </p:spPr>
        <p:txBody>
          <a:bodyPr wrap="square" lIns="0" tIns="0" rIns="0" bIns="0" rtlCol="0" anchor="t"/>
          <a:lstStyle/>
          <a:p>
            <a:pPr indent="0" marL="0">
              <a:buNone/>
            </a:pPr>
            <a:r>
              <a:rPr lang="en-GB" altLang="en-US" sz="2200" dirty="0">
                <a:solidFill>
                  <a:schemeClr val="bg1"/>
                </a:solidFill>
                <a:latin typeface="+mj-lt" pitchFamily="34" charset="0"/>
                <a:ea typeface="+mj-lt" pitchFamily="34" charset="-122"/>
                <a:cs typeface="+mj-lt" pitchFamily="34" charset="-120"/>
              </a:rPr>
              <a:t>Your audience is already filming</a:t>
            </a:r>
            <a:endParaRPr lang="en-GB" sz="2200" dirty="0"/>
          </a:p>
        </p:txBody>
      </p:sp>
      <p:sp>
        <p:nvSpPr>
          <p:cNvPr id="41" name="Text 34"/>
          <p:cNvSpPr txBox="1"/>
          <p:nvPr/>
        </p:nvSpPr>
        <p:spPr>
          <a:xfrm>
            <a:off x="7955280" y="4919472"/>
            <a:ext cx="3459175" cy="777240"/>
          </a:xfrm>
          <a:prstGeom prst="rect">
            <a:avLst/>
          </a:prstGeom>
          <a:noFill/>
          <a:ln/>
        </p:spPr>
        <p:txBody>
          <a:bodyPr wrap="square" lIns="0" tIns="0" rIns="0" bIns="0" rtlCol="0" anchor="t"/>
          <a:lstStyle/>
          <a:p>
            <a:pPr indent="0" marL="0">
              <a:buNone/>
            </a:pPr>
            <a:r>
              <a:rPr lang="en-GB" altLang="en-US" sz="1300" dirty="0">
                <a:solidFill>
                  <a:schemeClr val="accent5"/>
                </a:solidFill>
              </a:rPr>
              <a:t>Every phone in the crowd is a camera. AToure makes sure the right creators are holding them, and counts what they deliver.</a:t>
            </a:r>
            <a:endParaRPr lang="en-GB" sz="13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THE ATOURE ANSWER</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Mother Africa gives access. AToure does the rest</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5396332" cy="3246120"/>
          </a:xfrm>
          <a:prstGeom prst="rect">
            <a:avLst/>
          </a:prstGeom>
          <a:solidFill>
            <a:srgbClr val="FCE9DA"/>
          </a:solidFill>
          <a:ln/>
        </p:spPr>
      </p:sp>
      <p:sp>
        <p:nvSpPr>
          <p:cNvPr id="9" name="Shape 4"/>
          <p:cNvSpPr/>
          <p:nvPr/>
        </p:nvSpPr>
        <p:spPr>
          <a:xfrm>
            <a:off x="548640" y="1783080"/>
            <a:ext cx="5396332" cy="457200"/>
          </a:xfrm>
          <a:prstGeom prst="rect">
            <a:avLst/>
          </a:prstGeom>
          <a:solidFill>
            <a:schemeClr val="accent2"/>
          </a:solidFill>
          <a:ln/>
        </p:spPr>
      </p:sp>
      <p:sp>
        <p:nvSpPr>
          <p:cNvPr id="10" name="Text 5"/>
          <p:cNvSpPr txBox="1"/>
          <p:nvPr/>
        </p:nvSpPr>
        <p:spPr>
          <a:xfrm>
            <a:off x="822960" y="1783080"/>
            <a:ext cx="4939132" cy="457200"/>
          </a:xfrm>
          <a:prstGeom prst="rect">
            <a:avLst/>
          </a:prstGeom>
          <a:noFill/>
          <a:ln/>
        </p:spPr>
        <p:txBody>
          <a:bodyPr wrap="square" lIns="0" tIns="0" rIns="0" bIns="0" rtlCol="0" anchor="ctr"/>
          <a:lstStyle/>
          <a:p>
            <a:pPr indent="0" marL="0">
              <a:buNone/>
            </a:pPr>
            <a:r>
              <a:rPr lang="en-GB" altLang="en-US" sz="1200" b="1" spc="200" kern="0" dirty="0">
                <a:solidFill>
                  <a:schemeClr val="tx1"/>
                </a:solidFill>
              </a:rPr>
              <a:t>WHAT MOTHER AFRICA PROVIDES</a:t>
            </a:r>
            <a:endParaRPr lang="en-GB" sz="1200" dirty="0"/>
          </a:p>
        </p:txBody>
      </p:sp>
      <p:sp>
        <p:nvSpPr>
          <p:cNvPr id="11" name="Shape 6"/>
          <p:cNvSpPr/>
          <p:nvPr/>
        </p:nvSpPr>
        <p:spPr>
          <a:xfrm>
            <a:off x="6246724" y="1783080"/>
            <a:ext cx="5396332" cy="3246120"/>
          </a:xfrm>
          <a:prstGeom prst="rect">
            <a:avLst/>
          </a:prstGeom>
          <a:solidFill>
            <a:srgbClr val="F7F1E0"/>
          </a:solidFill>
          <a:ln/>
        </p:spPr>
      </p:sp>
      <p:sp>
        <p:nvSpPr>
          <p:cNvPr id="12" name="Shape 7"/>
          <p:cNvSpPr/>
          <p:nvPr/>
        </p:nvSpPr>
        <p:spPr>
          <a:xfrm>
            <a:off x="6246724" y="1783080"/>
            <a:ext cx="5396332" cy="457200"/>
          </a:xfrm>
          <a:prstGeom prst="rect">
            <a:avLst/>
          </a:prstGeom>
          <a:solidFill>
            <a:schemeClr val="accent1"/>
          </a:solidFill>
          <a:ln/>
        </p:spPr>
      </p:sp>
      <p:sp>
        <p:nvSpPr>
          <p:cNvPr id="13" name="Text 8"/>
          <p:cNvSpPr txBox="1"/>
          <p:nvPr/>
        </p:nvSpPr>
        <p:spPr>
          <a:xfrm>
            <a:off x="6521044" y="1783080"/>
            <a:ext cx="4939132" cy="457200"/>
          </a:xfrm>
          <a:prstGeom prst="rect">
            <a:avLst/>
          </a:prstGeom>
          <a:noFill/>
          <a:ln/>
        </p:spPr>
        <p:txBody>
          <a:bodyPr wrap="square" lIns="0" tIns="0" rIns="0" bIns="0" rtlCol="0" anchor="ctr"/>
          <a:lstStyle/>
          <a:p>
            <a:pPr indent="0" marL="0">
              <a:buNone/>
            </a:pPr>
            <a:r>
              <a:rPr lang="en-GB" altLang="en-US" sz="1200" b="1" spc="200" kern="0" dirty="0">
                <a:solidFill>
                  <a:schemeClr val="tx1"/>
                </a:solidFill>
              </a:rPr>
              <a:t>WHAT ATOURE DELIVERS</a:t>
            </a:r>
            <a:endParaRPr lang="en-GB" sz="1200" dirty="0"/>
          </a:p>
        </p:txBody>
      </p:sp>
      <p:sp>
        <p:nvSpPr>
          <p:cNvPr id="14" name="Shape 9"/>
          <p:cNvSpPr/>
          <p:nvPr/>
        </p:nvSpPr>
        <p:spPr>
          <a:xfrm>
            <a:off x="822960" y="2450592"/>
            <a:ext cx="438912" cy="438912"/>
          </a:xfrm>
          <a:prstGeom prst="ellipse">
            <a:avLst/>
          </a:prstGeom>
          <a:solidFill>
            <a:schemeClr val="accent2"/>
          </a:solidFill>
          <a:ln/>
        </p:spPr>
      </p:sp>
      <p:pic>
        <p:nvPicPr>
          <p:cNvPr id="15" name="Image 2" descr="preencoded.png">    </p:cNvPr>
          <p:cNvPicPr>
            <a:picLocks noChangeAspect="1"/>
          </p:cNvPicPr>
          <p:nvPr/>
        </p:nvPicPr>
        <p:blipFill>
          <a:blip r:embed="rId3"/>
          <a:stretch>
            <a:fillRect/>
          </a:stretch>
        </p:blipFill>
        <p:spPr>
          <a:xfrm>
            <a:off x="928299" y="2555931"/>
            <a:ext cx="228234" cy="228234"/>
          </a:xfrm>
          <a:prstGeom prst="rect">
            <a:avLst/>
          </a:prstGeom>
        </p:spPr>
      </p:pic>
      <p:sp>
        <p:nvSpPr>
          <p:cNvPr id="16" name="Text 10"/>
          <p:cNvSpPr txBox="1"/>
          <p:nvPr/>
        </p:nvSpPr>
        <p:spPr>
          <a:xfrm>
            <a:off x="1417320" y="2450592"/>
            <a:ext cx="4299052" cy="438912"/>
          </a:xfrm>
          <a:prstGeom prst="rect">
            <a:avLst/>
          </a:prstGeom>
          <a:noFill/>
          <a:ln/>
        </p:spPr>
        <p:txBody>
          <a:bodyPr wrap="square" lIns="0" tIns="0" rIns="0" bIns="0" rtlCol="0" anchor="ctr"/>
          <a:lstStyle/>
          <a:p>
            <a:pPr indent="0" marL="0">
              <a:buNone/>
            </a:pPr>
            <a:r>
              <a:rPr lang="en-GB" altLang="en-US" sz="1400" dirty="0">
                <a:solidFill>
                  <a:schemeClr val="tx1"/>
                </a:solidFill>
              </a:rPr>
              <a:t>Accreditation and access zones for the creators</a:t>
            </a:r>
            <a:endParaRPr lang="en-GB" sz="1400" dirty="0"/>
          </a:p>
        </p:txBody>
      </p:sp>
      <p:sp>
        <p:nvSpPr>
          <p:cNvPr id="17" name="Shape 11"/>
          <p:cNvSpPr/>
          <p:nvPr/>
        </p:nvSpPr>
        <p:spPr>
          <a:xfrm>
            <a:off x="822960" y="3090672"/>
            <a:ext cx="438912" cy="438912"/>
          </a:xfrm>
          <a:prstGeom prst="ellipse">
            <a:avLst/>
          </a:prstGeom>
          <a:solidFill>
            <a:schemeClr val="accent2"/>
          </a:solidFill>
          <a:ln/>
        </p:spPr>
      </p:sp>
      <p:pic>
        <p:nvPicPr>
          <p:cNvPr id="18" name="Image 3" descr="preencoded.png">    </p:cNvPr>
          <p:cNvPicPr>
            <a:picLocks noChangeAspect="1"/>
          </p:cNvPicPr>
          <p:nvPr/>
        </p:nvPicPr>
        <p:blipFill>
          <a:blip r:embed="rId4"/>
          <a:stretch>
            <a:fillRect/>
          </a:stretch>
        </p:blipFill>
        <p:spPr>
          <a:xfrm>
            <a:off x="928299" y="3196011"/>
            <a:ext cx="228234" cy="228234"/>
          </a:xfrm>
          <a:prstGeom prst="rect">
            <a:avLst/>
          </a:prstGeom>
        </p:spPr>
      </p:pic>
      <p:sp>
        <p:nvSpPr>
          <p:cNvPr id="19" name="Text 12"/>
          <p:cNvSpPr txBox="1"/>
          <p:nvPr/>
        </p:nvSpPr>
        <p:spPr>
          <a:xfrm>
            <a:off x="1417320" y="3090672"/>
            <a:ext cx="4299052" cy="438912"/>
          </a:xfrm>
          <a:prstGeom prst="rect">
            <a:avLst/>
          </a:prstGeom>
          <a:noFill/>
          <a:ln/>
        </p:spPr>
        <p:txBody>
          <a:bodyPr wrap="square" lIns="0" tIns="0" rIns="0" bIns="0" rtlCol="0" anchor="ctr"/>
          <a:lstStyle/>
          <a:p>
            <a:pPr indent="0" marL="0">
              <a:buNone/>
            </a:pPr>
            <a:r>
              <a:rPr lang="en-GB" altLang="en-US" sz="1400" dirty="0">
                <a:solidFill>
                  <a:schemeClr val="tx1"/>
                </a:solidFill>
              </a:rPr>
              <a:t>Brand guidelines and the key messages</a:t>
            </a:r>
            <a:endParaRPr lang="en-GB" sz="1400" dirty="0"/>
          </a:p>
        </p:txBody>
      </p:sp>
      <p:sp>
        <p:nvSpPr>
          <p:cNvPr id="20" name="Shape 13"/>
          <p:cNvSpPr/>
          <p:nvPr/>
        </p:nvSpPr>
        <p:spPr>
          <a:xfrm>
            <a:off x="822960" y="3730752"/>
            <a:ext cx="438912" cy="438912"/>
          </a:xfrm>
          <a:prstGeom prst="ellipse">
            <a:avLst/>
          </a:prstGeom>
          <a:solidFill>
            <a:schemeClr val="accent2"/>
          </a:solidFill>
          <a:ln/>
        </p:spPr>
      </p:sp>
      <p:pic>
        <p:nvPicPr>
          <p:cNvPr id="21" name="Image 4" descr="preencoded.png">    </p:cNvPr>
          <p:cNvPicPr>
            <a:picLocks noChangeAspect="1"/>
          </p:cNvPicPr>
          <p:nvPr/>
        </p:nvPicPr>
        <p:blipFill>
          <a:blip r:embed="rId5"/>
          <a:stretch>
            <a:fillRect/>
          </a:stretch>
        </p:blipFill>
        <p:spPr>
          <a:xfrm>
            <a:off x="928299" y="3836091"/>
            <a:ext cx="228234" cy="228234"/>
          </a:xfrm>
          <a:prstGeom prst="rect">
            <a:avLst/>
          </a:prstGeom>
        </p:spPr>
      </p:pic>
      <p:sp>
        <p:nvSpPr>
          <p:cNvPr id="22" name="Text 14"/>
          <p:cNvSpPr txBox="1"/>
          <p:nvPr/>
        </p:nvSpPr>
        <p:spPr>
          <a:xfrm>
            <a:off x="1417320" y="3730752"/>
            <a:ext cx="4299052" cy="438912"/>
          </a:xfrm>
          <a:prstGeom prst="rect">
            <a:avLst/>
          </a:prstGeom>
          <a:noFill/>
          <a:ln/>
        </p:spPr>
        <p:txBody>
          <a:bodyPr wrap="square" lIns="0" tIns="0" rIns="0" bIns="0" rtlCol="0" anchor="ctr"/>
          <a:lstStyle/>
          <a:p>
            <a:pPr indent="0" marL="0">
              <a:buNone/>
            </a:pPr>
            <a:r>
              <a:rPr lang="en-GB" altLang="en-US" sz="1400" dirty="0">
                <a:solidFill>
                  <a:schemeClr val="tx1"/>
                </a:solidFill>
              </a:rPr>
              <a:t>Ticket links, and codes if the festival wants them</a:t>
            </a:r>
            <a:endParaRPr lang="en-GB" sz="1400" dirty="0"/>
          </a:p>
        </p:txBody>
      </p:sp>
      <p:sp>
        <p:nvSpPr>
          <p:cNvPr id="23" name="Shape 15"/>
          <p:cNvSpPr/>
          <p:nvPr/>
        </p:nvSpPr>
        <p:spPr>
          <a:xfrm>
            <a:off x="822960" y="4370832"/>
            <a:ext cx="438912" cy="438912"/>
          </a:xfrm>
          <a:prstGeom prst="ellipse">
            <a:avLst/>
          </a:prstGeom>
          <a:solidFill>
            <a:schemeClr val="accent2"/>
          </a:solidFill>
          <a:ln/>
        </p:spPr>
      </p:sp>
      <p:pic>
        <p:nvPicPr>
          <p:cNvPr id="24" name="Image 5" descr="preencoded.png">    </p:cNvPr>
          <p:cNvPicPr>
            <a:picLocks noChangeAspect="1"/>
          </p:cNvPicPr>
          <p:nvPr/>
        </p:nvPicPr>
        <p:blipFill>
          <a:blip r:embed="rId6"/>
          <a:stretch>
            <a:fillRect/>
          </a:stretch>
        </p:blipFill>
        <p:spPr>
          <a:xfrm>
            <a:off x="928299" y="4476171"/>
            <a:ext cx="228234" cy="228234"/>
          </a:xfrm>
          <a:prstGeom prst="rect">
            <a:avLst/>
          </a:prstGeom>
        </p:spPr>
      </p:pic>
      <p:sp>
        <p:nvSpPr>
          <p:cNvPr id="25" name="Text 16"/>
          <p:cNvSpPr txBox="1"/>
          <p:nvPr/>
        </p:nvSpPr>
        <p:spPr>
          <a:xfrm>
            <a:off x="1417320" y="4370832"/>
            <a:ext cx="4299052" cy="438912"/>
          </a:xfrm>
          <a:prstGeom prst="rect">
            <a:avLst/>
          </a:prstGeom>
          <a:noFill/>
          <a:ln/>
        </p:spPr>
        <p:txBody>
          <a:bodyPr wrap="square" lIns="0" tIns="0" rIns="0" bIns="0" rtlCol="0" anchor="ctr"/>
          <a:lstStyle/>
          <a:p>
            <a:pPr indent="0" marL="0">
              <a:buNone/>
            </a:pPr>
            <a:r>
              <a:rPr lang="en-GB" altLang="en-US" sz="1400" dirty="0">
                <a:solidFill>
                  <a:schemeClr val="tx1"/>
                </a:solidFill>
              </a:rPr>
              <a:t>One contact on the production team</a:t>
            </a:r>
            <a:endParaRPr lang="en-GB" sz="1400" dirty="0"/>
          </a:p>
        </p:txBody>
      </p:sp>
      <p:sp>
        <p:nvSpPr>
          <p:cNvPr id="26" name="Shape 17"/>
          <p:cNvSpPr/>
          <p:nvPr/>
        </p:nvSpPr>
        <p:spPr>
          <a:xfrm>
            <a:off x="6521044" y="2450592"/>
            <a:ext cx="438912" cy="438912"/>
          </a:xfrm>
          <a:prstGeom prst="ellipse">
            <a:avLst/>
          </a:prstGeom>
          <a:solidFill>
            <a:schemeClr val="accent1"/>
          </a:solidFill>
          <a:ln/>
        </p:spPr>
      </p:sp>
      <p:sp>
        <p:nvSpPr>
          <p:cNvPr id="27" name="Text 18"/>
          <p:cNvSpPr txBox="1"/>
          <p:nvPr/>
        </p:nvSpPr>
        <p:spPr>
          <a:xfrm>
            <a:off x="6521044" y="2450592"/>
            <a:ext cx="438912" cy="438912"/>
          </a:xfrm>
          <a:prstGeom prst="rect">
            <a:avLst/>
          </a:prstGeom>
          <a:noFill/>
          <a:ln/>
        </p:spPr>
        <p:txBody>
          <a:bodyPr wrap="square" lIns="0" tIns="0" rIns="0" bIns="0" rtlCol="0" anchor="ctr"/>
          <a:lstStyle/>
          <a:p>
            <a:pPr algn="ctr" indent="0" marL="0">
              <a:buNone/>
            </a:pPr>
            <a:r>
              <a:rPr lang="en-GB" altLang="en-US" sz="1300" b="1" dirty="0">
                <a:solidFill>
                  <a:schemeClr val="tx1"/>
                </a:solidFill>
              </a:rPr>
              <a:t>1</a:t>
            </a:r>
            <a:endParaRPr lang="en-GB" sz="1300" dirty="0"/>
          </a:p>
        </p:txBody>
      </p:sp>
      <p:sp>
        <p:nvSpPr>
          <p:cNvPr id="28" name="Text 19"/>
          <p:cNvSpPr txBox="1"/>
          <p:nvPr/>
        </p:nvSpPr>
        <p:spPr>
          <a:xfrm>
            <a:off x="7115404" y="2404872"/>
            <a:ext cx="4299052" cy="347472"/>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Talent access</a:t>
            </a:r>
            <a:endParaRPr lang="en-GB" sz="1800" dirty="0"/>
          </a:p>
        </p:txBody>
      </p:sp>
      <p:sp>
        <p:nvSpPr>
          <p:cNvPr id="29" name="Text 20"/>
          <p:cNvSpPr txBox="1"/>
          <p:nvPr/>
        </p:nvSpPr>
        <p:spPr>
          <a:xfrm>
            <a:off x="7115404" y="2752344"/>
            <a:ext cx="4299052" cy="310896"/>
          </a:xfrm>
          <a:prstGeom prst="rect">
            <a:avLst/>
          </a:prstGeom>
          <a:noFill/>
          <a:ln/>
        </p:spPr>
        <p:txBody>
          <a:bodyPr wrap="square" lIns="0" tIns="0" rIns="0" bIns="0" rtlCol="0" anchor="t"/>
          <a:lstStyle/>
          <a:p>
            <a:pPr indent="0" marL="0">
              <a:buNone/>
            </a:pPr>
            <a:r>
              <a:rPr lang="en-GB" altLang="en-US" sz="1300" dirty="0">
                <a:solidFill>
                  <a:schemeClr val="tx2"/>
                </a:solidFill>
              </a:rPr>
              <a:t>Creators matched to the audiences Mother Africa wants</a:t>
            </a:r>
            <a:endParaRPr lang="en-GB" sz="1300" dirty="0"/>
          </a:p>
        </p:txBody>
      </p:sp>
      <p:sp>
        <p:nvSpPr>
          <p:cNvPr id="30" name="Shape 21"/>
          <p:cNvSpPr/>
          <p:nvPr/>
        </p:nvSpPr>
        <p:spPr>
          <a:xfrm>
            <a:off x="6521044" y="3291840"/>
            <a:ext cx="438912" cy="438912"/>
          </a:xfrm>
          <a:prstGeom prst="ellipse">
            <a:avLst/>
          </a:prstGeom>
          <a:solidFill>
            <a:schemeClr val="accent1"/>
          </a:solidFill>
          <a:ln/>
        </p:spPr>
      </p:sp>
      <p:sp>
        <p:nvSpPr>
          <p:cNvPr id="31" name="Text 22"/>
          <p:cNvSpPr txBox="1"/>
          <p:nvPr/>
        </p:nvSpPr>
        <p:spPr>
          <a:xfrm>
            <a:off x="6521044" y="3291840"/>
            <a:ext cx="438912" cy="438912"/>
          </a:xfrm>
          <a:prstGeom prst="rect">
            <a:avLst/>
          </a:prstGeom>
          <a:noFill/>
          <a:ln/>
        </p:spPr>
        <p:txBody>
          <a:bodyPr wrap="square" lIns="0" tIns="0" rIns="0" bIns="0" rtlCol="0" anchor="ctr"/>
          <a:lstStyle/>
          <a:p>
            <a:pPr algn="ctr" indent="0" marL="0">
              <a:buNone/>
            </a:pPr>
            <a:r>
              <a:rPr lang="en-GB" altLang="en-US" sz="1300" b="1" dirty="0">
                <a:solidFill>
                  <a:schemeClr val="tx1"/>
                </a:solidFill>
              </a:rPr>
              <a:t>2</a:t>
            </a:r>
            <a:endParaRPr lang="en-GB" sz="1300" dirty="0"/>
          </a:p>
        </p:txBody>
      </p:sp>
      <p:sp>
        <p:nvSpPr>
          <p:cNvPr id="32" name="Text 23"/>
          <p:cNvSpPr txBox="1"/>
          <p:nvPr/>
        </p:nvSpPr>
        <p:spPr>
          <a:xfrm>
            <a:off x="7115404" y="3246120"/>
            <a:ext cx="4299052" cy="347472"/>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Creator management on the ground</a:t>
            </a:r>
            <a:endParaRPr lang="en-GB" sz="1800" dirty="0"/>
          </a:p>
        </p:txBody>
      </p:sp>
      <p:sp>
        <p:nvSpPr>
          <p:cNvPr id="33" name="Text 24"/>
          <p:cNvSpPr txBox="1"/>
          <p:nvPr/>
        </p:nvSpPr>
        <p:spPr>
          <a:xfrm>
            <a:off x="7115404" y="3593592"/>
            <a:ext cx="4299052" cy="310896"/>
          </a:xfrm>
          <a:prstGeom prst="rect">
            <a:avLst/>
          </a:prstGeom>
          <a:noFill/>
          <a:ln/>
        </p:spPr>
        <p:txBody>
          <a:bodyPr wrap="square" lIns="0" tIns="0" rIns="0" bIns="0" rtlCol="0" anchor="t"/>
          <a:lstStyle/>
          <a:p>
            <a:pPr indent="0" marL="0">
              <a:buNone/>
            </a:pPr>
            <a:r>
              <a:rPr lang="en-GB" altLang="en-US" sz="1300" dirty="0">
                <a:solidFill>
                  <a:schemeClr val="tx2"/>
                </a:solidFill>
              </a:rPr>
              <a:t>Briefs, accreditation, approvals and one point of contact</a:t>
            </a:r>
            <a:endParaRPr lang="en-GB" sz="1300" dirty="0"/>
          </a:p>
        </p:txBody>
      </p:sp>
      <p:sp>
        <p:nvSpPr>
          <p:cNvPr id="34" name="Shape 25"/>
          <p:cNvSpPr/>
          <p:nvPr/>
        </p:nvSpPr>
        <p:spPr>
          <a:xfrm>
            <a:off x="6521044" y="4133088"/>
            <a:ext cx="438912" cy="438912"/>
          </a:xfrm>
          <a:prstGeom prst="ellipse">
            <a:avLst/>
          </a:prstGeom>
          <a:solidFill>
            <a:schemeClr val="accent1"/>
          </a:solidFill>
          <a:ln/>
        </p:spPr>
      </p:sp>
      <p:sp>
        <p:nvSpPr>
          <p:cNvPr id="35" name="Text 26"/>
          <p:cNvSpPr txBox="1"/>
          <p:nvPr/>
        </p:nvSpPr>
        <p:spPr>
          <a:xfrm>
            <a:off x="6521044" y="4133088"/>
            <a:ext cx="438912" cy="438912"/>
          </a:xfrm>
          <a:prstGeom prst="rect">
            <a:avLst/>
          </a:prstGeom>
          <a:noFill/>
          <a:ln/>
        </p:spPr>
        <p:txBody>
          <a:bodyPr wrap="square" lIns="0" tIns="0" rIns="0" bIns="0" rtlCol="0" anchor="ctr"/>
          <a:lstStyle/>
          <a:p>
            <a:pPr algn="ctr" indent="0" marL="0">
              <a:buNone/>
            </a:pPr>
            <a:r>
              <a:rPr lang="en-GB" altLang="en-US" sz="1300" b="1" dirty="0">
                <a:solidFill>
                  <a:schemeClr val="tx1"/>
                </a:solidFill>
              </a:rPr>
              <a:t>3</a:t>
            </a:r>
            <a:endParaRPr lang="en-GB" sz="1300" dirty="0"/>
          </a:p>
        </p:txBody>
      </p:sp>
      <p:sp>
        <p:nvSpPr>
          <p:cNvPr id="36" name="Text 27"/>
          <p:cNvSpPr txBox="1"/>
          <p:nvPr/>
        </p:nvSpPr>
        <p:spPr>
          <a:xfrm>
            <a:off x="7115404" y="4087368"/>
            <a:ext cx="4299052" cy="347472"/>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The visibility report</a:t>
            </a:r>
            <a:endParaRPr lang="en-GB" sz="1800" dirty="0"/>
          </a:p>
        </p:txBody>
      </p:sp>
      <p:sp>
        <p:nvSpPr>
          <p:cNvPr id="37" name="Text 28"/>
          <p:cNvSpPr txBox="1"/>
          <p:nvPr/>
        </p:nvSpPr>
        <p:spPr>
          <a:xfrm>
            <a:off x="7115404" y="4434840"/>
            <a:ext cx="4299052" cy="310896"/>
          </a:xfrm>
          <a:prstGeom prst="rect">
            <a:avLst/>
          </a:prstGeom>
          <a:noFill/>
          <a:ln/>
        </p:spPr>
        <p:txBody>
          <a:bodyPr wrap="square" lIns="0" tIns="0" rIns="0" bIns="0" rtlCol="0" anchor="t"/>
          <a:lstStyle/>
          <a:p>
            <a:pPr indent="0" marL="0">
              <a:buNone/>
            </a:pPr>
            <a:r>
              <a:rPr lang="en-GB" altLang="en-US" sz="1300" dirty="0">
                <a:solidFill>
                  <a:schemeClr val="tx2"/>
                </a:solidFill>
              </a:rPr>
              <a:t>A check at 48 hours, the full report on day 14</a:t>
            </a:r>
            <a:endParaRPr lang="en-GB" sz="1300" dirty="0"/>
          </a:p>
        </p:txBody>
      </p:sp>
      <p:sp>
        <p:nvSpPr>
          <p:cNvPr id="38" name="Shape 29"/>
          <p:cNvSpPr/>
          <p:nvPr/>
        </p:nvSpPr>
        <p:spPr>
          <a:xfrm>
            <a:off x="548640" y="5257800"/>
            <a:ext cx="11094415" cy="731520"/>
          </a:xfrm>
          <a:prstGeom prst="roundRect">
            <a:avLst>
              <a:gd name="adj" fmla="val 12500"/>
            </a:avLst>
          </a:prstGeom>
          <a:solidFill>
            <a:schemeClr val="tx1"/>
          </a:solidFill>
          <a:ln/>
        </p:spPr>
      </p:sp>
      <p:sp>
        <p:nvSpPr>
          <p:cNvPr id="39" name="Text 30"/>
          <p:cNvSpPr txBox="1"/>
          <p:nvPr/>
        </p:nvSpPr>
        <p:spPr>
          <a:xfrm>
            <a:off x="822960" y="5257800"/>
            <a:ext cx="10515600" cy="731520"/>
          </a:xfrm>
          <a:prstGeom prst="rect">
            <a:avLst/>
          </a:prstGeom>
          <a:noFill/>
          <a:ln/>
        </p:spPr>
        <p:txBody>
          <a:bodyPr wrap="square" lIns="0" tIns="0" rIns="0" bIns="0" rtlCol="0" anchor="ctr"/>
          <a:lstStyle/>
          <a:p>
            <a:pPr indent="0" marL="0">
              <a:buNone/>
            </a:pPr>
            <a:r>
              <a:rPr lang="en-GB" altLang="en-US" sz="1900" dirty="0">
                <a:solidFill>
                  <a:schemeClr val="bg1"/>
                </a:solidFill>
                <a:latin typeface="+mj-lt" pitchFamily="34" charset="0"/>
                <a:ea typeface="+mj-lt" pitchFamily="34" charset="-122"/>
                <a:cs typeface="+mj-lt" pitchFamily="34" charset="-120"/>
              </a:rPr>
              <a:t>Creators produce visibility. AToure makes it provable, so the festival can sell it to sponsors.</a:t>
            </a:r>
            <a:endParaRPr lang="en-GB" sz="19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CREATOR MANAGEMENT ON THE GROUND</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AToure runs every creator, end to end</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9" name="Shape 4"/>
          <p:cNvSpPr/>
          <p:nvPr/>
        </p:nvSpPr>
        <p:spPr>
          <a:xfrm>
            <a:off x="777240" y="2011680"/>
            <a:ext cx="457200" cy="457200"/>
          </a:xfrm>
          <a:prstGeom prst="ellipse">
            <a:avLst/>
          </a:prstGeom>
          <a:solidFill>
            <a:schemeClr val="accent1"/>
          </a:solidFill>
          <a:ln/>
        </p:spPr>
      </p:sp>
      <p:sp>
        <p:nvSpPr>
          <p:cNvPr id="10"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1</a:t>
            </a:r>
            <a:endParaRPr lang="en-GB" sz="1400" dirty="0"/>
          </a:p>
        </p:txBody>
      </p:sp>
      <p:sp>
        <p:nvSpPr>
          <p:cNvPr id="11" name="Text 6"/>
          <p:cNvSpPr txBox="1"/>
          <p:nvPr/>
        </p:nvSpPr>
        <p:spPr>
          <a:xfrm>
            <a:off x="777240" y="2651760"/>
            <a:ext cx="1645920" cy="365760"/>
          </a:xfrm>
          <a:prstGeom prst="rect">
            <a:avLst/>
          </a:prstGeom>
          <a:noFill/>
          <a:ln/>
        </p:spPr>
        <p:txBody>
          <a:bodyPr wrap="square" lIns="0" tIns="0" rIns="0" bIns="0" rtlCol="0" anchor="t"/>
          <a:lstStyle/>
          <a:p>
            <a:pPr indent="0" marL="0">
              <a:buNone/>
            </a:pPr>
            <a:r>
              <a:rPr lang="en-GB" altLang="en-US" sz="1900" dirty="0">
                <a:solidFill>
                  <a:schemeClr val="tx1"/>
                </a:solidFill>
                <a:latin typeface="+mj-lt" pitchFamily="34" charset="0"/>
                <a:ea typeface="+mj-lt" pitchFamily="34" charset="-122"/>
                <a:cs typeface="+mj-lt" pitchFamily="34" charset="-120"/>
              </a:rPr>
              <a:t>Scout and vet</a:t>
            </a:r>
            <a:endParaRPr lang="en-GB" sz="1900" dirty="0"/>
          </a:p>
        </p:txBody>
      </p:sp>
      <p:sp>
        <p:nvSpPr>
          <p:cNvPr id="12" name="Text 7"/>
          <p:cNvSpPr txBox="1"/>
          <p:nvPr/>
        </p:nvSpPr>
        <p:spPr>
          <a:xfrm>
            <a:off x="777240" y="3063240"/>
            <a:ext cx="1600200" cy="914400"/>
          </a:xfrm>
          <a:prstGeom prst="rect">
            <a:avLst/>
          </a:prstGeom>
          <a:noFill/>
          <a:ln/>
        </p:spPr>
        <p:txBody>
          <a:bodyPr wrap="square" lIns="0" tIns="0" rIns="0" bIns="0" rtlCol="0" anchor="t"/>
          <a:lstStyle/>
          <a:p>
            <a:pPr indent="0" marL="0">
              <a:buNone/>
            </a:pPr>
            <a:r>
              <a:rPr lang="en-GB" altLang="en-US" sz="1300" dirty="0">
                <a:solidFill>
                  <a:schemeClr val="tx2"/>
                </a:solidFill>
              </a:rPr>
              <a:t>Creators matched to the festival and checked for real audiences.</a:t>
            </a:r>
            <a:endParaRPr lang="en-GB" sz="1300" dirty="0"/>
          </a:p>
        </p:txBody>
      </p:sp>
      <p:sp>
        <p:nvSpPr>
          <p:cNvPr id="13" name="Text 8"/>
          <p:cNvSpPr txBox="1"/>
          <p:nvPr/>
        </p:nvSpPr>
        <p:spPr>
          <a:xfrm>
            <a:off x="777240" y="4069080"/>
            <a:ext cx="1600200" cy="256032"/>
          </a:xfrm>
          <a:prstGeom prst="rect">
            <a:avLst/>
          </a:prstGeom>
          <a:noFill/>
          <a:ln/>
        </p:spPr>
        <p:txBody>
          <a:bodyPr wrap="square" lIns="0" tIns="0" rIns="0" bIns="0" rtlCol="0" anchor="t"/>
          <a:lstStyle/>
          <a:p>
            <a:pPr indent="0" marL="0">
              <a:buNone/>
            </a:pPr>
            <a:r>
              <a:rPr lang="en-GB" altLang="en-US" sz="1300" b="1" i="1" dirty="0">
                <a:solidFill>
                  <a:schemeClr val="accent3"/>
                </a:solidFill>
              </a:rPr>
              <a:t>and more…</a:t>
            </a:r>
            <a:endParaRPr lang="en-GB" sz="1300" dirty="0"/>
          </a:p>
        </p:txBody>
      </p:sp>
      <p:sp>
        <p:nvSpPr>
          <p:cNvPr id="14" name="Shape 9"/>
          <p:cNvSpPr/>
          <p:nvPr/>
        </p:nvSpPr>
        <p:spPr>
          <a:xfrm>
            <a:off x="2560320" y="2240280"/>
            <a:ext cx="228600" cy="0"/>
          </a:xfrm>
          <a:prstGeom prst="line">
            <a:avLst/>
          </a:prstGeom>
          <a:noFill/>
          <a:ln w="25400">
            <a:solidFill>
              <a:schemeClr val="accent1"/>
            </a:solidFill>
            <a:prstDash val="solid"/>
            <a:tailEnd type="triangle"/>
          </a:ln>
        </p:spPr>
      </p:sp>
      <p:sp>
        <p:nvSpPr>
          <p:cNvPr id="15" name="Shape 10"/>
          <p:cNvSpPr/>
          <p:nvPr/>
        </p:nvSpPr>
        <p:spPr>
          <a:xfrm>
            <a:off x="2830068"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16" name="Shape 11"/>
          <p:cNvSpPr/>
          <p:nvPr/>
        </p:nvSpPr>
        <p:spPr>
          <a:xfrm>
            <a:off x="3058668" y="2011680"/>
            <a:ext cx="457200" cy="457200"/>
          </a:xfrm>
          <a:prstGeom prst="ellipse">
            <a:avLst/>
          </a:prstGeom>
          <a:solidFill>
            <a:schemeClr val="accent1"/>
          </a:solidFill>
          <a:ln/>
        </p:spPr>
      </p:sp>
      <p:sp>
        <p:nvSpPr>
          <p:cNvPr id="17" name="Text 12"/>
          <p:cNvSpPr txBox="1"/>
          <p:nvPr/>
        </p:nvSpPr>
        <p:spPr>
          <a:xfrm>
            <a:off x="3058668" y="20116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2</a:t>
            </a:r>
            <a:endParaRPr lang="en-GB" sz="1400" dirty="0"/>
          </a:p>
        </p:txBody>
      </p:sp>
      <p:sp>
        <p:nvSpPr>
          <p:cNvPr id="18" name="Text 13"/>
          <p:cNvSpPr txBox="1"/>
          <p:nvPr/>
        </p:nvSpPr>
        <p:spPr>
          <a:xfrm>
            <a:off x="3058668" y="2651760"/>
            <a:ext cx="1645920" cy="365760"/>
          </a:xfrm>
          <a:prstGeom prst="rect">
            <a:avLst/>
          </a:prstGeom>
          <a:noFill/>
          <a:ln/>
        </p:spPr>
        <p:txBody>
          <a:bodyPr wrap="square" lIns="0" tIns="0" rIns="0" bIns="0" rtlCol="0" anchor="t"/>
          <a:lstStyle/>
          <a:p>
            <a:pPr indent="0" marL="0">
              <a:buNone/>
            </a:pPr>
            <a:r>
              <a:rPr lang="en-GB" altLang="en-US" sz="1900" dirty="0">
                <a:solidFill>
                  <a:schemeClr val="tx1"/>
                </a:solidFill>
                <a:latin typeface="+mj-lt" pitchFamily="34" charset="0"/>
                <a:ea typeface="+mj-lt" pitchFamily="34" charset="-122"/>
                <a:cs typeface="+mj-lt" pitchFamily="34" charset="-120"/>
              </a:rPr>
              <a:t>Contract</a:t>
            </a:r>
            <a:endParaRPr lang="en-GB" sz="1900" dirty="0"/>
          </a:p>
        </p:txBody>
      </p:sp>
      <p:sp>
        <p:nvSpPr>
          <p:cNvPr id="19" name="Text 14"/>
          <p:cNvSpPr txBox="1"/>
          <p:nvPr/>
        </p:nvSpPr>
        <p:spPr>
          <a:xfrm>
            <a:off x="3058668" y="3063240"/>
            <a:ext cx="1600200" cy="914400"/>
          </a:xfrm>
          <a:prstGeom prst="rect">
            <a:avLst/>
          </a:prstGeom>
          <a:noFill/>
          <a:ln/>
        </p:spPr>
        <p:txBody>
          <a:bodyPr wrap="square" lIns="0" tIns="0" rIns="0" bIns="0" rtlCol="0" anchor="t"/>
          <a:lstStyle/>
          <a:p>
            <a:pPr indent="0" marL="0">
              <a:buNone/>
            </a:pPr>
            <a:r>
              <a:rPr lang="en-GB" altLang="en-US" sz="1300" dirty="0">
                <a:solidFill>
                  <a:schemeClr val="tx2"/>
                </a:solidFill>
              </a:rPr>
              <a:t>Deliverables, timing and usage rights agreed in writing.</a:t>
            </a:r>
            <a:endParaRPr lang="en-GB" sz="1300" dirty="0"/>
          </a:p>
        </p:txBody>
      </p:sp>
      <p:sp>
        <p:nvSpPr>
          <p:cNvPr id="20" name="Text 15"/>
          <p:cNvSpPr txBox="1"/>
          <p:nvPr/>
        </p:nvSpPr>
        <p:spPr>
          <a:xfrm>
            <a:off x="3058668" y="4069080"/>
            <a:ext cx="1600200" cy="256032"/>
          </a:xfrm>
          <a:prstGeom prst="rect">
            <a:avLst/>
          </a:prstGeom>
          <a:noFill/>
          <a:ln/>
        </p:spPr>
        <p:txBody>
          <a:bodyPr wrap="square" lIns="0" tIns="0" rIns="0" bIns="0" rtlCol="0" anchor="t"/>
          <a:lstStyle/>
          <a:p>
            <a:pPr indent="0" marL="0">
              <a:buNone/>
            </a:pPr>
            <a:r>
              <a:rPr lang="en-GB" altLang="en-US" sz="1300" b="1" i="1" dirty="0">
                <a:solidFill>
                  <a:schemeClr val="accent3"/>
                </a:solidFill>
              </a:rPr>
              <a:t>and more…</a:t>
            </a:r>
            <a:endParaRPr lang="en-GB" sz="1300" dirty="0"/>
          </a:p>
        </p:txBody>
      </p:sp>
      <p:sp>
        <p:nvSpPr>
          <p:cNvPr id="21" name="Shape 16"/>
          <p:cNvSpPr/>
          <p:nvPr/>
        </p:nvSpPr>
        <p:spPr>
          <a:xfrm>
            <a:off x="4841748" y="2240280"/>
            <a:ext cx="228600" cy="0"/>
          </a:xfrm>
          <a:prstGeom prst="line">
            <a:avLst/>
          </a:prstGeom>
          <a:noFill/>
          <a:ln w="25400">
            <a:solidFill>
              <a:schemeClr val="accent1"/>
            </a:solidFill>
            <a:prstDash val="solid"/>
            <a:tailEnd type="triangle"/>
          </a:ln>
        </p:spPr>
      </p:sp>
      <p:sp>
        <p:nvSpPr>
          <p:cNvPr id="22" name="Shape 17"/>
          <p:cNvSpPr/>
          <p:nvPr/>
        </p:nvSpPr>
        <p:spPr>
          <a:xfrm>
            <a:off x="5111496"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23" name="Shape 18"/>
          <p:cNvSpPr/>
          <p:nvPr/>
        </p:nvSpPr>
        <p:spPr>
          <a:xfrm>
            <a:off x="5340096" y="2011680"/>
            <a:ext cx="457200" cy="457200"/>
          </a:xfrm>
          <a:prstGeom prst="ellipse">
            <a:avLst/>
          </a:prstGeom>
          <a:solidFill>
            <a:schemeClr val="accent1"/>
          </a:solidFill>
          <a:ln/>
        </p:spPr>
      </p:sp>
      <p:sp>
        <p:nvSpPr>
          <p:cNvPr id="24" name="Text 19"/>
          <p:cNvSpPr txBox="1"/>
          <p:nvPr/>
        </p:nvSpPr>
        <p:spPr>
          <a:xfrm>
            <a:off x="5340096" y="20116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3</a:t>
            </a:r>
            <a:endParaRPr lang="en-GB" sz="1400" dirty="0"/>
          </a:p>
        </p:txBody>
      </p:sp>
      <p:sp>
        <p:nvSpPr>
          <p:cNvPr id="25" name="Text 20"/>
          <p:cNvSpPr txBox="1"/>
          <p:nvPr/>
        </p:nvSpPr>
        <p:spPr>
          <a:xfrm>
            <a:off x="5340096" y="2651760"/>
            <a:ext cx="1645920" cy="365760"/>
          </a:xfrm>
          <a:prstGeom prst="rect">
            <a:avLst/>
          </a:prstGeom>
          <a:noFill/>
          <a:ln/>
        </p:spPr>
        <p:txBody>
          <a:bodyPr wrap="square" lIns="0" tIns="0" rIns="0" bIns="0" rtlCol="0" anchor="t"/>
          <a:lstStyle/>
          <a:p>
            <a:pPr indent="0" marL="0">
              <a:buNone/>
            </a:pPr>
            <a:r>
              <a:rPr lang="en-GB" altLang="en-US" sz="1900" dirty="0">
                <a:solidFill>
                  <a:schemeClr val="tx1"/>
                </a:solidFill>
                <a:latin typeface="+mj-lt" pitchFamily="34" charset="0"/>
                <a:ea typeface="+mj-lt" pitchFamily="34" charset="-122"/>
                <a:cs typeface="+mj-lt" pitchFamily="34" charset="-120"/>
              </a:rPr>
              <a:t>Brief</a:t>
            </a:r>
            <a:endParaRPr lang="en-GB" sz="1900" dirty="0"/>
          </a:p>
        </p:txBody>
      </p:sp>
      <p:sp>
        <p:nvSpPr>
          <p:cNvPr id="26" name="Text 21"/>
          <p:cNvSpPr txBox="1"/>
          <p:nvPr/>
        </p:nvSpPr>
        <p:spPr>
          <a:xfrm>
            <a:off x="5340096" y="3063240"/>
            <a:ext cx="1600200" cy="914400"/>
          </a:xfrm>
          <a:prstGeom prst="rect">
            <a:avLst/>
          </a:prstGeom>
          <a:noFill/>
          <a:ln/>
        </p:spPr>
        <p:txBody>
          <a:bodyPr wrap="square" lIns="0" tIns="0" rIns="0" bIns="0" rtlCol="0" anchor="t"/>
          <a:lstStyle/>
          <a:p>
            <a:pPr indent="0" marL="0">
              <a:buNone/>
            </a:pPr>
            <a:r>
              <a:rPr lang="en-GB" altLang="en-US" sz="1300" dirty="0">
                <a:solidFill>
                  <a:schemeClr val="tx2"/>
                </a:solidFill>
              </a:rPr>
              <a:t>Key messages, hashtags, the ticket link and sponsor mentions.</a:t>
            </a:r>
            <a:endParaRPr lang="en-GB" sz="1300" dirty="0"/>
          </a:p>
        </p:txBody>
      </p:sp>
      <p:sp>
        <p:nvSpPr>
          <p:cNvPr id="27" name="Text 22"/>
          <p:cNvSpPr txBox="1"/>
          <p:nvPr/>
        </p:nvSpPr>
        <p:spPr>
          <a:xfrm>
            <a:off x="5340096" y="4069080"/>
            <a:ext cx="1600200" cy="256032"/>
          </a:xfrm>
          <a:prstGeom prst="rect">
            <a:avLst/>
          </a:prstGeom>
          <a:noFill/>
          <a:ln/>
        </p:spPr>
        <p:txBody>
          <a:bodyPr wrap="square" lIns="0" tIns="0" rIns="0" bIns="0" rtlCol="0" anchor="t"/>
          <a:lstStyle/>
          <a:p>
            <a:pPr indent="0" marL="0">
              <a:buNone/>
            </a:pPr>
            <a:r>
              <a:rPr lang="en-GB" altLang="en-US" sz="1300" b="1" i="1" dirty="0">
                <a:solidFill>
                  <a:schemeClr val="accent3"/>
                </a:solidFill>
              </a:rPr>
              <a:t>and more…</a:t>
            </a:r>
            <a:endParaRPr lang="en-GB" sz="1300" dirty="0"/>
          </a:p>
        </p:txBody>
      </p:sp>
      <p:sp>
        <p:nvSpPr>
          <p:cNvPr id="28" name="Shape 23"/>
          <p:cNvSpPr/>
          <p:nvPr/>
        </p:nvSpPr>
        <p:spPr>
          <a:xfrm>
            <a:off x="7123176" y="2240280"/>
            <a:ext cx="228600" cy="0"/>
          </a:xfrm>
          <a:prstGeom prst="line">
            <a:avLst/>
          </a:prstGeom>
          <a:noFill/>
          <a:ln w="25400">
            <a:solidFill>
              <a:schemeClr val="accent1"/>
            </a:solidFill>
            <a:prstDash val="solid"/>
            <a:tailEnd type="triangle"/>
          </a:ln>
        </p:spPr>
      </p:sp>
      <p:sp>
        <p:nvSpPr>
          <p:cNvPr id="29" name="Shape 24"/>
          <p:cNvSpPr/>
          <p:nvPr/>
        </p:nvSpPr>
        <p:spPr>
          <a:xfrm>
            <a:off x="7392924"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30" name="Shape 25"/>
          <p:cNvSpPr/>
          <p:nvPr/>
        </p:nvSpPr>
        <p:spPr>
          <a:xfrm>
            <a:off x="7621524" y="2011680"/>
            <a:ext cx="457200" cy="457200"/>
          </a:xfrm>
          <a:prstGeom prst="ellipse">
            <a:avLst/>
          </a:prstGeom>
          <a:solidFill>
            <a:schemeClr val="accent1"/>
          </a:solidFill>
          <a:ln/>
        </p:spPr>
      </p:sp>
      <p:sp>
        <p:nvSpPr>
          <p:cNvPr id="31" name="Text 26"/>
          <p:cNvSpPr txBox="1"/>
          <p:nvPr/>
        </p:nvSpPr>
        <p:spPr>
          <a:xfrm>
            <a:off x="7621524" y="20116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4</a:t>
            </a:r>
            <a:endParaRPr lang="en-GB" sz="1400" dirty="0"/>
          </a:p>
        </p:txBody>
      </p:sp>
      <p:sp>
        <p:nvSpPr>
          <p:cNvPr id="32" name="Text 27"/>
          <p:cNvSpPr txBox="1"/>
          <p:nvPr/>
        </p:nvSpPr>
        <p:spPr>
          <a:xfrm>
            <a:off x="7621524" y="2651760"/>
            <a:ext cx="1645920" cy="365760"/>
          </a:xfrm>
          <a:prstGeom prst="rect">
            <a:avLst/>
          </a:prstGeom>
          <a:noFill/>
          <a:ln/>
        </p:spPr>
        <p:txBody>
          <a:bodyPr wrap="square" lIns="0" tIns="0" rIns="0" bIns="0" rtlCol="0" anchor="t"/>
          <a:lstStyle/>
          <a:p>
            <a:pPr indent="0" marL="0">
              <a:buNone/>
            </a:pPr>
            <a:r>
              <a:rPr lang="en-GB" altLang="en-US" sz="1900" dirty="0">
                <a:solidFill>
                  <a:schemeClr val="tx1"/>
                </a:solidFill>
                <a:latin typeface="+mj-lt" pitchFamily="34" charset="0"/>
                <a:ea typeface="+mj-lt" pitchFamily="34" charset="-122"/>
                <a:cs typeface="+mj-lt" pitchFamily="34" charset="-120"/>
              </a:rPr>
              <a:t>Accredit</a:t>
            </a:r>
            <a:endParaRPr lang="en-GB" sz="1900" dirty="0"/>
          </a:p>
        </p:txBody>
      </p:sp>
      <p:sp>
        <p:nvSpPr>
          <p:cNvPr id="33" name="Text 28"/>
          <p:cNvSpPr txBox="1"/>
          <p:nvPr/>
        </p:nvSpPr>
        <p:spPr>
          <a:xfrm>
            <a:off x="7621524" y="3063240"/>
            <a:ext cx="1600200" cy="914400"/>
          </a:xfrm>
          <a:prstGeom prst="rect">
            <a:avLst/>
          </a:prstGeom>
          <a:noFill/>
          <a:ln/>
        </p:spPr>
        <p:txBody>
          <a:bodyPr wrap="square" lIns="0" tIns="0" rIns="0" bIns="0" rtlCol="0" anchor="t"/>
          <a:lstStyle/>
          <a:p>
            <a:pPr indent="0" marL="0">
              <a:buNone/>
            </a:pPr>
            <a:r>
              <a:rPr lang="en-GB" altLang="en-US" sz="1300" dirty="0">
                <a:solidFill>
                  <a:schemeClr val="tx2"/>
                </a:solidFill>
              </a:rPr>
              <a:t>Passes, access zones and arrival times for both nights.</a:t>
            </a:r>
            <a:endParaRPr lang="en-GB" sz="1300" dirty="0"/>
          </a:p>
        </p:txBody>
      </p:sp>
      <p:sp>
        <p:nvSpPr>
          <p:cNvPr id="34" name="Text 29"/>
          <p:cNvSpPr txBox="1"/>
          <p:nvPr/>
        </p:nvSpPr>
        <p:spPr>
          <a:xfrm>
            <a:off x="7621524" y="4069080"/>
            <a:ext cx="1600200" cy="256032"/>
          </a:xfrm>
          <a:prstGeom prst="rect">
            <a:avLst/>
          </a:prstGeom>
          <a:noFill/>
          <a:ln/>
        </p:spPr>
        <p:txBody>
          <a:bodyPr wrap="square" lIns="0" tIns="0" rIns="0" bIns="0" rtlCol="0" anchor="t"/>
          <a:lstStyle/>
          <a:p>
            <a:pPr indent="0" marL="0">
              <a:buNone/>
            </a:pPr>
            <a:r>
              <a:rPr lang="en-GB" altLang="en-US" sz="1300" b="1" i="1" dirty="0">
                <a:solidFill>
                  <a:schemeClr val="accent3"/>
                </a:solidFill>
              </a:rPr>
              <a:t>and more…</a:t>
            </a:r>
            <a:endParaRPr lang="en-GB" sz="1300" dirty="0"/>
          </a:p>
        </p:txBody>
      </p:sp>
      <p:sp>
        <p:nvSpPr>
          <p:cNvPr id="35" name="Shape 30"/>
          <p:cNvSpPr/>
          <p:nvPr/>
        </p:nvSpPr>
        <p:spPr>
          <a:xfrm>
            <a:off x="9404604" y="2240280"/>
            <a:ext cx="228600" cy="0"/>
          </a:xfrm>
          <a:prstGeom prst="line">
            <a:avLst/>
          </a:prstGeom>
          <a:noFill/>
          <a:ln w="25400">
            <a:solidFill>
              <a:schemeClr val="accent1"/>
            </a:solidFill>
            <a:prstDash val="solid"/>
            <a:tailEnd type="triangle"/>
          </a:ln>
        </p:spPr>
      </p:sp>
      <p:sp>
        <p:nvSpPr>
          <p:cNvPr id="36" name="Shape 31"/>
          <p:cNvSpPr/>
          <p:nvPr/>
        </p:nvSpPr>
        <p:spPr>
          <a:xfrm>
            <a:off x="9674352" y="1783080"/>
            <a:ext cx="1965960" cy="2697480"/>
          </a:xfrm>
          <a:prstGeom prst="roundRect">
            <a:avLst>
              <a:gd name="adj" fmla="val 4651"/>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37" name="Shape 32"/>
          <p:cNvSpPr/>
          <p:nvPr/>
        </p:nvSpPr>
        <p:spPr>
          <a:xfrm>
            <a:off x="9902952" y="2011680"/>
            <a:ext cx="457200" cy="457200"/>
          </a:xfrm>
          <a:prstGeom prst="ellipse">
            <a:avLst/>
          </a:prstGeom>
          <a:solidFill>
            <a:schemeClr val="accent1"/>
          </a:solidFill>
          <a:ln/>
        </p:spPr>
      </p:sp>
      <p:sp>
        <p:nvSpPr>
          <p:cNvPr id="38" name="Text 33"/>
          <p:cNvSpPr txBox="1"/>
          <p:nvPr/>
        </p:nvSpPr>
        <p:spPr>
          <a:xfrm>
            <a:off x="9902952" y="20116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5</a:t>
            </a:r>
            <a:endParaRPr lang="en-GB" sz="1400" dirty="0"/>
          </a:p>
        </p:txBody>
      </p:sp>
      <p:sp>
        <p:nvSpPr>
          <p:cNvPr id="39" name="Text 34"/>
          <p:cNvSpPr txBox="1"/>
          <p:nvPr/>
        </p:nvSpPr>
        <p:spPr>
          <a:xfrm>
            <a:off x="9902952" y="2651760"/>
            <a:ext cx="1645920" cy="365760"/>
          </a:xfrm>
          <a:prstGeom prst="rect">
            <a:avLst/>
          </a:prstGeom>
          <a:noFill/>
          <a:ln/>
        </p:spPr>
        <p:txBody>
          <a:bodyPr wrap="square" lIns="0" tIns="0" rIns="0" bIns="0" rtlCol="0" anchor="t"/>
          <a:lstStyle/>
          <a:p>
            <a:pPr indent="0" marL="0">
              <a:buNone/>
            </a:pPr>
            <a:r>
              <a:rPr lang="en-GB" altLang="en-US" sz="1900" dirty="0">
                <a:solidFill>
                  <a:schemeClr val="tx1"/>
                </a:solidFill>
                <a:latin typeface="+mj-lt" pitchFamily="34" charset="0"/>
                <a:ea typeface="+mj-lt" pitchFamily="34" charset="-122"/>
                <a:cs typeface="+mj-lt" pitchFamily="34" charset="-120"/>
              </a:rPr>
              <a:t>Check and post</a:t>
            </a:r>
            <a:endParaRPr lang="en-GB" sz="1900" dirty="0"/>
          </a:p>
        </p:txBody>
      </p:sp>
      <p:sp>
        <p:nvSpPr>
          <p:cNvPr id="40" name="Text 35"/>
          <p:cNvSpPr txBox="1"/>
          <p:nvPr/>
        </p:nvSpPr>
        <p:spPr>
          <a:xfrm>
            <a:off x="9902952" y="3063240"/>
            <a:ext cx="1600200" cy="914400"/>
          </a:xfrm>
          <a:prstGeom prst="rect">
            <a:avLst/>
          </a:prstGeom>
          <a:noFill/>
          <a:ln/>
        </p:spPr>
        <p:txBody>
          <a:bodyPr wrap="square" lIns="0" tIns="0" rIns="0" bIns="0" rtlCol="0" anchor="t"/>
          <a:lstStyle/>
          <a:p>
            <a:pPr indent="0" marL="0">
              <a:buNone/>
            </a:pPr>
            <a:r>
              <a:rPr lang="en-GB" altLang="en-US" sz="1300" dirty="0">
                <a:solidFill>
                  <a:schemeClr val="tx2"/>
                </a:solidFill>
              </a:rPr>
              <a:t>Drafts checked against the brief, then posted to the calendar.</a:t>
            </a:r>
            <a:endParaRPr lang="en-GB" sz="1300" dirty="0"/>
          </a:p>
        </p:txBody>
      </p:sp>
      <p:sp>
        <p:nvSpPr>
          <p:cNvPr id="41" name="Text 36"/>
          <p:cNvSpPr txBox="1"/>
          <p:nvPr/>
        </p:nvSpPr>
        <p:spPr>
          <a:xfrm>
            <a:off x="9902952" y="4069080"/>
            <a:ext cx="1600200" cy="256032"/>
          </a:xfrm>
          <a:prstGeom prst="rect">
            <a:avLst/>
          </a:prstGeom>
          <a:noFill/>
          <a:ln/>
        </p:spPr>
        <p:txBody>
          <a:bodyPr wrap="square" lIns="0" tIns="0" rIns="0" bIns="0" rtlCol="0" anchor="t"/>
          <a:lstStyle/>
          <a:p>
            <a:pPr indent="0" marL="0">
              <a:buNone/>
            </a:pPr>
            <a:r>
              <a:rPr lang="en-GB" altLang="en-US" sz="1300" b="1" i="1" dirty="0">
                <a:solidFill>
                  <a:schemeClr val="accent3"/>
                </a:solidFill>
              </a:rPr>
              <a:t>and more…</a:t>
            </a:r>
            <a:endParaRPr lang="en-GB" sz="1300" dirty="0"/>
          </a:p>
        </p:txBody>
      </p:sp>
      <p:sp>
        <p:nvSpPr>
          <p:cNvPr id="42" name="Shape 37"/>
          <p:cNvSpPr/>
          <p:nvPr/>
        </p:nvSpPr>
        <p:spPr>
          <a:xfrm>
            <a:off x="548640" y="4709160"/>
            <a:ext cx="5486400" cy="1463040"/>
          </a:xfrm>
          <a:prstGeom prst="roundRect">
            <a:avLst>
              <a:gd name="adj" fmla="val 6250"/>
            </a:avLst>
          </a:prstGeom>
          <a:solidFill>
            <a:schemeClr val="tx1"/>
          </a:solidFill>
          <a:ln/>
        </p:spPr>
      </p:sp>
      <p:sp>
        <p:nvSpPr>
          <p:cNvPr id="43" name="Text 38"/>
          <p:cNvSpPr txBox="1"/>
          <p:nvPr/>
        </p:nvSpPr>
        <p:spPr>
          <a:xfrm>
            <a:off x="822960" y="4846320"/>
            <a:ext cx="4572000"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AFTER THE FESTIVAL</a:t>
            </a:r>
            <a:endParaRPr lang="en-GB" sz="1100" dirty="0"/>
          </a:p>
        </p:txBody>
      </p:sp>
      <p:sp>
        <p:nvSpPr>
          <p:cNvPr id="44" name="Text 39"/>
          <p:cNvSpPr txBox="1"/>
          <p:nvPr/>
        </p:nvSpPr>
        <p:spPr>
          <a:xfrm>
            <a:off x="822960" y="5138928"/>
            <a:ext cx="5029200" cy="548640"/>
          </a:xfrm>
          <a:prstGeom prst="rect">
            <a:avLst/>
          </a:prstGeom>
          <a:noFill/>
          <a:ln/>
        </p:spPr>
        <p:txBody>
          <a:bodyPr wrap="square" lIns="0" tIns="0" rIns="0" bIns="0" rtlCol="0" anchor="t"/>
          <a:lstStyle/>
          <a:p>
            <a:pPr marL="177800" indent="-177800">
              <a:spcAft>
                <a:spcPts val="400"/>
              </a:spcAft>
              <a:buSzPct val="100000"/>
              <a:buChar char="•"/>
            </a:pPr>
            <a:r>
              <a:rPr lang="en-GB" altLang="en-US" sz="1300" dirty="0">
                <a:solidFill>
                  <a:schemeClr val="bg1"/>
                </a:solidFill>
              </a:rPr>
              <a:t>Every creator checked against the brief within 48 hours</a:t>
            </a:r>
            <a:endParaRPr lang="en-GB" sz="1300" dirty="0"/>
          </a:p>
          <a:p>
            <a:pPr marL="177800" indent="-177800">
              <a:spcAft>
                <a:spcPts val="400"/>
              </a:spcAft>
              <a:buSzPct val="100000"/>
              <a:buChar char="•"/>
            </a:pPr>
            <a:r>
              <a:rPr lang="en-GB" altLang="en-US" sz="1300" dirty="0">
                <a:solidFill>
                  <a:schemeClr val="bg1"/>
                </a:solidFill>
              </a:rPr>
              <a:t>Analytics collected by screen recording, not screenshots</a:t>
            </a:r>
            <a:endParaRPr lang="en-GB" sz="1300" dirty="0"/>
          </a:p>
        </p:txBody>
      </p:sp>
      <p:sp>
        <p:nvSpPr>
          <p:cNvPr id="45" name="Text 40"/>
          <p:cNvSpPr txBox="1"/>
          <p:nvPr/>
        </p:nvSpPr>
        <p:spPr>
          <a:xfrm>
            <a:off x="822960" y="5760720"/>
            <a:ext cx="2743200" cy="256032"/>
          </a:xfrm>
          <a:prstGeom prst="rect">
            <a:avLst/>
          </a:prstGeom>
          <a:noFill/>
          <a:ln/>
        </p:spPr>
        <p:txBody>
          <a:bodyPr wrap="square" lIns="0" tIns="0" rIns="0" bIns="0" rtlCol="0" anchor="t"/>
          <a:lstStyle/>
          <a:p>
            <a:pPr indent="0" marL="0">
              <a:buNone/>
            </a:pPr>
            <a:r>
              <a:rPr lang="en-GB" altLang="en-US" sz="1300" b="1" i="1" dirty="0">
                <a:solidFill>
                  <a:schemeClr val="accent1"/>
                </a:solidFill>
              </a:rPr>
              <a:t>and more…</a:t>
            </a:r>
            <a:endParaRPr lang="en-GB" sz="1300" dirty="0"/>
          </a:p>
        </p:txBody>
      </p:sp>
      <p:pic>
        <p:nvPicPr>
          <p:cNvPr id="46" name="Image 2" descr="preencoded.png">    </p:cNvPr>
          <p:cNvPicPr>
            <a:picLocks noChangeAspect="1"/>
          </p:cNvPicPr>
          <p:nvPr/>
        </p:nvPicPr>
        <p:blipFill>
          <a:blip r:embed="rId3"/>
          <a:stretch>
            <a:fillRect/>
          </a:stretch>
        </p:blipFill>
        <p:spPr>
          <a:xfrm>
            <a:off x="6355080" y="4818888"/>
            <a:ext cx="274320" cy="274320"/>
          </a:xfrm>
          <a:prstGeom prst="rect">
            <a:avLst/>
          </a:prstGeom>
        </p:spPr>
      </p:pic>
      <p:sp>
        <p:nvSpPr>
          <p:cNvPr id="47" name="Text 41"/>
          <p:cNvSpPr txBox="1"/>
          <p:nvPr/>
        </p:nvSpPr>
        <p:spPr>
          <a:xfrm>
            <a:off x="6766560" y="4800600"/>
            <a:ext cx="4846320" cy="365760"/>
          </a:xfrm>
          <a:prstGeom prst="rect">
            <a:avLst/>
          </a:prstGeom>
          <a:noFill/>
          <a:ln/>
        </p:spPr>
        <p:txBody>
          <a:bodyPr wrap="square" lIns="0" tIns="0" rIns="0" bIns="0" rtlCol="0" anchor="t"/>
          <a:lstStyle/>
          <a:p>
            <a:pPr indent="0" marL="0">
              <a:buNone/>
            </a:pPr>
            <a:r>
              <a:rPr lang="en-GB" altLang="en-US" sz="1400" dirty="0">
                <a:solidFill>
                  <a:schemeClr val="tx1"/>
                </a:solidFill>
              </a:rPr>
              <a:t>One point of contact for the festival team</a:t>
            </a:r>
            <a:endParaRPr lang="en-GB" sz="1400" dirty="0"/>
          </a:p>
        </p:txBody>
      </p:sp>
      <p:pic>
        <p:nvPicPr>
          <p:cNvPr id="48" name="Image 3" descr="preencoded.png">    </p:cNvPr>
          <p:cNvPicPr>
            <a:picLocks noChangeAspect="1"/>
          </p:cNvPicPr>
          <p:nvPr/>
        </p:nvPicPr>
        <p:blipFill>
          <a:blip r:embed="rId4"/>
          <a:stretch>
            <a:fillRect/>
          </a:stretch>
        </p:blipFill>
        <p:spPr>
          <a:xfrm>
            <a:off x="6355080" y="5294376"/>
            <a:ext cx="274320" cy="274320"/>
          </a:xfrm>
          <a:prstGeom prst="rect">
            <a:avLst/>
          </a:prstGeom>
        </p:spPr>
      </p:pic>
      <p:sp>
        <p:nvSpPr>
          <p:cNvPr id="49" name="Text 42"/>
          <p:cNvSpPr txBox="1"/>
          <p:nvPr/>
        </p:nvSpPr>
        <p:spPr>
          <a:xfrm>
            <a:off x="6766560" y="5276088"/>
            <a:ext cx="4846320" cy="365760"/>
          </a:xfrm>
          <a:prstGeom prst="rect">
            <a:avLst/>
          </a:prstGeom>
          <a:noFill/>
          <a:ln/>
        </p:spPr>
        <p:txBody>
          <a:bodyPr wrap="square" lIns="0" tIns="0" rIns="0" bIns="0" rtlCol="0" anchor="t"/>
          <a:lstStyle/>
          <a:p>
            <a:pPr indent="0" marL="0">
              <a:buNone/>
            </a:pPr>
            <a:r>
              <a:rPr lang="en-GB" altLang="en-US" sz="1400" dirty="0">
                <a:solidFill>
                  <a:schemeClr val="tx1"/>
                </a:solidFill>
              </a:rPr>
              <a:t>A shared tracker of every creator and every post</a:t>
            </a:r>
            <a:endParaRPr lang="en-GB" sz="1400" dirty="0"/>
          </a:p>
        </p:txBody>
      </p:sp>
      <p:pic>
        <p:nvPicPr>
          <p:cNvPr id="50" name="Image 4" descr="preencoded.png">    </p:cNvPr>
          <p:cNvPicPr>
            <a:picLocks noChangeAspect="1"/>
          </p:cNvPicPr>
          <p:nvPr/>
        </p:nvPicPr>
        <p:blipFill>
          <a:blip r:embed="rId5"/>
          <a:stretch>
            <a:fillRect/>
          </a:stretch>
        </p:blipFill>
        <p:spPr>
          <a:xfrm>
            <a:off x="6355080" y="5769864"/>
            <a:ext cx="274320" cy="274320"/>
          </a:xfrm>
          <a:prstGeom prst="rect">
            <a:avLst/>
          </a:prstGeom>
        </p:spPr>
      </p:pic>
      <p:sp>
        <p:nvSpPr>
          <p:cNvPr id="51" name="Text 43"/>
          <p:cNvSpPr txBox="1"/>
          <p:nvPr/>
        </p:nvSpPr>
        <p:spPr>
          <a:xfrm>
            <a:off x="6766560" y="5751576"/>
            <a:ext cx="4846320" cy="365760"/>
          </a:xfrm>
          <a:prstGeom prst="rect">
            <a:avLst/>
          </a:prstGeom>
          <a:noFill/>
          <a:ln/>
        </p:spPr>
        <p:txBody>
          <a:bodyPr wrap="square" lIns="0" tIns="0" rIns="0" bIns="0" rtlCol="0" anchor="t"/>
          <a:lstStyle/>
          <a:p>
            <a:pPr indent="0" marL="0">
              <a:buNone/>
            </a:pPr>
            <a:r>
              <a:rPr lang="en-GB" altLang="en-US" sz="1400" dirty="0">
                <a:solidFill>
                  <a:schemeClr val="tx1"/>
                </a:solidFill>
              </a:rPr>
              <a:t>Brand safety rules agreed with you before anyone posts</a:t>
            </a:r>
            <a:endParaRPr lang="en-GB" sz="14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en-GB" altLang="en-US" sz="1000" dirty="0">
                <a:solidFill>
                  <a:schemeClr val="accent4"/>
                </a:solidFill>
              </a:rPr>
              <a:t>AToure Management &amp; Consulting</a:t>
            </a:r>
            <a:endParaRPr lang="en-GB"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1"/>
                </a:solidFill>
              </a:rPr>
              <a:t>VISIBILITY</a:t>
            </a:r>
            <a:endParaRPr lang="en-GB"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bg1"/>
                </a:solidFill>
              </a:rPr>
              <a:t>Visibility builds in three waves</a:t>
            </a:r>
            <a:endParaRPr lang="en-GB"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1"/>
                </a:solidFill>
              </a:rPr>
              <a:t>×</a:t>
            </a:r>
            <a:endParaRPr lang="en-GB"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sp>
        <p:nvSpPr>
          <p:cNvPr id="10" name="Shape 4"/>
          <p:cNvSpPr/>
          <p:nvPr/>
        </p:nvSpPr>
        <p:spPr>
          <a:xfrm>
            <a:off x="548640" y="1965960"/>
            <a:ext cx="11094415" cy="0"/>
          </a:xfrm>
          <a:prstGeom prst="line">
            <a:avLst/>
          </a:prstGeom>
          <a:noFill/>
          <a:ln w="19050">
            <a:solidFill>
              <a:schemeClr val="accent1"/>
            </a:solidFill>
            <a:prstDash val="solid"/>
          </a:ln>
        </p:spPr>
      </p:sp>
      <p:sp>
        <p:nvSpPr>
          <p:cNvPr id="11" name="Shape 5"/>
          <p:cNvSpPr/>
          <p:nvPr/>
        </p:nvSpPr>
        <p:spPr>
          <a:xfrm>
            <a:off x="777240" y="1828800"/>
            <a:ext cx="274320" cy="274320"/>
          </a:xfrm>
          <a:prstGeom prst="ellipse">
            <a:avLst/>
          </a:prstGeom>
          <a:solidFill>
            <a:schemeClr val="accent1"/>
          </a:solidFill>
          <a:ln/>
        </p:spPr>
      </p:sp>
      <p:sp>
        <p:nvSpPr>
          <p:cNvPr id="12" name="Shape 6"/>
          <p:cNvSpPr/>
          <p:nvPr/>
        </p:nvSpPr>
        <p:spPr>
          <a:xfrm>
            <a:off x="548640" y="2286000"/>
            <a:ext cx="4218127" cy="2971800"/>
          </a:xfrm>
          <a:prstGeom prst="roundRect">
            <a:avLst>
              <a:gd name="adj" fmla="val 3077"/>
            </a:avLst>
          </a:prstGeom>
          <a:solidFill>
            <a:schemeClr val="accent6"/>
          </a:solidFill>
          <a:ln/>
        </p:spPr>
      </p:sp>
      <p:sp>
        <p:nvSpPr>
          <p:cNvPr id="13" name="Text 7"/>
          <p:cNvSpPr txBox="1"/>
          <p:nvPr/>
        </p:nvSpPr>
        <p:spPr>
          <a:xfrm>
            <a:off x="822960" y="2542032"/>
            <a:ext cx="3669487"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23 NOV TO 26 DEC</a:t>
            </a:r>
            <a:endParaRPr lang="en-GB" sz="1100" dirty="0"/>
          </a:p>
        </p:txBody>
      </p:sp>
      <p:sp>
        <p:nvSpPr>
          <p:cNvPr id="14" name="Text 8"/>
          <p:cNvSpPr txBox="1"/>
          <p:nvPr/>
        </p:nvSpPr>
        <p:spPr>
          <a:xfrm>
            <a:off x="822960" y="2852928"/>
            <a:ext cx="3669487" cy="457200"/>
          </a:xfrm>
          <a:prstGeom prst="rect">
            <a:avLst/>
          </a:prstGeom>
          <a:noFill/>
          <a:ln/>
        </p:spPr>
        <p:txBody>
          <a:bodyPr wrap="square" lIns="0" tIns="0" rIns="0" bIns="0" rtlCol="0" anchor="t"/>
          <a:lstStyle/>
          <a:p>
            <a:pPr indent="0" marL="0">
              <a:buNone/>
            </a:pPr>
            <a:r>
              <a:rPr lang="en-GB" altLang="en-US" sz="2600" dirty="0">
                <a:solidFill>
                  <a:schemeClr val="bg1"/>
                </a:solidFill>
                <a:latin typeface="+mj-lt" pitchFamily="34" charset="0"/>
                <a:ea typeface="+mj-lt" pitchFamily="34" charset="-122"/>
                <a:cs typeface="+mj-lt" pitchFamily="34" charset="-120"/>
              </a:rPr>
              <a:t>Build up</a:t>
            </a:r>
            <a:endParaRPr lang="en-GB" sz="2600" dirty="0"/>
          </a:p>
        </p:txBody>
      </p:sp>
      <p:sp>
        <p:nvSpPr>
          <p:cNvPr id="15" name="Text 9"/>
          <p:cNvSpPr txBox="1"/>
          <p:nvPr/>
        </p:nvSpPr>
        <p:spPr>
          <a:xfrm>
            <a:off x="822960" y="3383280"/>
            <a:ext cx="3669487" cy="320040"/>
          </a:xfrm>
          <a:prstGeom prst="rect">
            <a:avLst/>
          </a:prstGeom>
          <a:noFill/>
          <a:ln/>
        </p:spPr>
        <p:txBody>
          <a:bodyPr wrap="square" lIns="0" tIns="0" rIns="0" bIns="0" rtlCol="0" anchor="t"/>
          <a:lstStyle/>
          <a:p>
            <a:pPr indent="0" marL="0">
              <a:buNone/>
            </a:pPr>
            <a:r>
              <a:rPr lang="en-GB" altLang="en-US" sz="1400" b="1" dirty="0">
                <a:solidFill>
                  <a:schemeClr val="accent4"/>
                </a:solidFill>
              </a:rPr>
              <a:t>Goal: awareness and ticket sales</a:t>
            </a:r>
            <a:endParaRPr lang="en-GB" sz="1400" dirty="0"/>
          </a:p>
        </p:txBody>
      </p:sp>
      <p:sp>
        <p:nvSpPr>
          <p:cNvPr id="16" name="Text 10"/>
          <p:cNvSpPr txBox="1"/>
          <p:nvPr/>
        </p:nvSpPr>
        <p:spPr>
          <a:xfrm>
            <a:off x="822960" y="3840480"/>
            <a:ext cx="3669487" cy="1325880"/>
          </a:xfrm>
          <a:prstGeom prst="rect">
            <a:avLst/>
          </a:prstGeom>
          <a:noFill/>
          <a:ln/>
        </p:spPr>
        <p:txBody>
          <a:bodyPr wrap="square" lIns="0" tIns="0" rIns="0" bIns="0" rtlCol="0" anchor="t"/>
          <a:lstStyle/>
          <a:p>
            <a:pPr marL="177800" indent="-177800">
              <a:spcAft>
                <a:spcPts val="600"/>
              </a:spcAft>
              <a:buSzPct val="100000"/>
              <a:buChar char="•"/>
            </a:pPr>
            <a:r>
              <a:rPr lang="en-GB" altLang="en-US" sz="1300" dirty="0">
                <a:solidFill>
                  <a:schemeClr val="accent5"/>
                </a:solidFill>
              </a:rPr>
              <a:t>Creator lineup announced</a:t>
            </a:r>
            <a:endParaRPr lang="en-GB" sz="1300" dirty="0"/>
          </a:p>
          <a:p>
            <a:pPr marL="177800" indent="-177800">
              <a:spcAft>
                <a:spcPts val="600"/>
              </a:spcAft>
              <a:buSzPct val="100000"/>
              <a:buChar char="•"/>
            </a:pPr>
            <a:r>
              <a:rPr lang="en-GB" altLang="en-US" sz="1300" dirty="0">
                <a:solidFill>
                  <a:schemeClr val="accent5"/>
                </a:solidFill>
              </a:rPr>
              <a:t>Davido countdown</a:t>
            </a:r>
            <a:endParaRPr lang="en-GB" sz="1300" dirty="0"/>
          </a:p>
          <a:p>
            <a:pPr marL="177800" indent="-177800">
              <a:spcAft>
                <a:spcPts val="600"/>
              </a:spcAft>
              <a:buSzPct val="100000"/>
              <a:buChar char="•"/>
            </a:pPr>
            <a:r>
              <a:rPr lang="en-GB" altLang="en-US" sz="1300" dirty="0">
                <a:solidFill>
                  <a:schemeClr val="accent5"/>
                </a:solidFill>
              </a:rPr>
              <a:t>Weekly ticket pushes with tracked links</a:t>
            </a:r>
            <a:endParaRPr lang="en-GB" sz="1300" dirty="0"/>
          </a:p>
          <a:p>
            <a:pPr marL="177800" indent="-177800">
              <a:spcAft>
                <a:spcPts val="600"/>
              </a:spcAft>
              <a:buSzPct val="100000"/>
              <a:buChar char="•"/>
            </a:pPr>
            <a:r>
              <a:rPr lang="en-GB" altLang="en-US" sz="1300" dirty="0">
                <a:solidFill>
                  <a:schemeClr val="accent5"/>
                </a:solidFill>
              </a:rPr>
              <a:t>A last call before Christmas</a:t>
            </a:r>
            <a:endParaRPr lang="en-GB" sz="1300" dirty="0"/>
          </a:p>
        </p:txBody>
      </p:sp>
      <p:sp>
        <p:nvSpPr>
          <p:cNvPr id="17" name="Shape 11"/>
          <p:cNvSpPr/>
          <p:nvPr/>
        </p:nvSpPr>
        <p:spPr>
          <a:xfrm>
            <a:off x="5269687" y="1828800"/>
            <a:ext cx="274320" cy="274320"/>
          </a:xfrm>
          <a:prstGeom prst="ellipse">
            <a:avLst/>
          </a:prstGeom>
          <a:solidFill>
            <a:schemeClr val="accent2"/>
          </a:solidFill>
          <a:ln/>
        </p:spPr>
      </p:sp>
      <p:sp>
        <p:nvSpPr>
          <p:cNvPr id="18" name="Shape 12"/>
          <p:cNvSpPr/>
          <p:nvPr/>
        </p:nvSpPr>
        <p:spPr>
          <a:xfrm>
            <a:off x="5041087" y="2286000"/>
            <a:ext cx="3163824" cy="2971800"/>
          </a:xfrm>
          <a:prstGeom prst="roundRect">
            <a:avLst>
              <a:gd name="adj" fmla="val 3077"/>
            </a:avLst>
          </a:prstGeom>
          <a:solidFill>
            <a:schemeClr val="accent2"/>
          </a:solidFill>
          <a:ln/>
        </p:spPr>
      </p:sp>
      <p:sp>
        <p:nvSpPr>
          <p:cNvPr id="19" name="Text 13"/>
          <p:cNvSpPr txBox="1"/>
          <p:nvPr/>
        </p:nvSpPr>
        <p:spPr>
          <a:xfrm>
            <a:off x="5315407" y="2542032"/>
            <a:ext cx="2615184" cy="256032"/>
          </a:xfrm>
          <a:prstGeom prst="rect">
            <a:avLst/>
          </a:prstGeom>
          <a:noFill/>
          <a:ln/>
        </p:spPr>
        <p:txBody>
          <a:bodyPr wrap="square" lIns="0" tIns="0" rIns="0" bIns="0" rtlCol="0" anchor="t"/>
          <a:lstStyle/>
          <a:p>
            <a:pPr indent="0" marL="0">
              <a:buNone/>
            </a:pPr>
            <a:r>
              <a:rPr lang="en-GB" altLang="en-US" sz="1100" b="1" spc="300" kern="0" dirty="0">
                <a:solidFill>
                  <a:schemeClr val="tx1"/>
                </a:solidFill>
              </a:rPr>
              <a:t>27 AND 28 DEC</a:t>
            </a:r>
            <a:endParaRPr lang="en-GB" sz="1100" dirty="0"/>
          </a:p>
        </p:txBody>
      </p:sp>
      <p:sp>
        <p:nvSpPr>
          <p:cNvPr id="20" name="Text 14"/>
          <p:cNvSpPr txBox="1"/>
          <p:nvPr/>
        </p:nvSpPr>
        <p:spPr>
          <a:xfrm>
            <a:off x="5315407" y="2852928"/>
            <a:ext cx="2615184" cy="457200"/>
          </a:xfrm>
          <a:prstGeom prst="rect">
            <a:avLst/>
          </a:prstGeom>
          <a:noFill/>
          <a:ln/>
        </p:spPr>
        <p:txBody>
          <a:bodyPr wrap="square" lIns="0" tIns="0" rIns="0" bIns="0" rtlCol="0" anchor="t"/>
          <a:lstStyle/>
          <a:p>
            <a:pPr indent="0" marL="0">
              <a:buNone/>
            </a:pPr>
            <a:r>
              <a:rPr lang="en-GB" altLang="en-US" sz="2600" dirty="0">
                <a:solidFill>
                  <a:schemeClr val="tx1"/>
                </a:solidFill>
                <a:latin typeface="+mj-lt" pitchFamily="34" charset="0"/>
                <a:ea typeface="+mj-lt" pitchFamily="34" charset="-122"/>
                <a:cs typeface="+mj-lt" pitchFamily="34" charset="-120"/>
              </a:rPr>
              <a:t>Festival nights</a:t>
            </a:r>
            <a:endParaRPr lang="en-GB" sz="2600" dirty="0"/>
          </a:p>
        </p:txBody>
      </p:sp>
      <p:sp>
        <p:nvSpPr>
          <p:cNvPr id="21" name="Text 15"/>
          <p:cNvSpPr txBox="1"/>
          <p:nvPr/>
        </p:nvSpPr>
        <p:spPr>
          <a:xfrm>
            <a:off x="5315407" y="3383280"/>
            <a:ext cx="2615184" cy="320040"/>
          </a:xfrm>
          <a:prstGeom prst="rect">
            <a:avLst/>
          </a:prstGeom>
          <a:noFill/>
          <a:ln/>
        </p:spPr>
        <p:txBody>
          <a:bodyPr wrap="square" lIns="0" tIns="0" rIns="0" bIns="0" rtlCol="0" anchor="t"/>
          <a:lstStyle/>
          <a:p>
            <a:pPr indent="0" marL="0">
              <a:buNone/>
            </a:pPr>
            <a:r>
              <a:rPr lang="en-GB" altLang="en-US" sz="1400" b="1" dirty="0">
                <a:solidFill>
                  <a:schemeClr val="tx1"/>
                </a:solidFill>
              </a:rPr>
              <a:t>Goal: live attention</a:t>
            </a:r>
            <a:endParaRPr lang="en-GB" sz="1400" dirty="0"/>
          </a:p>
        </p:txBody>
      </p:sp>
      <p:sp>
        <p:nvSpPr>
          <p:cNvPr id="22" name="Text 16"/>
          <p:cNvSpPr txBox="1"/>
          <p:nvPr/>
        </p:nvSpPr>
        <p:spPr>
          <a:xfrm>
            <a:off x="5315407" y="3840480"/>
            <a:ext cx="2615184" cy="1325880"/>
          </a:xfrm>
          <a:prstGeom prst="rect">
            <a:avLst/>
          </a:prstGeom>
          <a:noFill/>
          <a:ln/>
        </p:spPr>
        <p:txBody>
          <a:bodyPr wrap="square" lIns="0" tIns="0" rIns="0" bIns="0" rtlCol="0" anchor="t"/>
          <a:lstStyle/>
          <a:p>
            <a:pPr marL="177800" indent="-177800">
              <a:spcAft>
                <a:spcPts val="600"/>
              </a:spcAft>
              <a:buSzPct val="100000"/>
              <a:buChar char="•"/>
            </a:pPr>
            <a:r>
              <a:rPr lang="en-GB" altLang="en-US" sz="1300" dirty="0">
                <a:solidFill>
                  <a:schemeClr val="tx1"/>
                </a:solidFill>
              </a:rPr>
              <a:t>Arrivals and festival looks</a:t>
            </a:r>
            <a:endParaRPr lang="en-GB" sz="1300" dirty="0"/>
          </a:p>
          <a:p>
            <a:pPr marL="177800" indent="-177800">
              <a:spcAft>
                <a:spcPts val="600"/>
              </a:spcAft>
              <a:buSzPct val="100000"/>
              <a:buChar char="•"/>
            </a:pPr>
            <a:r>
              <a:rPr lang="en-GB" altLang="en-US" sz="1300" dirty="0">
                <a:solidFill>
                  <a:schemeClr val="tx1"/>
                </a:solidFill>
              </a:rPr>
              <a:t>Crowd POV during headline sets</a:t>
            </a:r>
            <a:endParaRPr lang="en-GB" sz="1300" dirty="0"/>
          </a:p>
          <a:p>
            <a:pPr marL="177800" indent="-177800">
              <a:spcAft>
                <a:spcPts val="600"/>
              </a:spcAft>
              <a:buSzPct val="100000"/>
              <a:buChar char="•"/>
            </a:pPr>
            <a:r>
              <a:rPr lang="en-GB" altLang="en-US" sz="1300" dirty="0">
                <a:solidFill>
                  <a:schemeClr val="tx1"/>
                </a:solidFill>
              </a:rPr>
              <a:t>Sponsor activations in shot</a:t>
            </a:r>
            <a:endParaRPr lang="en-GB" sz="1300" dirty="0"/>
          </a:p>
          <a:p>
            <a:pPr marL="177800" indent="-177800">
              <a:spcAft>
                <a:spcPts val="600"/>
              </a:spcAft>
              <a:buSzPct val="100000"/>
              <a:buChar char="•"/>
            </a:pPr>
            <a:r>
              <a:rPr lang="en-GB" altLang="en-US" sz="1300" dirty="0">
                <a:solidFill>
                  <a:schemeClr val="tx1"/>
                </a:solidFill>
              </a:rPr>
              <a:t>A recap each night</a:t>
            </a:r>
            <a:endParaRPr lang="en-GB" sz="1300" dirty="0"/>
          </a:p>
        </p:txBody>
      </p:sp>
      <p:sp>
        <p:nvSpPr>
          <p:cNvPr id="23" name="Shape 17"/>
          <p:cNvSpPr/>
          <p:nvPr/>
        </p:nvSpPr>
        <p:spPr>
          <a:xfrm>
            <a:off x="8707831" y="1828800"/>
            <a:ext cx="274320" cy="274320"/>
          </a:xfrm>
          <a:prstGeom prst="ellipse">
            <a:avLst/>
          </a:prstGeom>
          <a:solidFill>
            <a:schemeClr val="accent1"/>
          </a:solidFill>
          <a:ln/>
        </p:spPr>
      </p:sp>
      <p:sp>
        <p:nvSpPr>
          <p:cNvPr id="24" name="Shape 18"/>
          <p:cNvSpPr/>
          <p:nvPr/>
        </p:nvSpPr>
        <p:spPr>
          <a:xfrm>
            <a:off x="8479231" y="2286000"/>
            <a:ext cx="3163824" cy="2971800"/>
          </a:xfrm>
          <a:prstGeom prst="roundRect">
            <a:avLst>
              <a:gd name="adj" fmla="val 3077"/>
            </a:avLst>
          </a:prstGeom>
          <a:solidFill>
            <a:schemeClr val="accent6"/>
          </a:solidFill>
          <a:ln/>
        </p:spPr>
      </p:sp>
      <p:sp>
        <p:nvSpPr>
          <p:cNvPr id="25" name="Text 19"/>
          <p:cNvSpPr txBox="1"/>
          <p:nvPr/>
        </p:nvSpPr>
        <p:spPr>
          <a:xfrm>
            <a:off x="8753551" y="2542032"/>
            <a:ext cx="2615184"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29 DEC TO 10 JAN</a:t>
            </a:r>
            <a:endParaRPr lang="en-GB" sz="1100" dirty="0"/>
          </a:p>
        </p:txBody>
      </p:sp>
      <p:sp>
        <p:nvSpPr>
          <p:cNvPr id="26" name="Text 20"/>
          <p:cNvSpPr txBox="1"/>
          <p:nvPr/>
        </p:nvSpPr>
        <p:spPr>
          <a:xfrm>
            <a:off x="8753551" y="2852928"/>
            <a:ext cx="2615184" cy="457200"/>
          </a:xfrm>
          <a:prstGeom prst="rect">
            <a:avLst/>
          </a:prstGeom>
          <a:noFill/>
          <a:ln/>
        </p:spPr>
        <p:txBody>
          <a:bodyPr wrap="square" lIns="0" tIns="0" rIns="0" bIns="0" rtlCol="0" anchor="t"/>
          <a:lstStyle/>
          <a:p>
            <a:pPr indent="0" marL="0">
              <a:buNone/>
            </a:pPr>
            <a:r>
              <a:rPr lang="en-GB" altLang="en-US" sz="2600" dirty="0">
                <a:solidFill>
                  <a:schemeClr val="bg1"/>
                </a:solidFill>
                <a:latin typeface="+mj-lt" pitchFamily="34" charset="0"/>
                <a:ea typeface="+mj-lt" pitchFamily="34" charset="-122"/>
                <a:cs typeface="+mj-lt" pitchFamily="34" charset="-120"/>
              </a:rPr>
              <a:t>Afterglow</a:t>
            </a:r>
            <a:endParaRPr lang="en-GB" sz="2600" dirty="0"/>
          </a:p>
        </p:txBody>
      </p:sp>
      <p:sp>
        <p:nvSpPr>
          <p:cNvPr id="27" name="Text 21"/>
          <p:cNvSpPr txBox="1"/>
          <p:nvPr/>
        </p:nvSpPr>
        <p:spPr>
          <a:xfrm>
            <a:off x="8753551" y="3383280"/>
            <a:ext cx="2615184" cy="320040"/>
          </a:xfrm>
          <a:prstGeom prst="rect">
            <a:avLst/>
          </a:prstGeom>
          <a:noFill/>
          <a:ln/>
        </p:spPr>
        <p:txBody>
          <a:bodyPr wrap="square" lIns="0" tIns="0" rIns="0" bIns="0" rtlCol="0" anchor="t"/>
          <a:lstStyle/>
          <a:p>
            <a:pPr indent="0" marL="0">
              <a:buNone/>
            </a:pPr>
            <a:r>
              <a:rPr lang="en-GB" altLang="en-US" sz="1400" b="1" dirty="0">
                <a:solidFill>
                  <a:schemeClr val="accent4"/>
                </a:solidFill>
              </a:rPr>
              <a:t>Goal: keep the story alive</a:t>
            </a:r>
            <a:endParaRPr lang="en-GB" sz="1400" dirty="0"/>
          </a:p>
        </p:txBody>
      </p:sp>
      <p:sp>
        <p:nvSpPr>
          <p:cNvPr id="28" name="Text 22"/>
          <p:cNvSpPr txBox="1"/>
          <p:nvPr/>
        </p:nvSpPr>
        <p:spPr>
          <a:xfrm>
            <a:off x="8753551" y="3840480"/>
            <a:ext cx="2615184" cy="1325880"/>
          </a:xfrm>
          <a:prstGeom prst="rect">
            <a:avLst/>
          </a:prstGeom>
          <a:noFill/>
          <a:ln/>
        </p:spPr>
        <p:txBody>
          <a:bodyPr wrap="square" lIns="0" tIns="0" rIns="0" bIns="0" rtlCol="0" anchor="t"/>
          <a:lstStyle/>
          <a:p>
            <a:pPr marL="177800" indent="-177800">
              <a:spcAft>
                <a:spcPts val="600"/>
              </a:spcAft>
              <a:buSzPct val="100000"/>
              <a:buChar char="•"/>
            </a:pPr>
            <a:r>
              <a:rPr lang="en-GB" altLang="en-US" sz="1300" dirty="0">
                <a:solidFill>
                  <a:schemeClr val="accent5"/>
                </a:solidFill>
              </a:rPr>
              <a:t>Recap reels and best of edits</a:t>
            </a:r>
            <a:endParaRPr lang="en-GB" sz="1300" dirty="0"/>
          </a:p>
          <a:p>
            <a:pPr marL="177800" indent="-177800">
              <a:spcAft>
                <a:spcPts val="600"/>
              </a:spcAft>
              <a:buSzPct val="100000"/>
              <a:buChar char="•"/>
            </a:pPr>
            <a:r>
              <a:rPr lang="en-GB" altLang="en-US" sz="1300" dirty="0">
                <a:solidFill>
                  <a:schemeClr val="accent5"/>
                </a:solidFill>
              </a:rPr>
              <a:t>Creator thank you posts</a:t>
            </a:r>
            <a:endParaRPr lang="en-GB" sz="1300" dirty="0"/>
          </a:p>
          <a:p>
            <a:pPr marL="177800" indent="-177800">
              <a:spcAft>
                <a:spcPts val="600"/>
              </a:spcAft>
              <a:buSzPct val="100000"/>
              <a:buChar char="•"/>
            </a:pPr>
            <a:r>
              <a:rPr lang="en-GB" altLang="en-US" sz="1300" dirty="0">
                <a:solidFill>
                  <a:schemeClr val="accent5"/>
                </a:solidFill>
              </a:rPr>
              <a:t>Results shared with fans and partners</a:t>
            </a:r>
            <a:endParaRPr lang="en-GB" sz="1300" dirty="0"/>
          </a:p>
          <a:p>
            <a:pPr marL="177800" indent="-177800">
              <a:spcAft>
                <a:spcPts val="600"/>
              </a:spcAft>
              <a:buSzPct val="100000"/>
              <a:buChar char="•"/>
            </a:pPr>
            <a:r>
              <a:rPr lang="en-GB" altLang="en-US" sz="1300" dirty="0">
                <a:solidFill>
                  <a:schemeClr val="accent5"/>
                </a:solidFill>
              </a:rPr>
              <a:t>A 2027 save the date, if planned</a:t>
            </a:r>
            <a:endParaRPr lang="en-GB" sz="1300" dirty="0"/>
          </a:p>
        </p:txBody>
      </p:sp>
      <p:sp>
        <p:nvSpPr>
          <p:cNvPr id="29" name="Shape 23"/>
          <p:cNvSpPr/>
          <p:nvPr/>
        </p:nvSpPr>
        <p:spPr>
          <a:xfrm>
            <a:off x="548640" y="5532120"/>
            <a:ext cx="54864" cy="548640"/>
          </a:xfrm>
          <a:prstGeom prst="rect">
            <a:avLst/>
          </a:prstGeom>
          <a:solidFill>
            <a:schemeClr val="accent1"/>
          </a:solidFill>
          <a:ln/>
        </p:spPr>
      </p:sp>
      <p:sp>
        <p:nvSpPr>
          <p:cNvPr id="30" name="Text 24"/>
          <p:cNvSpPr txBox="1"/>
          <p:nvPr/>
        </p:nvSpPr>
        <p:spPr>
          <a:xfrm>
            <a:off x="777240" y="5532120"/>
            <a:ext cx="10789920" cy="548640"/>
          </a:xfrm>
          <a:prstGeom prst="rect">
            <a:avLst/>
          </a:prstGeom>
          <a:noFill/>
          <a:ln/>
        </p:spPr>
        <p:txBody>
          <a:bodyPr wrap="square" lIns="0" tIns="0" rIns="0" bIns="0" rtlCol="0" anchor="ctr"/>
          <a:lstStyle/>
          <a:p>
            <a:pPr indent="0" marL="0">
              <a:buNone/>
            </a:pPr>
            <a:r>
              <a:rPr lang="en-GB" altLang="en-US" sz="2000" dirty="0">
                <a:solidFill>
                  <a:schemeClr val="bg1"/>
                </a:solidFill>
                <a:latin typeface="+mj-lt" pitchFamily="34" charset="0"/>
                <a:ea typeface="+mj-lt" pitchFamily="34" charset="-122"/>
                <a:cs typeface="+mj-lt" pitchFamily="34" charset="-120"/>
              </a:rPr>
              <a:t>Every wave sits in one content calendar, approved by the festival before anything goes live.</a:t>
            </a:r>
            <a:endParaRPr lang="en-GB" sz="2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VISIBILITY</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Every sponsor gets visibility it can prove</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pic>
        <p:nvPicPr>
          <p:cNvPr id="8" name="Photo press" descr="The Mother Africa Festival team at a press event in front of the festival backdrop">    </p:cNvPr>
          <p:cNvPicPr>
            <a:picLocks noChangeAspect="1"/>
          </p:cNvPicPr>
          <p:nvPr/>
        </p:nvPicPr>
        <p:blipFill>
          <a:blip r:embed="rId3"/>
          <a:stretch>
            <a:fillRect/>
          </a:stretch>
        </p:blipFill>
        <p:spPr>
          <a:xfrm>
            <a:off x="548640" y="1783080"/>
            <a:ext cx="3657600" cy="2295728"/>
          </a:xfrm>
          <a:prstGeom prst="rect">
            <a:avLst/>
          </a:prstGeom>
        </p:spPr>
      </p:pic>
      <p:sp>
        <p:nvSpPr>
          <p:cNvPr id="9" name="Shape 3"/>
          <p:cNvSpPr/>
          <p:nvPr/>
        </p:nvSpPr>
        <p:spPr>
          <a:xfrm>
            <a:off x="658368" y="3676472"/>
            <a:ext cx="2598725" cy="292608"/>
          </a:xfrm>
          <a:prstGeom prst="roundRect">
            <a:avLst>
              <a:gd name="adj" fmla="val 18750"/>
            </a:avLst>
          </a:prstGeom>
          <a:solidFill>
            <a:schemeClr val="tx1">
              <a:alpha val="70000"/>
            </a:schemeClr>
          </a:solidFill>
          <a:ln/>
        </p:spPr>
      </p:sp>
      <p:sp>
        <p:nvSpPr>
          <p:cNvPr id="10" name="Text 4"/>
          <p:cNvSpPr txBox="1"/>
          <p:nvPr/>
        </p:nvSpPr>
        <p:spPr>
          <a:xfrm>
            <a:off x="658368" y="3676472"/>
            <a:ext cx="2598725" cy="292608"/>
          </a:xfrm>
          <a:prstGeom prst="rect">
            <a:avLst/>
          </a:prstGeom>
          <a:noFill/>
          <a:ln/>
        </p:spPr>
        <p:txBody>
          <a:bodyPr wrap="square" lIns="0" tIns="0" rIns="0" bIns="0" rtlCol="0" anchor="ctr"/>
          <a:lstStyle/>
          <a:p>
            <a:pPr algn="ctr" indent="0" marL="0">
              <a:buNone/>
            </a:pPr>
            <a:r>
              <a:rPr lang="en-GB" altLang="en-US" sz="1000" dirty="0">
                <a:solidFill>
                  <a:schemeClr val="bg1"/>
                </a:solidFill>
              </a:rPr>
              <a:t>Mother Africa Festival press event</a:t>
            </a:r>
            <a:endParaRPr lang="en-GB" sz="1000" dirty="0"/>
          </a:p>
        </p:txBody>
      </p:sp>
      <p:sp>
        <p:nvSpPr>
          <p:cNvPr id="11" name="Shape 5"/>
          <p:cNvSpPr/>
          <p:nvPr/>
        </p:nvSpPr>
        <p:spPr>
          <a:xfrm>
            <a:off x="4526280" y="1783080"/>
            <a:ext cx="457200" cy="457200"/>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4636008" y="1892808"/>
            <a:ext cx="237744" cy="237744"/>
          </a:xfrm>
          <a:prstGeom prst="rect">
            <a:avLst/>
          </a:prstGeom>
        </p:spPr>
      </p:pic>
      <p:sp>
        <p:nvSpPr>
          <p:cNvPr id="13" name="Text 6"/>
          <p:cNvSpPr txBox="1"/>
          <p:nvPr/>
        </p:nvSpPr>
        <p:spPr>
          <a:xfrm>
            <a:off x="5120640" y="1755648"/>
            <a:ext cx="2834640" cy="329184"/>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Written into every brief</a:t>
            </a:r>
            <a:endParaRPr lang="en-GB" sz="1800" dirty="0"/>
          </a:p>
        </p:txBody>
      </p:sp>
      <p:sp>
        <p:nvSpPr>
          <p:cNvPr id="14" name="Text 7"/>
          <p:cNvSpPr txBox="1"/>
          <p:nvPr/>
        </p:nvSpPr>
        <p:spPr>
          <a:xfrm>
            <a:off x="5120640" y="2112264"/>
            <a:ext cx="2834640" cy="685800"/>
          </a:xfrm>
          <a:prstGeom prst="rect">
            <a:avLst/>
          </a:prstGeom>
          <a:noFill/>
          <a:ln/>
        </p:spPr>
        <p:txBody>
          <a:bodyPr wrap="square" lIns="0" tIns="0" rIns="0" bIns="0" rtlCol="0" anchor="t"/>
          <a:lstStyle/>
          <a:p>
            <a:pPr indent="0" marL="0">
              <a:buNone/>
            </a:pPr>
            <a:r>
              <a:rPr lang="en-GB" altLang="en-US" sz="1250" dirty="0">
                <a:solidFill>
                  <a:schemeClr val="tx2"/>
                </a:solidFill>
              </a:rPr>
              <a:t>Sponsor mentions agreed in advance, so partners appear naturally.</a:t>
            </a:r>
            <a:endParaRPr lang="en-GB" sz="1250" dirty="0"/>
          </a:p>
        </p:txBody>
      </p:sp>
      <p:sp>
        <p:nvSpPr>
          <p:cNvPr id="15" name="Shape 8"/>
          <p:cNvSpPr/>
          <p:nvPr/>
        </p:nvSpPr>
        <p:spPr>
          <a:xfrm>
            <a:off x="8129016" y="1783080"/>
            <a:ext cx="457200" cy="457200"/>
          </a:xfrm>
          <a:prstGeom prst="ellipse">
            <a:avLst/>
          </a:prstGeom>
          <a:solidFill>
            <a:schemeClr val="accent1"/>
          </a:solidFill>
          <a:ln/>
        </p:spPr>
      </p:sp>
      <p:pic>
        <p:nvPicPr>
          <p:cNvPr id="16" name="Image 4" descr="preencoded.png">    </p:cNvPr>
          <p:cNvPicPr>
            <a:picLocks noChangeAspect="1"/>
          </p:cNvPicPr>
          <p:nvPr/>
        </p:nvPicPr>
        <p:blipFill>
          <a:blip r:embed="rId5"/>
          <a:stretch>
            <a:fillRect/>
          </a:stretch>
        </p:blipFill>
        <p:spPr>
          <a:xfrm>
            <a:off x="8238744" y="1892808"/>
            <a:ext cx="237744" cy="237744"/>
          </a:xfrm>
          <a:prstGeom prst="rect">
            <a:avLst/>
          </a:prstGeom>
        </p:spPr>
      </p:pic>
      <p:sp>
        <p:nvSpPr>
          <p:cNvPr id="17" name="Text 9"/>
          <p:cNvSpPr txBox="1"/>
          <p:nvPr/>
        </p:nvSpPr>
        <p:spPr>
          <a:xfrm>
            <a:off x="8723376" y="1755648"/>
            <a:ext cx="2834640" cy="329184"/>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Branding in shot</a:t>
            </a:r>
            <a:endParaRPr lang="en-GB" sz="1800" dirty="0"/>
          </a:p>
        </p:txBody>
      </p:sp>
      <p:sp>
        <p:nvSpPr>
          <p:cNvPr id="18" name="Text 10"/>
          <p:cNvSpPr txBox="1"/>
          <p:nvPr/>
        </p:nvSpPr>
        <p:spPr>
          <a:xfrm>
            <a:off x="8723376" y="2112264"/>
            <a:ext cx="2834640" cy="685800"/>
          </a:xfrm>
          <a:prstGeom prst="rect">
            <a:avLst/>
          </a:prstGeom>
          <a:noFill/>
          <a:ln/>
        </p:spPr>
        <p:txBody>
          <a:bodyPr wrap="square" lIns="0" tIns="0" rIns="0" bIns="0" rtlCol="0" anchor="t"/>
          <a:lstStyle/>
          <a:p>
            <a:pPr indent="0" marL="0">
              <a:buNone/>
            </a:pPr>
            <a:r>
              <a:rPr lang="en-GB" altLang="en-US" sz="1250" dirty="0">
                <a:solidFill>
                  <a:schemeClr val="tx2"/>
                </a:solidFill>
              </a:rPr>
              <a:t>Creators guided to every activation and stage banner on both nights.</a:t>
            </a:r>
            <a:endParaRPr lang="en-GB" sz="1250" dirty="0"/>
          </a:p>
        </p:txBody>
      </p:sp>
      <p:sp>
        <p:nvSpPr>
          <p:cNvPr id="19" name="Shape 11"/>
          <p:cNvSpPr/>
          <p:nvPr/>
        </p:nvSpPr>
        <p:spPr>
          <a:xfrm>
            <a:off x="4526280" y="2971800"/>
            <a:ext cx="457200" cy="457200"/>
          </a:xfrm>
          <a:prstGeom prst="ellipse">
            <a:avLst/>
          </a:prstGeom>
          <a:solidFill>
            <a:schemeClr val="accent1"/>
          </a:solidFill>
          <a:ln/>
        </p:spPr>
      </p:sp>
      <p:pic>
        <p:nvPicPr>
          <p:cNvPr id="20" name="Image 5" descr="preencoded.png">    </p:cNvPr>
          <p:cNvPicPr>
            <a:picLocks noChangeAspect="1"/>
          </p:cNvPicPr>
          <p:nvPr/>
        </p:nvPicPr>
        <p:blipFill>
          <a:blip r:embed="rId6"/>
          <a:stretch>
            <a:fillRect/>
          </a:stretch>
        </p:blipFill>
        <p:spPr>
          <a:xfrm>
            <a:off x="4636008" y="3081528"/>
            <a:ext cx="237744" cy="237744"/>
          </a:xfrm>
          <a:prstGeom prst="rect">
            <a:avLst/>
          </a:prstGeom>
        </p:spPr>
      </p:pic>
      <p:sp>
        <p:nvSpPr>
          <p:cNvPr id="21" name="Text 12"/>
          <p:cNvSpPr txBox="1"/>
          <p:nvPr/>
        </p:nvSpPr>
        <p:spPr>
          <a:xfrm>
            <a:off x="5120640" y="2944368"/>
            <a:ext cx="2834640" cy="329184"/>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A page per sponsor</a:t>
            </a:r>
            <a:endParaRPr lang="en-GB" sz="1800" dirty="0"/>
          </a:p>
        </p:txBody>
      </p:sp>
      <p:sp>
        <p:nvSpPr>
          <p:cNvPr id="22" name="Text 13"/>
          <p:cNvSpPr txBox="1"/>
          <p:nvPr/>
        </p:nvSpPr>
        <p:spPr>
          <a:xfrm>
            <a:off x="5120640" y="3300984"/>
            <a:ext cx="2834640" cy="685800"/>
          </a:xfrm>
          <a:prstGeom prst="rect">
            <a:avLst/>
          </a:prstGeom>
          <a:noFill/>
          <a:ln/>
        </p:spPr>
        <p:txBody>
          <a:bodyPr wrap="square" lIns="0" tIns="0" rIns="0" bIns="0" rtlCol="0" anchor="t"/>
          <a:lstStyle/>
          <a:p>
            <a:pPr indent="0" marL="0">
              <a:buNone/>
            </a:pPr>
            <a:r>
              <a:rPr lang="en-GB" altLang="en-US" sz="1250" dirty="0">
                <a:solidFill>
                  <a:schemeClr val="tx2"/>
                </a:solidFill>
              </a:rPr>
              <a:t>Posts, views, screen time and a media value, clearly labelled as estimated.</a:t>
            </a:r>
            <a:endParaRPr lang="en-GB" sz="1250" dirty="0"/>
          </a:p>
        </p:txBody>
      </p:sp>
      <p:sp>
        <p:nvSpPr>
          <p:cNvPr id="23" name="Shape 14"/>
          <p:cNvSpPr/>
          <p:nvPr/>
        </p:nvSpPr>
        <p:spPr>
          <a:xfrm>
            <a:off x="8129016" y="2971800"/>
            <a:ext cx="457200" cy="457200"/>
          </a:xfrm>
          <a:prstGeom prst="ellipse">
            <a:avLst/>
          </a:prstGeom>
          <a:solidFill>
            <a:schemeClr val="accent1"/>
          </a:solidFill>
          <a:ln/>
        </p:spPr>
      </p:sp>
      <p:pic>
        <p:nvPicPr>
          <p:cNvPr id="24" name="Image 6" descr="preencoded.png">    </p:cNvPr>
          <p:cNvPicPr>
            <a:picLocks noChangeAspect="1"/>
          </p:cNvPicPr>
          <p:nvPr/>
        </p:nvPicPr>
        <p:blipFill>
          <a:blip r:embed="rId7"/>
          <a:stretch>
            <a:fillRect/>
          </a:stretch>
        </p:blipFill>
        <p:spPr>
          <a:xfrm>
            <a:off x="8238744" y="3081528"/>
            <a:ext cx="237744" cy="237744"/>
          </a:xfrm>
          <a:prstGeom prst="rect">
            <a:avLst/>
          </a:prstGeom>
        </p:spPr>
      </p:pic>
      <p:sp>
        <p:nvSpPr>
          <p:cNvPr id="25" name="Text 15"/>
          <p:cNvSpPr txBox="1"/>
          <p:nvPr/>
        </p:nvSpPr>
        <p:spPr>
          <a:xfrm>
            <a:off x="8723376" y="2944368"/>
            <a:ext cx="2834640" cy="329184"/>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Reusable content</a:t>
            </a:r>
            <a:endParaRPr lang="en-GB" sz="1800" dirty="0"/>
          </a:p>
        </p:txBody>
      </p:sp>
      <p:sp>
        <p:nvSpPr>
          <p:cNvPr id="26" name="Text 16"/>
          <p:cNvSpPr txBox="1"/>
          <p:nvPr/>
        </p:nvSpPr>
        <p:spPr>
          <a:xfrm>
            <a:off x="8723376" y="3300984"/>
            <a:ext cx="2834640" cy="685800"/>
          </a:xfrm>
          <a:prstGeom prst="rect">
            <a:avLst/>
          </a:prstGeom>
          <a:noFill/>
          <a:ln/>
        </p:spPr>
        <p:txBody>
          <a:bodyPr wrap="square" lIns="0" tIns="0" rIns="0" bIns="0" rtlCol="0" anchor="t"/>
          <a:lstStyle/>
          <a:p>
            <a:pPr indent="0" marL="0">
              <a:buNone/>
            </a:pPr>
            <a:r>
              <a:rPr lang="en-GB" altLang="en-US" sz="1250" dirty="0">
                <a:solidFill>
                  <a:schemeClr val="tx2"/>
                </a:solidFill>
              </a:rPr>
              <a:t>The festival and its sponsors can share the best pieces again.</a:t>
            </a:r>
            <a:endParaRPr lang="en-GB" sz="1250" dirty="0"/>
          </a:p>
        </p:txBody>
      </p:sp>
      <p:sp>
        <p:nvSpPr>
          <p:cNvPr id="27" name="Shape 17"/>
          <p:cNvSpPr/>
          <p:nvPr/>
        </p:nvSpPr>
        <p:spPr>
          <a:xfrm>
            <a:off x="548640" y="4343400"/>
            <a:ext cx="11094415" cy="1737360"/>
          </a:xfrm>
          <a:prstGeom prst="roundRect">
            <a:avLst>
              <a:gd name="adj" fmla="val 4211"/>
            </a:avLst>
          </a:prstGeom>
          <a:solidFill>
            <a:schemeClr val="tx1"/>
          </a:solidFill>
          <a:ln w="22225">
            <a:solidFill>
              <a:schemeClr val="accent1"/>
            </a:solidFill>
            <a:prstDash val="solid"/>
          </a:ln>
          <a:effectLst>
            <a:outerShdw sx="100000" sy="100000" kx="0" ky="0" algn="bl" rotWithShape="0" blurRad="228600" dist="50800" dir="5400000">
              <a:srgbClr val="C8A951">
                <a:alpha val="30000"/>
              </a:srgbClr>
            </a:outerShdw>
          </a:effectLst>
        </p:spPr>
      </p:sp>
      <p:sp>
        <p:nvSpPr>
          <p:cNvPr id="28" name="Text 18"/>
          <p:cNvSpPr txBox="1"/>
          <p:nvPr/>
        </p:nvSpPr>
        <p:spPr>
          <a:xfrm>
            <a:off x="822960" y="4544568"/>
            <a:ext cx="3108960" cy="365760"/>
          </a:xfrm>
          <a:prstGeom prst="rect">
            <a:avLst/>
          </a:prstGeom>
          <a:noFill/>
          <a:ln/>
        </p:spPr>
        <p:txBody>
          <a:bodyPr wrap="square" lIns="0" tIns="0" rIns="0" bIns="0" rtlCol="0" anchor="ctr"/>
          <a:lstStyle/>
          <a:p>
            <a:pPr indent="0" marL="0">
              <a:buNone/>
            </a:pPr>
            <a:r>
              <a:rPr lang="en-GB" altLang="en-US" sz="1700" b="1" spc="100" kern="0" dirty="0">
                <a:solidFill>
                  <a:schemeClr val="accent1"/>
                </a:solidFill>
              </a:rPr>
              <a:t>THE REVENUE MODEL</a:t>
            </a:r>
            <a:endParaRPr lang="en-GB" sz="1700" dirty="0"/>
          </a:p>
        </p:txBody>
      </p:sp>
      <p:sp>
        <p:nvSpPr>
          <p:cNvPr id="29" name="Text 19"/>
          <p:cNvSpPr txBox="1"/>
          <p:nvPr/>
        </p:nvSpPr>
        <p:spPr>
          <a:xfrm>
            <a:off x="3291840" y="4544568"/>
            <a:ext cx="8076895" cy="365760"/>
          </a:xfrm>
          <a:prstGeom prst="rect">
            <a:avLst/>
          </a:prstGeom>
          <a:noFill/>
          <a:ln/>
        </p:spPr>
        <p:txBody>
          <a:bodyPr wrap="square" lIns="0" tIns="0" rIns="0" bIns="0" rtlCol="0" anchor="ctr"/>
          <a:lstStyle/>
          <a:p>
            <a:pPr algn="r" indent="0" marL="0">
              <a:buNone/>
            </a:pPr>
            <a:r>
              <a:rPr lang="en-GB" altLang="en-US" sz="950" b="1" spc="200" kern="0" dirty="0">
                <a:solidFill>
                  <a:schemeClr val="bg1"/>
                </a:solidFill>
              </a:rPr>
              <a:t>WHERE THE NEW MONEY COMES FROM</a:t>
            </a:r>
            <a:endParaRPr lang="en-GB" sz="950" dirty="0"/>
          </a:p>
        </p:txBody>
      </p:sp>
      <p:sp>
        <p:nvSpPr>
          <p:cNvPr id="30" name="Shape 20"/>
          <p:cNvSpPr/>
          <p:nvPr/>
        </p:nvSpPr>
        <p:spPr>
          <a:xfrm>
            <a:off x="82296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1" name="Text 21"/>
          <p:cNvSpPr txBox="1"/>
          <p:nvPr/>
        </p:nvSpPr>
        <p:spPr>
          <a:xfrm>
            <a:off x="877824" y="5120640"/>
            <a:ext cx="2165084"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MORE CREATORS</a:t>
            </a:r>
            <a:endParaRPr lang="en-GB" sz="1150" dirty="0"/>
          </a:p>
        </p:txBody>
      </p:sp>
      <p:sp>
        <p:nvSpPr>
          <p:cNvPr id="32" name="Text 22"/>
          <p:cNvSpPr txBox="1"/>
          <p:nvPr/>
        </p:nvSpPr>
        <p:spPr>
          <a:xfrm>
            <a:off x="3097772" y="512064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33" name="Shape 23"/>
          <p:cNvSpPr/>
          <p:nvPr/>
        </p:nvSpPr>
        <p:spPr>
          <a:xfrm>
            <a:off x="339038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4" name="Text 24"/>
          <p:cNvSpPr txBox="1"/>
          <p:nvPr/>
        </p:nvSpPr>
        <p:spPr>
          <a:xfrm>
            <a:off x="3445244" y="5120640"/>
            <a:ext cx="2165084"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MORE VISIBILITY</a:t>
            </a:r>
            <a:endParaRPr lang="en-GB" sz="1150" dirty="0"/>
          </a:p>
        </p:txBody>
      </p:sp>
      <p:sp>
        <p:nvSpPr>
          <p:cNvPr id="35" name="Text 25"/>
          <p:cNvSpPr txBox="1"/>
          <p:nvPr/>
        </p:nvSpPr>
        <p:spPr>
          <a:xfrm>
            <a:off x="5665192" y="512064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36" name="Shape 26"/>
          <p:cNvSpPr/>
          <p:nvPr/>
        </p:nvSpPr>
        <p:spPr>
          <a:xfrm>
            <a:off x="5957800" y="5120640"/>
            <a:ext cx="2274812" cy="731520"/>
          </a:xfrm>
          <a:prstGeom prst="roundRect">
            <a:avLst>
              <a:gd name="adj" fmla="val 7500"/>
            </a:avLst>
          </a:prstGeom>
          <a:solidFill>
            <a:schemeClr val="accent6"/>
          </a:solidFill>
          <a:ln w="6350">
            <a:solidFill>
              <a:schemeClr val="accent5">
                <a:alpha val="25000"/>
              </a:schemeClr>
            </a:solidFill>
            <a:prstDash val="solid"/>
          </a:ln>
        </p:spPr>
      </p:sp>
      <p:sp>
        <p:nvSpPr>
          <p:cNvPr id="37" name="Text 27"/>
          <p:cNvSpPr txBox="1"/>
          <p:nvPr/>
        </p:nvSpPr>
        <p:spPr>
          <a:xfrm>
            <a:off x="6012664" y="5120640"/>
            <a:ext cx="2165084" cy="731520"/>
          </a:xfrm>
          <a:prstGeom prst="rect">
            <a:avLst/>
          </a:prstGeom>
          <a:noFill/>
          <a:ln/>
        </p:spPr>
        <p:txBody>
          <a:bodyPr wrap="square" lIns="0" tIns="0" rIns="0" bIns="0" rtlCol="0" anchor="ctr"/>
          <a:lstStyle/>
          <a:p>
            <a:pPr algn="ctr" indent="0" marL="0">
              <a:buNone/>
            </a:pPr>
            <a:r>
              <a:rPr lang="en-GB" altLang="en-US" sz="1150" b="1" dirty="0">
                <a:solidFill>
                  <a:schemeClr val="bg1"/>
                </a:solidFill>
              </a:rPr>
              <a:t>BRAND KPIS MET</a:t>
            </a:r>
            <a:endParaRPr lang="en-GB" sz="1150" dirty="0"/>
          </a:p>
        </p:txBody>
      </p:sp>
      <p:sp>
        <p:nvSpPr>
          <p:cNvPr id="38" name="Text 28"/>
          <p:cNvSpPr txBox="1"/>
          <p:nvPr/>
        </p:nvSpPr>
        <p:spPr>
          <a:xfrm>
            <a:off x="8232612" y="5120640"/>
            <a:ext cx="292608" cy="731520"/>
          </a:xfrm>
          <a:prstGeom prst="rect">
            <a:avLst/>
          </a:prstGeom>
          <a:noFill/>
          <a:ln/>
        </p:spPr>
        <p:txBody>
          <a:bodyPr wrap="square" lIns="0" tIns="0" rIns="0" bIns="0" rtlCol="0" anchor="ctr"/>
          <a:lstStyle/>
          <a:p>
            <a:pPr algn="ctr" indent="0" marL="0">
              <a:buNone/>
            </a:pPr>
            <a:r>
              <a:rPr lang="en-GB" altLang="en-US" sz="1800" dirty="0">
                <a:solidFill>
                  <a:schemeClr val="accent1"/>
                </a:solidFill>
              </a:rPr>
              <a:t>→</a:t>
            </a:r>
            <a:endParaRPr lang="en-GB" sz="1800" dirty="0"/>
          </a:p>
        </p:txBody>
      </p:sp>
      <p:sp>
        <p:nvSpPr>
          <p:cNvPr id="39" name="Shape 29"/>
          <p:cNvSpPr/>
          <p:nvPr/>
        </p:nvSpPr>
        <p:spPr>
          <a:xfrm>
            <a:off x="8525220" y="5120640"/>
            <a:ext cx="2843515" cy="731520"/>
          </a:xfrm>
          <a:prstGeom prst="roundRect">
            <a:avLst>
              <a:gd name="adj" fmla="val 7500"/>
            </a:avLst>
          </a:prstGeom>
          <a:solidFill>
            <a:schemeClr val="accent1"/>
          </a:solidFill>
          <a:ln/>
        </p:spPr>
      </p:sp>
      <p:sp>
        <p:nvSpPr>
          <p:cNvPr id="40" name="Text 30"/>
          <p:cNvSpPr txBox="1"/>
          <p:nvPr/>
        </p:nvSpPr>
        <p:spPr>
          <a:xfrm>
            <a:off x="8580084" y="5120640"/>
            <a:ext cx="2733787" cy="731520"/>
          </a:xfrm>
          <a:prstGeom prst="rect">
            <a:avLst/>
          </a:prstGeom>
          <a:noFill/>
          <a:ln/>
        </p:spPr>
        <p:txBody>
          <a:bodyPr wrap="square" lIns="0" tIns="0" rIns="0" bIns="0" rtlCol="0" anchor="ctr"/>
          <a:lstStyle/>
          <a:p>
            <a:pPr algn="ctr" indent="0" marL="0">
              <a:buNone/>
            </a:pPr>
            <a:r>
              <a:rPr lang="en-GB" altLang="en-US" sz="1150" b="1" dirty="0">
                <a:solidFill>
                  <a:schemeClr val="tx1"/>
                </a:solidFill>
              </a:rPr>
              <a:t>SPONSOR AND INVESTOR MONEY</a:t>
            </a:r>
            <a:endParaRPr lang="en-GB" sz="115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THE VISIBILITY REPORT</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Mother Africa gets the numbers on fixed dates</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828800"/>
            <a:ext cx="594360" cy="594360"/>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691286" y="1971446"/>
            <a:ext cx="309067" cy="309067"/>
          </a:xfrm>
          <a:prstGeom prst="rect">
            <a:avLst/>
          </a:prstGeom>
        </p:spPr>
      </p:pic>
      <p:sp>
        <p:nvSpPr>
          <p:cNvPr id="10" name="Text 4"/>
          <p:cNvSpPr txBox="1"/>
          <p:nvPr/>
        </p:nvSpPr>
        <p:spPr>
          <a:xfrm>
            <a:off x="1371600" y="1792224"/>
            <a:ext cx="5029200" cy="384048"/>
          </a:xfrm>
          <a:prstGeom prst="rect">
            <a:avLst/>
          </a:prstGeom>
          <a:noFill/>
          <a:ln/>
        </p:spPr>
        <p:txBody>
          <a:bodyPr wrap="square" lIns="0" tIns="0" rIns="0" bIns="0" rtlCol="0" anchor="t"/>
          <a:lstStyle/>
          <a:p>
            <a:pPr indent="0" marL="0">
              <a:buNone/>
            </a:pPr>
            <a:r>
              <a:rPr lang="en-GB" altLang="en-US" sz="2200" dirty="0">
                <a:solidFill>
                  <a:schemeClr val="tx1"/>
                </a:solidFill>
                <a:latin typeface="+mj-lt" pitchFamily="34" charset="0"/>
                <a:ea typeface="+mj-lt" pitchFamily="34" charset="-122"/>
                <a:cs typeface="+mj-lt" pitchFamily="34" charset="-120"/>
              </a:rPr>
              <a:t>Weekly pulse</a:t>
            </a:r>
            <a:endParaRPr lang="en-GB" sz="2200" dirty="0"/>
          </a:p>
        </p:txBody>
      </p:sp>
      <p:sp>
        <p:nvSpPr>
          <p:cNvPr id="11" name="Text 5"/>
          <p:cNvSpPr txBox="1"/>
          <p:nvPr/>
        </p:nvSpPr>
        <p:spPr>
          <a:xfrm>
            <a:off x="1371600" y="2212848"/>
            <a:ext cx="50292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EVERY MONDAY IN THE BUILD UP</a:t>
            </a:r>
            <a:endParaRPr lang="en-GB" sz="1100" dirty="0"/>
          </a:p>
        </p:txBody>
      </p:sp>
      <p:sp>
        <p:nvSpPr>
          <p:cNvPr id="12" name="Text 6"/>
          <p:cNvSpPr txBox="1"/>
          <p:nvPr/>
        </p:nvSpPr>
        <p:spPr>
          <a:xfrm>
            <a:off x="1371600" y="2514600"/>
            <a:ext cx="5120640" cy="548640"/>
          </a:xfrm>
          <a:prstGeom prst="rect">
            <a:avLst/>
          </a:prstGeom>
          <a:noFill/>
          <a:ln/>
        </p:spPr>
        <p:txBody>
          <a:bodyPr wrap="square" lIns="0" tIns="0" rIns="0" bIns="0" rtlCol="0" anchor="t"/>
          <a:lstStyle/>
          <a:p>
            <a:pPr indent="0" marL="0">
              <a:buNone/>
            </a:pPr>
            <a:r>
              <a:rPr lang="en-GB" altLang="en-US" sz="1400" dirty="0">
                <a:solidFill>
                  <a:schemeClr val="tx2"/>
                </a:solidFill>
              </a:rPr>
              <a:t>One page: posts live, views, top creators, ticket links used and what changes next.</a:t>
            </a:r>
            <a:endParaRPr lang="en-GB" sz="1400" dirty="0"/>
          </a:p>
        </p:txBody>
      </p:sp>
      <p:sp>
        <p:nvSpPr>
          <p:cNvPr id="13" name="Shape 7"/>
          <p:cNvSpPr/>
          <p:nvPr/>
        </p:nvSpPr>
        <p:spPr>
          <a:xfrm>
            <a:off x="548640" y="3063240"/>
            <a:ext cx="594360" cy="594360"/>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91286" y="3205886"/>
            <a:ext cx="309067" cy="309067"/>
          </a:xfrm>
          <a:prstGeom prst="rect">
            <a:avLst/>
          </a:prstGeom>
        </p:spPr>
      </p:pic>
      <p:sp>
        <p:nvSpPr>
          <p:cNvPr id="15" name="Text 8"/>
          <p:cNvSpPr txBox="1"/>
          <p:nvPr/>
        </p:nvSpPr>
        <p:spPr>
          <a:xfrm>
            <a:off x="1371600" y="3026664"/>
            <a:ext cx="5029200" cy="384048"/>
          </a:xfrm>
          <a:prstGeom prst="rect">
            <a:avLst/>
          </a:prstGeom>
          <a:noFill/>
          <a:ln/>
        </p:spPr>
        <p:txBody>
          <a:bodyPr wrap="square" lIns="0" tIns="0" rIns="0" bIns="0" rtlCol="0" anchor="t"/>
          <a:lstStyle/>
          <a:p>
            <a:pPr indent="0" marL="0">
              <a:buNone/>
            </a:pPr>
            <a:r>
              <a:rPr lang="en-GB" altLang="en-US" sz="2200" dirty="0">
                <a:solidFill>
                  <a:schemeClr val="tx1"/>
                </a:solidFill>
                <a:latin typeface="+mj-lt" pitchFamily="34" charset="0"/>
                <a:ea typeface="+mj-lt" pitchFamily="34" charset="-122"/>
                <a:cs typeface="+mj-lt" pitchFamily="34" charset="-120"/>
              </a:rPr>
              <a:t>48 hour check</a:t>
            </a:r>
            <a:endParaRPr lang="en-GB" sz="2200" dirty="0"/>
          </a:p>
        </p:txBody>
      </p:sp>
      <p:sp>
        <p:nvSpPr>
          <p:cNvPr id="16" name="Text 9"/>
          <p:cNvSpPr txBox="1"/>
          <p:nvPr/>
        </p:nvSpPr>
        <p:spPr>
          <a:xfrm>
            <a:off x="1371600" y="3447288"/>
            <a:ext cx="50292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BY 30 DECEMBER 2026</a:t>
            </a:r>
            <a:endParaRPr lang="en-GB" sz="1100" dirty="0"/>
          </a:p>
        </p:txBody>
      </p:sp>
      <p:sp>
        <p:nvSpPr>
          <p:cNvPr id="17" name="Text 10"/>
          <p:cNvSpPr txBox="1"/>
          <p:nvPr/>
        </p:nvSpPr>
        <p:spPr>
          <a:xfrm>
            <a:off x="1371600" y="3749040"/>
            <a:ext cx="5120640" cy="548640"/>
          </a:xfrm>
          <a:prstGeom prst="rect">
            <a:avLst/>
          </a:prstGeom>
          <a:noFill/>
          <a:ln/>
        </p:spPr>
        <p:txBody>
          <a:bodyPr wrap="square" lIns="0" tIns="0" rIns="0" bIns="0" rtlCol="0" anchor="t"/>
          <a:lstStyle/>
          <a:p>
            <a:pPr indent="0" marL="0">
              <a:buNone/>
            </a:pPr>
            <a:r>
              <a:rPr lang="en-GB" altLang="en-US" sz="1400" dirty="0">
                <a:solidFill>
                  <a:schemeClr val="tx2"/>
                </a:solidFill>
              </a:rPr>
              <a:t>Who posted, where, and against which brief. Anything missing is chased.</a:t>
            </a:r>
            <a:endParaRPr lang="en-GB" sz="1400" dirty="0"/>
          </a:p>
        </p:txBody>
      </p:sp>
      <p:sp>
        <p:nvSpPr>
          <p:cNvPr id="18" name="Shape 11"/>
          <p:cNvSpPr/>
          <p:nvPr/>
        </p:nvSpPr>
        <p:spPr>
          <a:xfrm>
            <a:off x="548640" y="4297680"/>
            <a:ext cx="594360" cy="594360"/>
          </a:xfrm>
          <a:prstGeom prst="ellipse">
            <a:avLst/>
          </a:prstGeom>
          <a:solidFill>
            <a:schemeClr val="accent1"/>
          </a:solidFill>
          <a:ln/>
        </p:spPr>
      </p:sp>
      <p:pic>
        <p:nvPicPr>
          <p:cNvPr id="19" name="Image 4" descr="preencoded.png">    </p:cNvPr>
          <p:cNvPicPr>
            <a:picLocks noChangeAspect="1"/>
          </p:cNvPicPr>
          <p:nvPr/>
        </p:nvPicPr>
        <p:blipFill>
          <a:blip r:embed="rId5"/>
          <a:stretch>
            <a:fillRect/>
          </a:stretch>
        </p:blipFill>
        <p:spPr>
          <a:xfrm>
            <a:off x="691286" y="4440326"/>
            <a:ext cx="309067" cy="309067"/>
          </a:xfrm>
          <a:prstGeom prst="rect">
            <a:avLst/>
          </a:prstGeom>
        </p:spPr>
      </p:pic>
      <p:sp>
        <p:nvSpPr>
          <p:cNvPr id="20" name="Text 12"/>
          <p:cNvSpPr txBox="1"/>
          <p:nvPr/>
        </p:nvSpPr>
        <p:spPr>
          <a:xfrm>
            <a:off x="1371600" y="4261104"/>
            <a:ext cx="5029200" cy="384048"/>
          </a:xfrm>
          <a:prstGeom prst="rect">
            <a:avLst/>
          </a:prstGeom>
          <a:noFill/>
          <a:ln/>
        </p:spPr>
        <p:txBody>
          <a:bodyPr wrap="square" lIns="0" tIns="0" rIns="0" bIns="0" rtlCol="0" anchor="t"/>
          <a:lstStyle/>
          <a:p>
            <a:pPr indent="0" marL="0">
              <a:buNone/>
            </a:pPr>
            <a:r>
              <a:rPr lang="en-GB" altLang="en-US" sz="2200" dirty="0">
                <a:solidFill>
                  <a:schemeClr val="tx1"/>
                </a:solidFill>
                <a:latin typeface="+mj-lt" pitchFamily="34" charset="0"/>
                <a:ea typeface="+mj-lt" pitchFamily="34" charset="-122"/>
                <a:cs typeface="+mj-lt" pitchFamily="34" charset="-120"/>
              </a:rPr>
              <a:t>Full report</a:t>
            </a:r>
            <a:endParaRPr lang="en-GB" sz="2200" dirty="0"/>
          </a:p>
        </p:txBody>
      </p:sp>
      <p:sp>
        <p:nvSpPr>
          <p:cNvPr id="21" name="Text 13"/>
          <p:cNvSpPr txBox="1"/>
          <p:nvPr/>
        </p:nvSpPr>
        <p:spPr>
          <a:xfrm>
            <a:off x="1371600" y="4681728"/>
            <a:ext cx="50292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DAY 14, BY 11 JANUARY 2027</a:t>
            </a:r>
            <a:endParaRPr lang="en-GB" sz="1100" dirty="0"/>
          </a:p>
        </p:txBody>
      </p:sp>
      <p:sp>
        <p:nvSpPr>
          <p:cNvPr id="22" name="Text 14"/>
          <p:cNvSpPr txBox="1"/>
          <p:nvPr/>
        </p:nvSpPr>
        <p:spPr>
          <a:xfrm>
            <a:off x="1371600" y="4983480"/>
            <a:ext cx="5120640" cy="548640"/>
          </a:xfrm>
          <a:prstGeom prst="rect">
            <a:avLst/>
          </a:prstGeom>
          <a:noFill/>
          <a:ln/>
        </p:spPr>
        <p:txBody>
          <a:bodyPr wrap="square" lIns="0" tIns="0" rIns="0" bIns="0" rtlCol="0" anchor="t"/>
          <a:lstStyle/>
          <a:p>
            <a:pPr indent="0" marL="0">
              <a:buNone/>
            </a:pPr>
            <a:r>
              <a:rPr lang="en-GB" altLang="en-US" sz="1400" dirty="0">
                <a:solidFill>
                  <a:schemeClr val="tx2"/>
                </a:solidFill>
              </a:rPr>
              <a:t>Every post and figure, audiences, tickets and sponsor pages, as a PDF with a web version.</a:t>
            </a:r>
            <a:endParaRPr lang="en-GB" sz="1400" dirty="0"/>
          </a:p>
        </p:txBody>
      </p:sp>
      <p:sp>
        <p:nvSpPr>
          <p:cNvPr id="23" name="Shape 15"/>
          <p:cNvSpPr/>
          <p:nvPr/>
        </p:nvSpPr>
        <p:spPr>
          <a:xfrm>
            <a:off x="1371600" y="5833872"/>
            <a:ext cx="4114800" cy="384048"/>
          </a:xfrm>
          <a:prstGeom prst="roundRect">
            <a:avLst>
              <a:gd name="adj" fmla="val 50000"/>
            </a:avLst>
          </a:prstGeom>
          <a:solidFill>
            <a:schemeClr val="bg1"/>
          </a:solidFill>
          <a:ln w="12700">
            <a:solidFill>
              <a:schemeClr val="accent3"/>
            </a:solidFill>
            <a:prstDash val="solid"/>
          </a:ln>
        </p:spPr>
      </p:sp>
      <p:sp>
        <p:nvSpPr>
          <p:cNvPr id="24" name="Text 16"/>
          <p:cNvSpPr txBox="1"/>
          <p:nvPr/>
        </p:nvSpPr>
        <p:spPr>
          <a:xfrm>
            <a:off x="1371600" y="5833872"/>
            <a:ext cx="4114800" cy="384048"/>
          </a:xfrm>
          <a:prstGeom prst="rect">
            <a:avLst/>
          </a:prstGeom>
          <a:noFill/>
          <a:ln/>
        </p:spPr>
        <p:txBody>
          <a:bodyPr wrap="square" lIns="0" tIns="0" rIns="0" bIns="0" rtlCol="0" anchor="ctr"/>
          <a:lstStyle/>
          <a:p>
            <a:pPr algn="ctr" indent="0" marL="0">
              <a:buNone/>
            </a:pPr>
            <a:r>
              <a:rPr lang="en-GB" altLang="en-US" sz="1200" b="1" u="sng" dirty="0">
                <a:solidFill>
                  <a:schemeClr val="accent3"/>
                </a:solidFill>
                <a:hlinkClick r:id="rId6" action="ppaction://hlinksldjump" tooltip="Sample report, page 2">
                  <a:extLst>
                    <a:ext uri="{A12FA001-AC4F-418D-AE19-62706E023703}">
                      <ahyp:hlinkClr xmlns:ahyp="http://schemas.microsoft.com/office/drawing/2018/hyperlinkcolor" val="tx"/>
                    </a:ext>
                  </a:extLst>
                </a:hlinkClick>
              </a:rPr>
              <a:t>See page 2: the detailed breakdown  →</a:t>
            </a:r>
            <a:endParaRPr lang="en-GB" sz="1200" dirty="0"/>
          </a:p>
        </p:txBody>
      </p:sp>
      <p:sp>
        <p:nvSpPr>
          <p:cNvPr id="25" name="Sample report page 2"/>
          <p:cNvSpPr/>
          <p:nvPr/>
        </p:nvSpPr>
        <p:spPr>
          <a:xfrm>
            <a:off x="6949440" y="1874520"/>
            <a:ext cx="4690872" cy="4343400"/>
          </a:xfrm>
          <a:prstGeom prst="roundRect">
            <a:avLst>
              <a:gd name="adj" fmla="val 1684"/>
            </a:avLst>
          </a:prstGeom>
          <a:solidFill>
            <a:schemeClr val="bg1"/>
          </a:solidFill>
          <a:ln w="9525">
            <a:solidFill>
              <a:schemeClr val="tx2">
                <a:alpha val="40000"/>
              </a:schemeClr>
            </a:solidFill>
            <a:prstDash val="solid"/>
          </a:ln>
        </p:spPr>
      </p:sp>
      <p:sp>
        <p:nvSpPr>
          <p:cNvPr id="26" name="Shape 18"/>
          <p:cNvSpPr/>
          <p:nvPr/>
        </p:nvSpPr>
        <p:spPr>
          <a:xfrm>
            <a:off x="6812280" y="1737360"/>
            <a:ext cx="4690872" cy="4343400"/>
          </a:xfrm>
          <a:prstGeom prst="roundRect">
            <a:avLst>
              <a:gd name="adj" fmla="val 1684"/>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27" name="Text 19"/>
          <p:cNvSpPr txBox="1"/>
          <p:nvPr/>
        </p:nvSpPr>
        <p:spPr>
          <a:xfrm>
            <a:off x="7086600" y="1965960"/>
            <a:ext cx="3291840" cy="201168"/>
          </a:xfrm>
          <a:prstGeom prst="rect">
            <a:avLst/>
          </a:prstGeom>
          <a:noFill/>
          <a:ln/>
        </p:spPr>
        <p:txBody>
          <a:bodyPr wrap="square" lIns="0" tIns="0" rIns="0" bIns="0" rtlCol="0" anchor="t"/>
          <a:lstStyle/>
          <a:p>
            <a:pPr indent="0" marL="0">
              <a:buNone/>
            </a:pPr>
            <a:r>
              <a:rPr lang="en-GB" altLang="en-US" sz="900" b="1" spc="300" kern="0" dirty="0">
                <a:solidFill>
                  <a:schemeClr val="accent3"/>
                </a:solidFill>
              </a:rPr>
              <a:t>VISIBILITY REPORT  ·  PAGE 1</a:t>
            </a:r>
            <a:endParaRPr lang="en-GB" sz="900" dirty="0"/>
          </a:p>
        </p:txBody>
      </p:sp>
      <p:sp>
        <p:nvSpPr>
          <p:cNvPr id="28" name="Text 20"/>
          <p:cNvSpPr txBox="1"/>
          <p:nvPr/>
        </p:nvSpPr>
        <p:spPr>
          <a:xfrm>
            <a:off x="7086600" y="2167128"/>
            <a:ext cx="3657600" cy="365760"/>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Mother Africa Festival 2026</a:t>
            </a:r>
            <a:endParaRPr lang="en-GB" sz="1800" dirty="0"/>
          </a:p>
        </p:txBody>
      </p:sp>
      <p:pic>
        <p:nvPicPr>
          <p:cNvPr id="29" name="Image 5" descr="Mother Africa Festival">    </p:cNvPr>
          <p:cNvPicPr>
            <a:picLocks noChangeAspect="1"/>
          </p:cNvPicPr>
          <p:nvPr/>
        </p:nvPicPr>
        <p:blipFill>
          <a:blip r:embed="rId7"/>
          <a:stretch>
            <a:fillRect/>
          </a:stretch>
        </p:blipFill>
        <p:spPr>
          <a:xfrm>
            <a:off x="10725912" y="1965960"/>
            <a:ext cx="541249" cy="384048"/>
          </a:xfrm>
          <a:prstGeom prst="rect">
            <a:avLst/>
          </a:prstGeom>
        </p:spPr>
      </p:pic>
      <p:sp>
        <p:nvSpPr>
          <p:cNvPr id="30" name="Shape 21"/>
          <p:cNvSpPr/>
          <p:nvPr/>
        </p:nvSpPr>
        <p:spPr>
          <a:xfrm>
            <a:off x="7086600" y="2606040"/>
            <a:ext cx="4142232" cy="0"/>
          </a:xfrm>
          <a:prstGeom prst="line">
            <a:avLst/>
          </a:prstGeom>
          <a:noFill/>
          <a:ln w="12700">
            <a:solidFill>
              <a:schemeClr val="accent1"/>
            </a:solidFill>
            <a:prstDash val="solid"/>
          </a:ln>
        </p:spPr>
      </p:sp>
      <p:sp>
        <p:nvSpPr>
          <p:cNvPr id="31" name="Shape 22"/>
          <p:cNvSpPr/>
          <p:nvPr/>
        </p:nvSpPr>
        <p:spPr>
          <a:xfrm>
            <a:off x="7086600" y="2788920"/>
            <a:ext cx="2011680" cy="731520"/>
          </a:xfrm>
          <a:prstGeom prst="roundRect">
            <a:avLst>
              <a:gd name="adj" fmla="val 7500"/>
            </a:avLst>
          </a:prstGeom>
          <a:solidFill>
            <a:schemeClr val="bg2"/>
          </a:solidFill>
          <a:ln/>
        </p:spPr>
      </p:sp>
      <p:sp>
        <p:nvSpPr>
          <p:cNvPr id="32" name="Text 23"/>
          <p:cNvSpPr txBox="1"/>
          <p:nvPr/>
        </p:nvSpPr>
        <p:spPr>
          <a:xfrm>
            <a:off x="7251192" y="2862072"/>
            <a:ext cx="1737360" cy="347472"/>
          </a:xfrm>
          <a:prstGeom prst="rect">
            <a:avLst/>
          </a:prstGeom>
          <a:noFill/>
          <a:ln/>
        </p:spPr>
        <p:txBody>
          <a:bodyPr wrap="square" lIns="0" tIns="0" rIns="0" bIns="0" rtlCol="0" anchor="t"/>
          <a:lstStyle/>
          <a:p>
            <a:pPr indent="0" marL="0">
              <a:buNone/>
            </a:pPr>
            <a:r>
              <a:rPr lang="en-GB" altLang="en-US" sz="1800" b="1" dirty="0">
                <a:solidFill>
                  <a:schemeClr val="tx1"/>
                </a:solidFill>
              </a:rPr>
              <a:t>3,200,000</a:t>
            </a:r>
            <a:endParaRPr lang="en-GB" sz="1800" dirty="0"/>
          </a:p>
        </p:txBody>
      </p:sp>
      <p:sp>
        <p:nvSpPr>
          <p:cNvPr id="33" name="Text 24"/>
          <p:cNvSpPr txBox="1"/>
          <p:nvPr/>
        </p:nvSpPr>
        <p:spPr>
          <a:xfrm>
            <a:off x="7251192" y="3227832"/>
            <a:ext cx="1783080" cy="201168"/>
          </a:xfrm>
          <a:prstGeom prst="rect">
            <a:avLst/>
          </a:prstGeom>
          <a:noFill/>
          <a:ln/>
        </p:spPr>
        <p:txBody>
          <a:bodyPr wrap="square" lIns="0" tIns="0" rIns="0" bIns="0" rtlCol="0" anchor="t"/>
          <a:lstStyle/>
          <a:p>
            <a:pPr indent="0" marL="0">
              <a:buNone/>
            </a:pPr>
            <a:r>
              <a:rPr lang="en-GB" altLang="en-US" sz="1000" dirty="0">
                <a:solidFill>
                  <a:schemeClr val="tx2"/>
                </a:solidFill>
              </a:rPr>
              <a:t>Total views</a:t>
            </a:r>
            <a:endParaRPr lang="en-GB" sz="1000" dirty="0"/>
          </a:p>
        </p:txBody>
      </p:sp>
      <p:sp>
        <p:nvSpPr>
          <p:cNvPr id="34" name="Shape 25"/>
          <p:cNvSpPr/>
          <p:nvPr/>
        </p:nvSpPr>
        <p:spPr>
          <a:xfrm>
            <a:off x="9208008" y="2788920"/>
            <a:ext cx="2011680" cy="731520"/>
          </a:xfrm>
          <a:prstGeom prst="roundRect">
            <a:avLst>
              <a:gd name="adj" fmla="val 7500"/>
            </a:avLst>
          </a:prstGeom>
          <a:solidFill>
            <a:schemeClr val="bg2"/>
          </a:solidFill>
          <a:ln/>
        </p:spPr>
      </p:sp>
      <p:sp>
        <p:nvSpPr>
          <p:cNvPr id="35" name="Text 26"/>
          <p:cNvSpPr txBox="1"/>
          <p:nvPr/>
        </p:nvSpPr>
        <p:spPr>
          <a:xfrm>
            <a:off x="9372600" y="2862072"/>
            <a:ext cx="1737360" cy="347472"/>
          </a:xfrm>
          <a:prstGeom prst="rect">
            <a:avLst/>
          </a:prstGeom>
          <a:noFill/>
          <a:ln/>
        </p:spPr>
        <p:txBody>
          <a:bodyPr wrap="square" lIns="0" tIns="0" rIns="0" bIns="0" rtlCol="0" anchor="t"/>
          <a:lstStyle/>
          <a:p>
            <a:pPr indent="0" marL="0">
              <a:buNone/>
            </a:pPr>
            <a:r>
              <a:rPr lang="en-GB" altLang="en-US" sz="1800" b="1" dirty="0">
                <a:solidFill>
                  <a:schemeClr val="tx1"/>
                </a:solidFill>
              </a:rPr>
              <a:t>1,450,000</a:t>
            </a:r>
            <a:endParaRPr lang="en-GB" sz="1800" dirty="0"/>
          </a:p>
        </p:txBody>
      </p:sp>
      <p:sp>
        <p:nvSpPr>
          <p:cNvPr id="36" name="Text 27"/>
          <p:cNvSpPr txBox="1"/>
          <p:nvPr/>
        </p:nvSpPr>
        <p:spPr>
          <a:xfrm>
            <a:off x="9372600" y="3227832"/>
            <a:ext cx="1783080" cy="201168"/>
          </a:xfrm>
          <a:prstGeom prst="rect">
            <a:avLst/>
          </a:prstGeom>
          <a:noFill/>
          <a:ln/>
        </p:spPr>
        <p:txBody>
          <a:bodyPr wrap="square" lIns="0" tIns="0" rIns="0" bIns="0" rtlCol="0" anchor="t"/>
          <a:lstStyle/>
          <a:p>
            <a:pPr indent="0" marL="0">
              <a:buNone/>
            </a:pPr>
            <a:r>
              <a:rPr lang="en-GB" altLang="en-US" sz="1000" dirty="0">
                <a:solidFill>
                  <a:schemeClr val="tx2"/>
                </a:solidFill>
              </a:rPr>
              <a:t>Accounts reached</a:t>
            </a:r>
            <a:endParaRPr lang="en-GB" sz="1000" dirty="0"/>
          </a:p>
        </p:txBody>
      </p:sp>
      <p:sp>
        <p:nvSpPr>
          <p:cNvPr id="37" name="Shape 28"/>
          <p:cNvSpPr/>
          <p:nvPr/>
        </p:nvSpPr>
        <p:spPr>
          <a:xfrm>
            <a:off x="7086600" y="3657600"/>
            <a:ext cx="2011680" cy="731520"/>
          </a:xfrm>
          <a:prstGeom prst="roundRect">
            <a:avLst>
              <a:gd name="adj" fmla="val 7500"/>
            </a:avLst>
          </a:prstGeom>
          <a:solidFill>
            <a:schemeClr val="bg2"/>
          </a:solidFill>
          <a:ln/>
        </p:spPr>
      </p:sp>
      <p:sp>
        <p:nvSpPr>
          <p:cNvPr id="38" name="Text 29"/>
          <p:cNvSpPr txBox="1"/>
          <p:nvPr/>
        </p:nvSpPr>
        <p:spPr>
          <a:xfrm>
            <a:off x="7251192" y="3730752"/>
            <a:ext cx="1737360" cy="347472"/>
          </a:xfrm>
          <a:prstGeom prst="rect">
            <a:avLst/>
          </a:prstGeom>
          <a:noFill/>
          <a:ln/>
        </p:spPr>
        <p:txBody>
          <a:bodyPr wrap="square" lIns="0" tIns="0" rIns="0" bIns="0" rtlCol="0" anchor="t"/>
          <a:lstStyle/>
          <a:p>
            <a:pPr indent="0" marL="0">
              <a:buNone/>
            </a:pPr>
            <a:r>
              <a:rPr lang="en-GB" altLang="en-US" sz="1800" b="1" dirty="0">
                <a:solidFill>
                  <a:schemeClr val="tx1"/>
                </a:solidFill>
              </a:rPr>
              <a:t>64</a:t>
            </a:r>
            <a:endParaRPr lang="en-GB" sz="1800" dirty="0"/>
          </a:p>
        </p:txBody>
      </p:sp>
      <p:sp>
        <p:nvSpPr>
          <p:cNvPr id="39" name="Text 30"/>
          <p:cNvSpPr txBox="1"/>
          <p:nvPr/>
        </p:nvSpPr>
        <p:spPr>
          <a:xfrm>
            <a:off x="7251192" y="4096512"/>
            <a:ext cx="1783080" cy="201168"/>
          </a:xfrm>
          <a:prstGeom prst="rect">
            <a:avLst/>
          </a:prstGeom>
          <a:noFill/>
          <a:ln/>
        </p:spPr>
        <p:txBody>
          <a:bodyPr wrap="square" lIns="0" tIns="0" rIns="0" bIns="0" rtlCol="0" anchor="t"/>
          <a:lstStyle/>
          <a:p>
            <a:pPr indent="0" marL="0">
              <a:buNone/>
            </a:pPr>
            <a:r>
              <a:rPr lang="en-GB" altLang="en-US" sz="1000" dirty="0">
                <a:solidFill>
                  <a:schemeClr val="tx2"/>
                </a:solidFill>
              </a:rPr>
              <a:t>Posts checked against the brief</a:t>
            </a:r>
            <a:endParaRPr lang="en-GB" sz="1000" dirty="0"/>
          </a:p>
        </p:txBody>
      </p:sp>
      <p:sp>
        <p:nvSpPr>
          <p:cNvPr id="40" name="Shape 31"/>
          <p:cNvSpPr/>
          <p:nvPr/>
        </p:nvSpPr>
        <p:spPr>
          <a:xfrm>
            <a:off x="9208008" y="3657600"/>
            <a:ext cx="2011680" cy="731520"/>
          </a:xfrm>
          <a:prstGeom prst="roundRect">
            <a:avLst>
              <a:gd name="adj" fmla="val 7500"/>
            </a:avLst>
          </a:prstGeom>
          <a:solidFill>
            <a:schemeClr val="bg2"/>
          </a:solidFill>
          <a:ln/>
        </p:spPr>
      </p:sp>
      <p:sp>
        <p:nvSpPr>
          <p:cNvPr id="41" name="Text 32"/>
          <p:cNvSpPr txBox="1"/>
          <p:nvPr/>
        </p:nvSpPr>
        <p:spPr>
          <a:xfrm>
            <a:off x="9372600" y="3730752"/>
            <a:ext cx="1737360" cy="347472"/>
          </a:xfrm>
          <a:prstGeom prst="rect">
            <a:avLst/>
          </a:prstGeom>
          <a:noFill/>
          <a:ln/>
        </p:spPr>
        <p:txBody>
          <a:bodyPr wrap="square" lIns="0" tIns="0" rIns="0" bIns="0" rtlCol="0" anchor="t"/>
          <a:lstStyle/>
          <a:p>
            <a:pPr indent="0" marL="0">
              <a:buNone/>
            </a:pPr>
            <a:r>
              <a:rPr lang="en-GB" altLang="en-US" sz="1800" b="1" dirty="0">
                <a:solidFill>
                  <a:schemeClr val="tx1"/>
                </a:solidFill>
              </a:rPr>
              <a:t>18</a:t>
            </a:r>
            <a:endParaRPr lang="en-GB" sz="1800" dirty="0"/>
          </a:p>
        </p:txBody>
      </p:sp>
      <p:sp>
        <p:nvSpPr>
          <p:cNvPr id="42" name="Text 33"/>
          <p:cNvSpPr txBox="1"/>
          <p:nvPr/>
        </p:nvSpPr>
        <p:spPr>
          <a:xfrm>
            <a:off x="9372600" y="4096512"/>
            <a:ext cx="1783080" cy="201168"/>
          </a:xfrm>
          <a:prstGeom prst="rect">
            <a:avLst/>
          </a:prstGeom>
          <a:noFill/>
          <a:ln/>
        </p:spPr>
        <p:txBody>
          <a:bodyPr wrap="square" lIns="0" tIns="0" rIns="0" bIns="0" rtlCol="0" anchor="t"/>
          <a:lstStyle/>
          <a:p>
            <a:pPr indent="0" marL="0">
              <a:buNone/>
            </a:pPr>
            <a:r>
              <a:rPr lang="en-GB" altLang="en-US" sz="1000" dirty="0">
                <a:solidFill>
                  <a:schemeClr val="tx2"/>
                </a:solidFill>
              </a:rPr>
              <a:t>Creators</a:t>
            </a:r>
            <a:endParaRPr lang="en-GB" sz="1000" dirty="0"/>
          </a:p>
        </p:txBody>
      </p:sp>
      <p:sp>
        <p:nvSpPr>
          <p:cNvPr id="43" name="Text 34"/>
          <p:cNvSpPr txBox="1"/>
          <p:nvPr/>
        </p:nvSpPr>
        <p:spPr>
          <a:xfrm>
            <a:off x="7086600" y="4572000"/>
            <a:ext cx="2743200" cy="201168"/>
          </a:xfrm>
          <a:prstGeom prst="rect">
            <a:avLst/>
          </a:prstGeom>
          <a:noFill/>
          <a:ln/>
        </p:spPr>
        <p:txBody>
          <a:bodyPr wrap="square" lIns="0" tIns="0" rIns="0" bIns="0" rtlCol="0" anchor="t"/>
          <a:lstStyle/>
          <a:p>
            <a:pPr indent="0" marL="0">
              <a:buNone/>
            </a:pPr>
            <a:r>
              <a:rPr lang="en-GB" altLang="en-US" sz="900" b="1" spc="300" kern="0" dirty="0">
                <a:solidFill>
                  <a:schemeClr val="accent3"/>
                </a:solidFill>
              </a:rPr>
              <a:t>VIEWS BY PLATFORM</a:t>
            </a:r>
            <a:endParaRPr lang="en-GB" sz="900" dirty="0"/>
          </a:p>
        </p:txBody>
      </p:sp>
      <p:sp>
        <p:nvSpPr>
          <p:cNvPr id="44" name="Text 35"/>
          <p:cNvSpPr txBox="1"/>
          <p:nvPr/>
        </p:nvSpPr>
        <p:spPr>
          <a:xfrm>
            <a:off x="7086600" y="4864608"/>
            <a:ext cx="1005840" cy="219456"/>
          </a:xfrm>
          <a:prstGeom prst="rect">
            <a:avLst/>
          </a:prstGeom>
          <a:noFill/>
          <a:ln/>
        </p:spPr>
        <p:txBody>
          <a:bodyPr wrap="square" lIns="0" tIns="0" rIns="0" bIns="0" rtlCol="0" anchor="ctr"/>
          <a:lstStyle/>
          <a:p>
            <a:pPr indent="0" marL="0">
              <a:buNone/>
            </a:pPr>
            <a:r>
              <a:rPr lang="en-GB" altLang="en-US" sz="1000" dirty="0">
                <a:solidFill>
                  <a:schemeClr val="tx2"/>
                </a:solidFill>
              </a:rPr>
              <a:t>Instagram</a:t>
            </a:r>
            <a:endParaRPr lang="en-GB" sz="1000" dirty="0"/>
          </a:p>
        </p:txBody>
      </p:sp>
      <p:sp>
        <p:nvSpPr>
          <p:cNvPr id="45" name="Shape 36"/>
          <p:cNvSpPr/>
          <p:nvPr/>
        </p:nvSpPr>
        <p:spPr>
          <a:xfrm>
            <a:off x="8138160" y="4901184"/>
            <a:ext cx="2468880" cy="146304"/>
          </a:xfrm>
          <a:prstGeom prst="roundRect">
            <a:avLst>
              <a:gd name="adj" fmla="val 18750"/>
            </a:avLst>
          </a:prstGeom>
          <a:solidFill>
            <a:schemeClr val="accent2"/>
          </a:solidFill>
          <a:ln/>
        </p:spPr>
      </p:sp>
      <p:sp>
        <p:nvSpPr>
          <p:cNvPr id="46" name="Text 37"/>
          <p:cNvSpPr txBox="1"/>
          <p:nvPr/>
        </p:nvSpPr>
        <p:spPr>
          <a:xfrm>
            <a:off x="10698480" y="4864608"/>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52%</a:t>
            </a:r>
            <a:endParaRPr lang="en-GB" sz="1000" dirty="0"/>
          </a:p>
        </p:txBody>
      </p:sp>
      <p:sp>
        <p:nvSpPr>
          <p:cNvPr id="47" name="Text 38"/>
          <p:cNvSpPr txBox="1"/>
          <p:nvPr/>
        </p:nvSpPr>
        <p:spPr>
          <a:xfrm>
            <a:off x="7086600" y="5193792"/>
            <a:ext cx="1005840" cy="219456"/>
          </a:xfrm>
          <a:prstGeom prst="rect">
            <a:avLst/>
          </a:prstGeom>
          <a:noFill/>
          <a:ln/>
        </p:spPr>
        <p:txBody>
          <a:bodyPr wrap="square" lIns="0" tIns="0" rIns="0" bIns="0" rtlCol="0" anchor="ctr"/>
          <a:lstStyle/>
          <a:p>
            <a:pPr indent="0" marL="0">
              <a:buNone/>
            </a:pPr>
            <a:r>
              <a:rPr lang="en-GB" altLang="en-US" sz="1000" dirty="0">
                <a:solidFill>
                  <a:schemeClr val="tx2"/>
                </a:solidFill>
              </a:rPr>
              <a:t>TikTok</a:t>
            </a:r>
            <a:endParaRPr lang="en-GB" sz="1000" dirty="0"/>
          </a:p>
        </p:txBody>
      </p:sp>
      <p:sp>
        <p:nvSpPr>
          <p:cNvPr id="48" name="Shape 39"/>
          <p:cNvSpPr/>
          <p:nvPr/>
        </p:nvSpPr>
        <p:spPr>
          <a:xfrm>
            <a:off x="8138160" y="5230368"/>
            <a:ext cx="1804182" cy="146304"/>
          </a:xfrm>
          <a:prstGeom prst="roundRect">
            <a:avLst>
              <a:gd name="adj" fmla="val 18750"/>
            </a:avLst>
          </a:prstGeom>
          <a:solidFill>
            <a:schemeClr val="accent1"/>
          </a:solidFill>
          <a:ln/>
        </p:spPr>
      </p:sp>
      <p:sp>
        <p:nvSpPr>
          <p:cNvPr id="49" name="Text 40"/>
          <p:cNvSpPr txBox="1"/>
          <p:nvPr/>
        </p:nvSpPr>
        <p:spPr>
          <a:xfrm>
            <a:off x="10033782" y="5193792"/>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38%</a:t>
            </a:r>
            <a:endParaRPr lang="en-GB" sz="1000" dirty="0"/>
          </a:p>
        </p:txBody>
      </p:sp>
      <p:sp>
        <p:nvSpPr>
          <p:cNvPr id="50" name="Text 41"/>
          <p:cNvSpPr txBox="1"/>
          <p:nvPr/>
        </p:nvSpPr>
        <p:spPr>
          <a:xfrm>
            <a:off x="7086600" y="5522976"/>
            <a:ext cx="1005840" cy="219456"/>
          </a:xfrm>
          <a:prstGeom prst="rect">
            <a:avLst/>
          </a:prstGeom>
          <a:noFill/>
          <a:ln/>
        </p:spPr>
        <p:txBody>
          <a:bodyPr wrap="square" lIns="0" tIns="0" rIns="0" bIns="0" rtlCol="0" anchor="ctr"/>
          <a:lstStyle/>
          <a:p>
            <a:pPr indent="0" marL="0">
              <a:buNone/>
            </a:pPr>
            <a:r>
              <a:rPr lang="en-GB" altLang="en-US" sz="1000" dirty="0">
                <a:solidFill>
                  <a:schemeClr val="tx2"/>
                </a:solidFill>
              </a:rPr>
              <a:t>YouTube</a:t>
            </a:r>
            <a:endParaRPr lang="en-GB" sz="1000" dirty="0"/>
          </a:p>
        </p:txBody>
      </p:sp>
      <p:sp>
        <p:nvSpPr>
          <p:cNvPr id="51" name="Shape 42"/>
          <p:cNvSpPr/>
          <p:nvPr/>
        </p:nvSpPr>
        <p:spPr>
          <a:xfrm>
            <a:off x="8138160" y="5559552"/>
            <a:ext cx="474785" cy="146304"/>
          </a:xfrm>
          <a:prstGeom prst="roundRect">
            <a:avLst>
              <a:gd name="adj" fmla="val 18750"/>
            </a:avLst>
          </a:prstGeom>
          <a:solidFill>
            <a:schemeClr val="accent1"/>
          </a:solidFill>
          <a:ln/>
        </p:spPr>
      </p:sp>
      <p:sp>
        <p:nvSpPr>
          <p:cNvPr id="52" name="Text 43"/>
          <p:cNvSpPr txBox="1"/>
          <p:nvPr/>
        </p:nvSpPr>
        <p:spPr>
          <a:xfrm>
            <a:off x="8704385" y="5522976"/>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10%</a:t>
            </a:r>
            <a:endParaRPr lang="en-GB" sz="1000" dirty="0"/>
          </a:p>
        </p:txBody>
      </p:sp>
      <p:sp>
        <p:nvSpPr>
          <p:cNvPr id="53" name="Text 44"/>
          <p:cNvSpPr txBox="1"/>
          <p:nvPr/>
        </p:nvSpPr>
        <p:spPr>
          <a:xfrm>
            <a:off x="7086600" y="5779008"/>
            <a:ext cx="2926080" cy="201168"/>
          </a:xfrm>
          <a:prstGeom prst="rect">
            <a:avLst/>
          </a:prstGeom>
          <a:noFill/>
          <a:ln/>
        </p:spPr>
        <p:txBody>
          <a:bodyPr wrap="square" lIns="0" tIns="0" rIns="0" bIns="0" rtlCol="0" anchor="t"/>
          <a:lstStyle/>
          <a:p>
            <a:pPr indent="0" marL="0">
              <a:buNone/>
            </a:pPr>
            <a:r>
              <a:rPr lang="en-GB" altLang="en-US" sz="1000" b="1" i="1" dirty="0">
                <a:solidFill>
                  <a:schemeClr val="accent3"/>
                </a:solidFill>
              </a:rPr>
              <a:t>Sample layout. Figures are illustrative.</a:t>
            </a:r>
            <a:endParaRPr lang="en-GB" sz="1000" dirty="0"/>
          </a:p>
        </p:txBody>
      </p:sp>
      <p:sp>
        <p:nvSpPr>
          <p:cNvPr id="54" name="Text 45"/>
          <p:cNvSpPr txBox="1"/>
          <p:nvPr/>
        </p:nvSpPr>
        <p:spPr>
          <a:xfrm>
            <a:off x="10222992" y="5779008"/>
            <a:ext cx="1005840" cy="201168"/>
          </a:xfrm>
          <a:prstGeom prst="rect">
            <a:avLst/>
          </a:prstGeom>
          <a:noFill/>
          <a:ln/>
        </p:spPr>
        <p:txBody>
          <a:bodyPr wrap="square" lIns="0" tIns="0" rIns="0" bIns="0" rtlCol="0" anchor="t"/>
          <a:lstStyle/>
          <a:p>
            <a:pPr algn="r" indent="0" marL="0">
              <a:buNone/>
            </a:pPr>
            <a:r>
              <a:rPr lang="en-GB" altLang="en-US" sz="1000" b="1" u="sng" dirty="0">
                <a:solidFill>
                  <a:schemeClr val="accent3"/>
                </a:solidFill>
                <a:hlinkClick r:id="rId8" action="ppaction://hlinksldjump" tooltip="Sample report, page 2">
                  <a:extLst>
                    <a:ext uri="{A12FA001-AC4F-418D-AE19-62706E023703}">
                      <ahyp:hlinkClr xmlns:ahyp="http://schemas.microsoft.com/office/drawing/2018/hyperlinkcolor" val="tx"/>
                    </a:ext>
                  </a:extLst>
                </a:hlinkClick>
              </a:rPr>
              <a:t>Page 2  →</a:t>
            </a:r>
            <a:endParaRPr lang="en-GB"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THE PROPOSAL</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A trial at the 5th edition. One full report</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Text 3"/>
          <p:cNvSpPr txBox="1"/>
          <p:nvPr/>
        </p:nvSpPr>
        <p:spPr>
          <a:xfrm>
            <a:off x="548640" y="1783080"/>
            <a:ext cx="6492240" cy="868680"/>
          </a:xfrm>
          <a:prstGeom prst="rect">
            <a:avLst/>
          </a:prstGeom>
          <a:noFill/>
          <a:ln/>
        </p:spPr>
        <p:txBody>
          <a:bodyPr wrap="square" lIns="0" tIns="0" rIns="0" bIns="0" rtlCol="0" anchor="t"/>
          <a:lstStyle/>
          <a:p>
            <a:pPr indent="0" marL="0">
              <a:lnSpc>
                <a:spcPct val="110000"/>
              </a:lnSpc>
              <a:buNone/>
            </a:pPr>
            <a:r>
              <a:rPr lang="en-GB" altLang="en-US" sz="1600" dirty="0">
                <a:solidFill>
                  <a:schemeClr val="tx2"/>
                </a:solidFill>
              </a:rPr>
              <a:t>AToure manages the creator activation for the 5th edition and delivers a full visibility report on the festival, built to go to sponsors and partners.</a:t>
            </a:r>
            <a:endParaRPr lang="en-GB" sz="1600" dirty="0"/>
          </a:p>
        </p:txBody>
      </p:sp>
      <p:sp>
        <p:nvSpPr>
          <p:cNvPr id="9" name="Shape 4"/>
          <p:cNvSpPr/>
          <p:nvPr/>
        </p:nvSpPr>
        <p:spPr>
          <a:xfrm>
            <a:off x="548640" y="2834640"/>
            <a:ext cx="6492240" cy="384048"/>
          </a:xfrm>
          <a:prstGeom prst="rect">
            <a:avLst/>
          </a:prstGeom>
          <a:solidFill>
            <a:schemeClr val="accent1"/>
          </a:solidFill>
          <a:ln/>
        </p:spPr>
      </p:sp>
      <p:sp>
        <p:nvSpPr>
          <p:cNvPr id="10" name="Text 5"/>
          <p:cNvSpPr txBox="1"/>
          <p:nvPr/>
        </p:nvSpPr>
        <p:spPr>
          <a:xfrm>
            <a:off x="777240" y="2834640"/>
            <a:ext cx="6035040" cy="384048"/>
          </a:xfrm>
          <a:prstGeom prst="rect">
            <a:avLst/>
          </a:prstGeom>
          <a:noFill/>
          <a:ln/>
        </p:spPr>
        <p:txBody>
          <a:bodyPr wrap="square" lIns="0" tIns="0" rIns="0" bIns="0" rtlCol="0" anchor="ctr"/>
          <a:lstStyle/>
          <a:p>
            <a:pPr indent="0" marL="0">
              <a:buNone/>
            </a:pPr>
            <a:r>
              <a:rPr lang="en-GB" altLang="en-US" sz="1200" b="1" spc="300" kern="0" dirty="0">
                <a:solidFill>
                  <a:schemeClr val="tx1"/>
                </a:solidFill>
              </a:rPr>
              <a:t>THE ACTIVATION</a:t>
            </a:r>
            <a:endParaRPr lang="en-GB" sz="1200" dirty="0"/>
          </a:p>
        </p:txBody>
      </p:sp>
      <p:sp>
        <p:nvSpPr>
          <p:cNvPr id="11" name="Shape 6"/>
          <p:cNvSpPr/>
          <p:nvPr/>
        </p:nvSpPr>
        <p:spPr>
          <a:xfrm>
            <a:off x="548640" y="3218688"/>
            <a:ext cx="6492240" cy="777240"/>
          </a:xfrm>
          <a:prstGeom prst="rect">
            <a:avLst/>
          </a:prstGeom>
          <a:solidFill>
            <a:schemeClr val="bg1"/>
          </a:solidFill>
          <a:ln w="9525">
            <a:solidFill>
              <a:schemeClr val="tx2">
                <a:alpha val="28000"/>
              </a:schemeClr>
            </a:solidFill>
            <a:prstDash val="solid"/>
          </a:ln>
        </p:spPr>
      </p:sp>
      <p:sp>
        <p:nvSpPr>
          <p:cNvPr id="12" name="Text 7"/>
          <p:cNvSpPr txBox="1"/>
          <p:nvPr/>
        </p:nvSpPr>
        <p:spPr>
          <a:xfrm>
            <a:off x="777240" y="3291840"/>
            <a:ext cx="6035040" cy="640080"/>
          </a:xfrm>
          <a:prstGeom prst="rect">
            <a:avLst/>
          </a:prstGeom>
          <a:noFill/>
          <a:ln/>
        </p:spPr>
        <p:txBody>
          <a:bodyPr wrap="square" lIns="0" tIns="0" rIns="0" bIns="0" rtlCol="0" anchor="t"/>
          <a:lstStyle/>
          <a:p>
            <a:pPr indent="0" marL="0">
              <a:buNone/>
            </a:pPr>
            <a:r>
              <a:rPr lang="en-GB" altLang="en-US" sz="1500" dirty="0">
                <a:solidFill>
                  <a:schemeClr val="tx1"/>
                </a:solidFill>
              </a:rPr>
              <a:t>Creators matched to the festival’s audiences, managed on the ground before, during and after 27 and 28 December.</a:t>
            </a:r>
            <a:endParaRPr lang="en-GB" sz="1500" dirty="0"/>
          </a:p>
        </p:txBody>
      </p:sp>
      <p:sp>
        <p:nvSpPr>
          <p:cNvPr id="13" name="Shape 8"/>
          <p:cNvSpPr/>
          <p:nvPr/>
        </p:nvSpPr>
        <p:spPr>
          <a:xfrm>
            <a:off x="548640" y="4160520"/>
            <a:ext cx="6492240" cy="384048"/>
          </a:xfrm>
          <a:prstGeom prst="rect">
            <a:avLst/>
          </a:prstGeom>
          <a:solidFill>
            <a:schemeClr val="accent2"/>
          </a:solidFill>
          <a:ln/>
        </p:spPr>
      </p:sp>
      <p:sp>
        <p:nvSpPr>
          <p:cNvPr id="14" name="Text 9"/>
          <p:cNvSpPr txBox="1"/>
          <p:nvPr/>
        </p:nvSpPr>
        <p:spPr>
          <a:xfrm>
            <a:off x="777240" y="4160520"/>
            <a:ext cx="6035040" cy="384048"/>
          </a:xfrm>
          <a:prstGeom prst="rect">
            <a:avLst/>
          </a:prstGeom>
          <a:noFill/>
          <a:ln/>
        </p:spPr>
        <p:txBody>
          <a:bodyPr wrap="square" lIns="0" tIns="0" rIns="0" bIns="0" rtlCol="0" anchor="ctr"/>
          <a:lstStyle/>
          <a:p>
            <a:pPr indent="0" marL="0">
              <a:buNone/>
            </a:pPr>
            <a:r>
              <a:rPr lang="en-GB" altLang="en-US" sz="1200" b="1" spc="300" kern="0" dirty="0">
                <a:solidFill>
                  <a:schemeClr val="tx1"/>
                </a:solidFill>
              </a:rPr>
              <a:t>THE REPORT</a:t>
            </a:r>
            <a:endParaRPr lang="en-GB" sz="1200" dirty="0"/>
          </a:p>
        </p:txBody>
      </p:sp>
      <p:sp>
        <p:nvSpPr>
          <p:cNvPr id="15" name="Shape 10"/>
          <p:cNvSpPr/>
          <p:nvPr/>
        </p:nvSpPr>
        <p:spPr>
          <a:xfrm>
            <a:off x="548640" y="4544568"/>
            <a:ext cx="6492240" cy="777240"/>
          </a:xfrm>
          <a:prstGeom prst="rect">
            <a:avLst/>
          </a:prstGeom>
          <a:solidFill>
            <a:schemeClr val="bg1"/>
          </a:solidFill>
          <a:ln w="9525">
            <a:solidFill>
              <a:schemeClr val="tx2">
                <a:alpha val="28000"/>
              </a:schemeClr>
            </a:solidFill>
            <a:prstDash val="solid"/>
          </a:ln>
        </p:spPr>
      </p:sp>
      <p:sp>
        <p:nvSpPr>
          <p:cNvPr id="16" name="Text 11"/>
          <p:cNvSpPr txBox="1"/>
          <p:nvPr/>
        </p:nvSpPr>
        <p:spPr>
          <a:xfrm>
            <a:off x="777240" y="4617720"/>
            <a:ext cx="6035040" cy="640080"/>
          </a:xfrm>
          <a:prstGeom prst="rect">
            <a:avLst/>
          </a:prstGeom>
          <a:noFill/>
          <a:ln/>
        </p:spPr>
        <p:txBody>
          <a:bodyPr wrap="square" lIns="0" tIns="0" rIns="0" bIns="0" rtlCol="0" anchor="t"/>
          <a:lstStyle/>
          <a:p>
            <a:pPr indent="0" marL="0">
              <a:buNone/>
            </a:pPr>
            <a:r>
              <a:rPr lang="en-GB" altLang="en-US" sz="1500" dirty="0">
                <a:solidFill>
                  <a:schemeClr val="tx1"/>
                </a:solidFill>
              </a:rPr>
              <a:t>A check at 48 hours and the full report on day 14, built for the festival team and for every sponsor.</a:t>
            </a:r>
            <a:endParaRPr lang="en-GB" sz="1500" dirty="0"/>
          </a:p>
        </p:txBody>
      </p:sp>
      <p:sp>
        <p:nvSpPr>
          <p:cNvPr id="17" name="Text 12"/>
          <p:cNvSpPr txBox="1"/>
          <p:nvPr/>
        </p:nvSpPr>
        <p:spPr>
          <a:xfrm>
            <a:off x="548640" y="5532120"/>
            <a:ext cx="6492240" cy="502920"/>
          </a:xfrm>
          <a:prstGeom prst="rect">
            <a:avLst/>
          </a:prstGeom>
          <a:noFill/>
          <a:ln/>
        </p:spPr>
        <p:txBody>
          <a:bodyPr wrap="square" lIns="0" tIns="0" rIns="0" bIns="0" rtlCol="0" anchor="t"/>
          <a:lstStyle/>
          <a:p>
            <a:pPr indent="0" marL="0">
              <a:buNone/>
            </a:pPr>
            <a:r>
              <a:rPr lang="en-GB" altLang="en-US" sz="1900" dirty="0">
                <a:solidFill>
                  <a:schemeClr val="accent3"/>
                </a:solidFill>
                <a:latin typeface="+mj-lt" pitchFamily="34" charset="0"/>
                <a:ea typeface="+mj-lt" pitchFamily="34" charset="-122"/>
                <a:cs typeface="+mj-lt" pitchFamily="34" charset="-120"/>
              </a:rPr>
              <a:t>A trial, not a long term commitment. It is what earns the conversation about 2027.</a:t>
            </a:r>
            <a:endParaRPr lang="en-GB" sz="1900" dirty="0"/>
          </a:p>
        </p:txBody>
      </p:sp>
      <p:sp>
        <p:nvSpPr>
          <p:cNvPr id="18" name="Shape 13"/>
          <p:cNvSpPr/>
          <p:nvPr/>
        </p:nvSpPr>
        <p:spPr>
          <a:xfrm>
            <a:off x="7452360" y="1783080"/>
            <a:ext cx="4190695" cy="4251960"/>
          </a:xfrm>
          <a:prstGeom prst="roundRect">
            <a:avLst>
              <a:gd name="adj" fmla="val 2182"/>
            </a:avLst>
          </a:prstGeom>
          <a:solidFill>
            <a:schemeClr val="tx1"/>
          </a:solidFill>
          <a:ln/>
        </p:spPr>
      </p:sp>
      <p:pic>
        <p:nvPicPr>
          <p:cNvPr id="19" name="Image 2" descr="Mother Africa Festival">    </p:cNvPr>
          <p:cNvPicPr>
            <a:picLocks noChangeAspect="1"/>
          </p:cNvPicPr>
          <p:nvPr/>
        </p:nvPicPr>
        <p:blipFill>
          <a:blip r:embed="rId3"/>
          <a:stretch>
            <a:fillRect/>
          </a:stretch>
        </p:blipFill>
        <p:spPr>
          <a:xfrm>
            <a:off x="8548974" y="2240280"/>
            <a:ext cx="1997467" cy="1417320"/>
          </a:xfrm>
          <a:prstGeom prst="rect">
            <a:avLst/>
          </a:prstGeom>
        </p:spPr>
      </p:pic>
      <p:sp>
        <p:nvSpPr>
          <p:cNvPr id="20" name="Text 14"/>
          <p:cNvSpPr txBox="1"/>
          <p:nvPr/>
        </p:nvSpPr>
        <p:spPr>
          <a:xfrm>
            <a:off x="7452360" y="3749040"/>
            <a:ext cx="4190695" cy="548640"/>
          </a:xfrm>
          <a:prstGeom prst="rect">
            <a:avLst/>
          </a:prstGeom>
          <a:noFill/>
          <a:ln/>
        </p:spPr>
        <p:txBody>
          <a:bodyPr wrap="square" lIns="0" tIns="0" rIns="0" bIns="0" rtlCol="0" anchor="ctr"/>
          <a:lstStyle/>
          <a:p>
            <a:pPr algn="ctr" indent="0" marL="0">
              <a:buNone/>
            </a:pPr>
            <a:r>
              <a:rPr lang="en-GB" altLang="en-US" sz="3000" dirty="0">
                <a:solidFill>
                  <a:schemeClr val="accent1"/>
                </a:solidFill>
              </a:rPr>
              <a:t>×</a:t>
            </a:r>
            <a:endParaRPr lang="en-GB" sz="3000" dirty="0"/>
          </a:p>
        </p:txBody>
      </p:sp>
      <p:pic>
        <p:nvPicPr>
          <p:cNvPr id="21" name="Image 3" descr="AToure Management &amp; Consulting">    </p:cNvPr>
          <p:cNvPicPr>
            <a:picLocks noChangeAspect="1"/>
          </p:cNvPicPr>
          <p:nvPr/>
        </p:nvPicPr>
        <p:blipFill>
          <a:blip r:embed="rId4"/>
          <a:stretch>
            <a:fillRect/>
          </a:stretch>
        </p:blipFill>
        <p:spPr>
          <a:xfrm>
            <a:off x="7993228" y="4480560"/>
            <a:ext cx="3108960" cy="497434"/>
          </a:xfrm>
          <a:prstGeom prst="rect">
            <a:avLst/>
          </a:prstGeom>
        </p:spPr>
      </p:pic>
      <p:sp>
        <p:nvSpPr>
          <p:cNvPr id="22" name="Text 15"/>
          <p:cNvSpPr txBox="1"/>
          <p:nvPr/>
        </p:nvSpPr>
        <p:spPr>
          <a:xfrm>
            <a:off x="7452360" y="5349240"/>
            <a:ext cx="4190695" cy="274320"/>
          </a:xfrm>
          <a:prstGeom prst="rect">
            <a:avLst/>
          </a:prstGeom>
          <a:noFill/>
          <a:ln/>
        </p:spPr>
        <p:txBody>
          <a:bodyPr wrap="square" lIns="0" tIns="0" rIns="0" bIns="0" rtlCol="0" anchor="t"/>
          <a:lstStyle/>
          <a:p>
            <a:pPr algn="ctr" indent="0" marL="0">
              <a:buNone/>
            </a:pPr>
            <a:r>
              <a:rPr lang="en-GB" altLang="en-US" sz="1100" dirty="0">
                <a:solidFill>
                  <a:schemeClr val="accent4"/>
                </a:solidFill>
              </a:rPr>
              <a:t>27 and 28 December 2026  ·  Marcory Zone 4</a:t>
            </a:r>
            <a:endParaRPr lang="en-GB" sz="11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48640" y="6437376"/>
            <a:ext cx="8229600" cy="237744"/>
          </a:xfrm>
          <a:prstGeom prst="rect">
            <a:avLst/>
          </a:prstGeom>
          <a:noFill/>
          <a:ln/>
        </p:spPr>
        <p:txBody>
          <a:bodyPr wrap="square" lIns="0" tIns="0" rIns="0" bIns="0" rtlCol="0" anchor="ctr"/>
          <a:lstStyle/>
          <a:p>
            <a:pPr indent="0" marL="0">
              <a:buNone/>
            </a:pPr>
            <a:r>
              <a:rPr lang="en-GB" altLang="en-US" sz="1000" dirty="0">
                <a:solidFill>
                  <a:schemeClr val="accent4"/>
                </a:solidFill>
              </a:rPr>
              <a:t>AToure Management &amp; Consulting</a:t>
            </a:r>
            <a:endParaRPr lang="en-GB" sz="1000" dirty="0"/>
          </a:p>
        </p:txBody>
      </p:sp>
      <p:sp>
        <p:nvSpPr>
          <p:cNvPr id="4"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1"/>
                </a:solidFill>
              </a:rPr>
              <a:t>WHY ATOURE</a:t>
            </a:r>
            <a:endParaRPr lang="en-GB" sz="1100" dirty="0"/>
          </a:p>
        </p:txBody>
      </p:sp>
      <p:sp>
        <p:nvSpPr>
          <p:cNvPr id="5"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bg1"/>
                </a:solidFill>
              </a:rPr>
              <a:t>We have built and tracked this before</a:t>
            </a:r>
            <a:endParaRPr lang="en-GB" sz="3800" dirty="0"/>
          </a:p>
        </p:txBody>
      </p:sp>
      <p:pic>
        <p:nvPicPr>
          <p:cNvPr id="7" name="Image 1" descr="AToure Management &amp; Consulting">    </p:cNvPr>
          <p:cNvPicPr>
            <a:picLocks noChangeAspect="1"/>
          </p:cNvPicPr>
          <p:nvPr/>
        </p:nvPicPr>
        <p:blipFill>
          <a:blip r:embed="rId2"/>
          <a:stretch>
            <a:fillRect/>
          </a:stretch>
        </p:blipFill>
        <p:spPr>
          <a:xfrm>
            <a:off x="9098280" y="301752"/>
            <a:ext cx="1417320" cy="226771"/>
          </a:xfrm>
          <a:prstGeom prst="rect">
            <a:avLst/>
          </a:prstGeom>
        </p:spPr>
      </p:pic>
      <p:sp>
        <p:nvSpPr>
          <p:cNvPr id="8" name="Text 3"/>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1"/>
                </a:solidFill>
              </a:rPr>
              <a:t>×</a:t>
            </a:r>
            <a:endParaRPr lang="en-GB" sz="1600" dirty="0"/>
          </a:p>
        </p:txBody>
      </p:sp>
      <p:pic>
        <p:nvPicPr>
          <p:cNvPr id="9" name="Image 2" descr="Mother Africa Festival">    </p:cNvPr>
          <p:cNvPicPr>
            <a:picLocks noChangeAspect="1"/>
          </p:cNvPicPr>
          <p:nvPr/>
        </p:nvPicPr>
        <p:blipFill>
          <a:blip r:embed="rId3"/>
          <a:stretch>
            <a:fillRect/>
          </a:stretch>
        </p:blipFill>
        <p:spPr>
          <a:xfrm>
            <a:off x="10984687" y="182880"/>
            <a:ext cx="657231" cy="466344"/>
          </a:xfrm>
          <a:prstGeom prst="rect">
            <a:avLst/>
          </a:prstGeom>
        </p:spPr>
      </p:pic>
      <p:pic>
        <p:nvPicPr>
          <p:cNvPr id="10" name="Photo speed_ci" descr="IShowSpeed in Côte d’Ivoire, Abidjan">    </p:cNvPr>
          <p:cNvPicPr>
            <a:picLocks noChangeAspect="1"/>
          </p:cNvPicPr>
          <p:nvPr/>
        </p:nvPicPr>
        <p:blipFill>
          <a:blip r:embed="rId4"/>
          <a:stretch>
            <a:fillRect/>
          </a:stretch>
        </p:blipFill>
        <p:spPr>
          <a:xfrm>
            <a:off x="548640" y="1783080"/>
            <a:ext cx="4929872" cy="3429000"/>
          </a:xfrm>
          <a:prstGeom prst="rect">
            <a:avLst/>
          </a:prstGeom>
        </p:spPr>
      </p:pic>
      <p:sp>
        <p:nvSpPr>
          <p:cNvPr id="11" name="Shape 4"/>
          <p:cNvSpPr/>
          <p:nvPr/>
        </p:nvSpPr>
        <p:spPr>
          <a:xfrm>
            <a:off x="658368" y="4809744"/>
            <a:ext cx="796442" cy="292608"/>
          </a:xfrm>
          <a:prstGeom prst="roundRect">
            <a:avLst>
              <a:gd name="adj" fmla="val 18750"/>
            </a:avLst>
          </a:prstGeom>
          <a:solidFill>
            <a:schemeClr val="tx1">
              <a:alpha val="70000"/>
            </a:schemeClr>
          </a:solidFill>
          <a:ln/>
        </p:spPr>
      </p:sp>
      <p:sp>
        <p:nvSpPr>
          <p:cNvPr id="12" name="Text 5"/>
          <p:cNvSpPr txBox="1"/>
          <p:nvPr/>
        </p:nvSpPr>
        <p:spPr>
          <a:xfrm>
            <a:off x="658368" y="4809744"/>
            <a:ext cx="796442" cy="292608"/>
          </a:xfrm>
          <a:prstGeom prst="rect">
            <a:avLst/>
          </a:prstGeom>
          <a:noFill/>
          <a:ln/>
        </p:spPr>
        <p:txBody>
          <a:bodyPr wrap="square" lIns="0" tIns="0" rIns="0" bIns="0" rtlCol="0" anchor="ctr"/>
          <a:lstStyle/>
          <a:p>
            <a:pPr algn="ctr" indent="0" marL="0">
              <a:buNone/>
            </a:pPr>
            <a:r>
              <a:rPr lang="en-GB" altLang="en-US" sz="1000" dirty="0">
                <a:solidFill>
                  <a:schemeClr val="bg1"/>
                </a:solidFill>
              </a:rPr>
              <a:t>Abidjan</a:t>
            </a:r>
            <a:endParaRPr lang="en-GB" sz="1000" dirty="0"/>
          </a:p>
        </p:txBody>
      </p:sp>
      <p:sp>
        <p:nvSpPr>
          <p:cNvPr id="13" name="Text 6"/>
          <p:cNvSpPr txBox="1"/>
          <p:nvPr/>
        </p:nvSpPr>
        <p:spPr>
          <a:xfrm>
            <a:off x="548640" y="5321808"/>
            <a:ext cx="4929872" cy="411480"/>
          </a:xfrm>
          <a:prstGeom prst="rect">
            <a:avLst/>
          </a:prstGeom>
          <a:noFill/>
          <a:ln/>
        </p:spPr>
        <p:txBody>
          <a:bodyPr wrap="square" lIns="0" tIns="0" rIns="0" bIns="0" rtlCol="0" anchor="t"/>
          <a:lstStyle/>
          <a:p>
            <a:pPr indent="0" marL="0">
              <a:buNone/>
            </a:pPr>
            <a:r>
              <a:rPr lang="en-GB" altLang="en-US" sz="2600" dirty="0">
                <a:solidFill>
                  <a:schemeClr val="accent4"/>
                </a:solidFill>
              </a:rPr>
              <a:t>55.8M</a:t>
            </a:r>
            <a:endParaRPr lang="en-GB" sz="2600" dirty="0"/>
          </a:p>
        </p:txBody>
      </p:sp>
      <p:sp>
        <p:nvSpPr>
          <p:cNvPr id="14" name="Text 7"/>
          <p:cNvSpPr txBox="1"/>
          <p:nvPr/>
        </p:nvSpPr>
        <p:spPr>
          <a:xfrm>
            <a:off x="548640" y="5733288"/>
            <a:ext cx="4929872" cy="347472"/>
          </a:xfrm>
          <a:prstGeom prst="rect">
            <a:avLst/>
          </a:prstGeom>
          <a:noFill/>
          <a:ln/>
        </p:spPr>
        <p:txBody>
          <a:bodyPr wrap="square" lIns="0" tIns="0" rIns="0" bIns="0" rtlCol="0" anchor="t"/>
          <a:lstStyle/>
          <a:p>
            <a:pPr indent="0" marL="0">
              <a:buNone/>
            </a:pPr>
            <a:r>
              <a:rPr lang="en-GB" altLang="en-US" sz="1050" dirty="0">
                <a:solidFill>
                  <a:schemeClr val="accent5"/>
                </a:solidFill>
              </a:rPr>
              <a:t>Instagram views on one reel. IShowSpeed in Côte d’Ivoire.</a:t>
            </a:r>
            <a:endParaRPr lang="en-GB" sz="1050" dirty="0"/>
          </a:p>
        </p:txBody>
      </p:sp>
      <p:pic>
        <p:nvPicPr>
          <p:cNvPr id="15" name="Photo speed_ma" descr="IShowSpeed in Morocco for the AFCON 2025 Final">    </p:cNvPr>
          <p:cNvPicPr>
            <a:picLocks noChangeAspect="1"/>
          </p:cNvPicPr>
          <p:nvPr/>
        </p:nvPicPr>
        <p:blipFill>
          <a:blip r:embed="rId5"/>
          <a:stretch>
            <a:fillRect/>
          </a:stretch>
        </p:blipFill>
        <p:spPr>
          <a:xfrm>
            <a:off x="6044279" y="1783080"/>
            <a:ext cx="2289810" cy="3429000"/>
          </a:xfrm>
          <a:prstGeom prst="rect">
            <a:avLst/>
          </a:prstGeom>
        </p:spPr>
      </p:pic>
      <p:sp>
        <p:nvSpPr>
          <p:cNvPr id="16" name="Shape 8"/>
          <p:cNvSpPr/>
          <p:nvPr/>
        </p:nvSpPr>
        <p:spPr>
          <a:xfrm>
            <a:off x="6154007" y="4809744"/>
            <a:ext cx="1664208" cy="292608"/>
          </a:xfrm>
          <a:prstGeom prst="roundRect">
            <a:avLst>
              <a:gd name="adj" fmla="val 18750"/>
            </a:avLst>
          </a:prstGeom>
          <a:solidFill>
            <a:schemeClr val="tx1">
              <a:alpha val="70000"/>
            </a:schemeClr>
          </a:solidFill>
          <a:ln/>
        </p:spPr>
      </p:sp>
      <p:sp>
        <p:nvSpPr>
          <p:cNvPr id="17" name="Text 9"/>
          <p:cNvSpPr txBox="1"/>
          <p:nvPr/>
        </p:nvSpPr>
        <p:spPr>
          <a:xfrm>
            <a:off x="6154007" y="4809744"/>
            <a:ext cx="1664208" cy="292608"/>
          </a:xfrm>
          <a:prstGeom prst="rect">
            <a:avLst/>
          </a:prstGeom>
          <a:noFill/>
          <a:ln/>
        </p:spPr>
        <p:txBody>
          <a:bodyPr wrap="square" lIns="0" tIns="0" rIns="0" bIns="0" rtlCol="0" anchor="ctr"/>
          <a:lstStyle/>
          <a:p>
            <a:pPr algn="ctr" indent="0" marL="0">
              <a:buNone/>
            </a:pPr>
            <a:r>
              <a:rPr lang="en-GB" altLang="en-US" sz="1000" dirty="0">
                <a:solidFill>
                  <a:schemeClr val="bg1"/>
                </a:solidFill>
              </a:rPr>
              <a:t>Morocco, AFCON Final</a:t>
            </a:r>
            <a:endParaRPr lang="en-GB" sz="1000" dirty="0"/>
          </a:p>
        </p:txBody>
      </p:sp>
      <p:sp>
        <p:nvSpPr>
          <p:cNvPr id="18" name="Text 10"/>
          <p:cNvSpPr txBox="1"/>
          <p:nvPr/>
        </p:nvSpPr>
        <p:spPr>
          <a:xfrm>
            <a:off x="6044279" y="5321808"/>
            <a:ext cx="2289810" cy="411480"/>
          </a:xfrm>
          <a:prstGeom prst="rect">
            <a:avLst/>
          </a:prstGeom>
          <a:noFill/>
          <a:ln/>
        </p:spPr>
        <p:txBody>
          <a:bodyPr wrap="square" lIns="0" tIns="0" rIns="0" bIns="0" rtlCol="0" anchor="t"/>
          <a:lstStyle/>
          <a:p>
            <a:pPr indent="0" marL="0">
              <a:buNone/>
            </a:pPr>
            <a:r>
              <a:rPr lang="en-GB" altLang="en-US" sz="2600" dirty="0">
                <a:solidFill>
                  <a:schemeClr val="accent4"/>
                </a:solidFill>
              </a:rPr>
              <a:t>16M</a:t>
            </a:r>
            <a:endParaRPr lang="en-GB" sz="2600" dirty="0"/>
          </a:p>
        </p:txBody>
      </p:sp>
      <p:sp>
        <p:nvSpPr>
          <p:cNvPr id="19" name="Text 11"/>
          <p:cNvSpPr txBox="1"/>
          <p:nvPr/>
        </p:nvSpPr>
        <p:spPr>
          <a:xfrm>
            <a:off x="6044279" y="5733288"/>
            <a:ext cx="2289810" cy="347472"/>
          </a:xfrm>
          <a:prstGeom prst="rect">
            <a:avLst/>
          </a:prstGeom>
          <a:noFill/>
          <a:ln/>
        </p:spPr>
        <p:txBody>
          <a:bodyPr wrap="square" lIns="0" tIns="0" rIns="0" bIns="0" rtlCol="0" anchor="t"/>
          <a:lstStyle/>
          <a:p>
            <a:pPr indent="0" marL="0">
              <a:buNone/>
            </a:pPr>
            <a:r>
              <a:rPr lang="en-GB" altLang="en-US" sz="1050" dirty="0">
                <a:solidFill>
                  <a:schemeClr val="accent5"/>
                </a:solidFill>
              </a:rPr>
              <a:t>Live stream views of the AFCON mascot reveal.</a:t>
            </a:r>
            <a:endParaRPr lang="en-GB" sz="1050" dirty="0"/>
          </a:p>
        </p:txBody>
      </p:sp>
      <p:pic>
        <p:nvPicPr>
          <p:cNvPr id="20" name="Photo ashton" descr="Ashton Hall Africa Tour, Nigeria leg">    </p:cNvPr>
          <p:cNvPicPr>
            <a:picLocks noChangeAspect="1"/>
          </p:cNvPicPr>
          <p:nvPr/>
        </p:nvPicPr>
        <p:blipFill>
          <a:blip r:embed="rId6"/>
          <a:stretch>
            <a:fillRect/>
          </a:stretch>
        </p:blipFill>
        <p:spPr>
          <a:xfrm>
            <a:off x="8899855" y="1783080"/>
            <a:ext cx="2743200" cy="3429000"/>
          </a:xfrm>
          <a:prstGeom prst="rect">
            <a:avLst/>
          </a:prstGeom>
        </p:spPr>
      </p:pic>
      <p:sp>
        <p:nvSpPr>
          <p:cNvPr id="21" name="Shape 12"/>
          <p:cNvSpPr/>
          <p:nvPr/>
        </p:nvSpPr>
        <p:spPr>
          <a:xfrm>
            <a:off x="9009583" y="4809744"/>
            <a:ext cx="662940" cy="292608"/>
          </a:xfrm>
          <a:prstGeom prst="roundRect">
            <a:avLst>
              <a:gd name="adj" fmla="val 18750"/>
            </a:avLst>
          </a:prstGeom>
          <a:solidFill>
            <a:schemeClr val="tx1">
              <a:alpha val="70000"/>
            </a:schemeClr>
          </a:solidFill>
          <a:ln/>
        </p:spPr>
      </p:sp>
      <p:sp>
        <p:nvSpPr>
          <p:cNvPr id="22" name="Text 13"/>
          <p:cNvSpPr txBox="1"/>
          <p:nvPr/>
        </p:nvSpPr>
        <p:spPr>
          <a:xfrm>
            <a:off x="9009583" y="4809744"/>
            <a:ext cx="662940" cy="292608"/>
          </a:xfrm>
          <a:prstGeom prst="rect">
            <a:avLst/>
          </a:prstGeom>
          <a:noFill/>
          <a:ln/>
        </p:spPr>
        <p:txBody>
          <a:bodyPr wrap="square" lIns="0" tIns="0" rIns="0" bIns="0" rtlCol="0" anchor="ctr"/>
          <a:lstStyle/>
          <a:p>
            <a:pPr algn="ctr" indent="0" marL="0">
              <a:buNone/>
            </a:pPr>
            <a:r>
              <a:rPr lang="en-GB" altLang="en-US" sz="1000" dirty="0">
                <a:solidFill>
                  <a:schemeClr val="bg1"/>
                </a:solidFill>
              </a:rPr>
              <a:t>Lagos</a:t>
            </a:r>
            <a:endParaRPr lang="en-GB" sz="1000" dirty="0"/>
          </a:p>
        </p:txBody>
      </p:sp>
      <p:sp>
        <p:nvSpPr>
          <p:cNvPr id="23" name="Text 14"/>
          <p:cNvSpPr txBox="1"/>
          <p:nvPr/>
        </p:nvSpPr>
        <p:spPr>
          <a:xfrm>
            <a:off x="8899855" y="5321808"/>
            <a:ext cx="2743200" cy="411480"/>
          </a:xfrm>
          <a:prstGeom prst="rect">
            <a:avLst/>
          </a:prstGeom>
          <a:noFill/>
          <a:ln/>
        </p:spPr>
        <p:txBody>
          <a:bodyPr wrap="square" lIns="0" tIns="0" rIns="0" bIns="0" rtlCol="0" anchor="t"/>
          <a:lstStyle/>
          <a:p>
            <a:pPr indent="0" marL="0">
              <a:buNone/>
            </a:pPr>
            <a:r>
              <a:rPr lang="en-GB" altLang="en-US" sz="2600" dirty="0">
                <a:solidFill>
                  <a:schemeClr val="accent4"/>
                </a:solidFill>
              </a:rPr>
              <a:t>1.57B</a:t>
            </a:r>
            <a:endParaRPr lang="en-GB" sz="2600" dirty="0"/>
          </a:p>
        </p:txBody>
      </p:sp>
      <p:sp>
        <p:nvSpPr>
          <p:cNvPr id="24" name="Text 15"/>
          <p:cNvSpPr txBox="1"/>
          <p:nvPr/>
        </p:nvSpPr>
        <p:spPr>
          <a:xfrm>
            <a:off x="8899855" y="5733288"/>
            <a:ext cx="2743200" cy="347472"/>
          </a:xfrm>
          <a:prstGeom prst="rect">
            <a:avLst/>
          </a:prstGeom>
          <a:noFill/>
          <a:ln/>
        </p:spPr>
        <p:txBody>
          <a:bodyPr wrap="square" lIns="0" tIns="0" rIns="0" bIns="0" rtlCol="0" anchor="t"/>
          <a:lstStyle/>
          <a:p>
            <a:pPr indent="0" marL="0">
              <a:buNone/>
            </a:pPr>
            <a:r>
              <a:rPr lang="en-GB" altLang="en-US" sz="1050" dirty="0">
                <a:solidFill>
                  <a:schemeClr val="accent5"/>
                </a:solidFill>
              </a:rPr>
              <a:t>Tour views across five countries, managed end to end.</a:t>
            </a:r>
            <a:endParaRPr lang="en-GB" sz="1050" dirty="0"/>
          </a:p>
        </p:txBody>
      </p:sp>
      <p:sp>
        <p:nvSpPr>
          <p:cNvPr id="25" name="Text 16"/>
          <p:cNvSpPr txBox="1"/>
          <p:nvPr/>
        </p:nvSpPr>
        <p:spPr>
          <a:xfrm>
            <a:off x="548640" y="6144768"/>
            <a:ext cx="11094415" cy="201168"/>
          </a:xfrm>
          <a:prstGeom prst="rect">
            <a:avLst/>
          </a:prstGeom>
          <a:noFill/>
          <a:ln/>
        </p:spPr>
        <p:txBody>
          <a:bodyPr wrap="square" lIns="0" tIns="0" rIns="0" bIns="0" rtlCol="0" anchor="t"/>
          <a:lstStyle/>
          <a:p>
            <a:pPr indent="0" marL="0">
              <a:buNone/>
            </a:pPr>
            <a:r>
              <a:rPr lang="en-GB" altLang="en-US" sz="900" dirty="0">
                <a:solidFill>
                  <a:schemeClr val="accent5"/>
                </a:solidFill>
              </a:rPr>
              <a:t>Sources: Instagram and YouTube analytics, tour figures supplied by the client.</a:t>
            </a:r>
            <a:endParaRPr lang="en-GB" sz="9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E0C47A"/>
                </a:solidFill>
                <a:latin typeface="Jost"/>
                <a:ea typeface="Jost"/>
                <a:cs typeface="Jos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Background stripes" descr="/home/user/Mother-Africa/proposition-deck/build/assets/stripes.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548640" y="411480"/>
            <a:ext cx="5257800" cy="256032"/>
          </a:xfrm>
          <a:prstGeom prst="rect">
            <a:avLst/>
          </a:prstGeom>
          <a:noFill/>
          <a:ln/>
        </p:spPr>
        <p:txBody>
          <a:bodyPr wrap="square" lIns="0" tIns="0" rIns="0" bIns="0" rtlCol="0" anchor="t"/>
          <a:lstStyle/>
          <a:p>
            <a:pPr algn="l" indent="0" marL="0">
              <a:buNone/>
            </a:pPr>
            <a:r>
              <a:rPr lang="en-GB" altLang="en-US" sz="1100" b="1" spc="300" kern="0" dirty="0">
                <a:solidFill>
                  <a:schemeClr val="accent1"/>
                </a:solidFill>
              </a:rPr>
              <a:t>THE ASK</a:t>
            </a:r>
            <a:endParaRPr lang="en-GB" sz="1100" dirty="0"/>
          </a:p>
        </p:txBody>
      </p:sp>
      <p:sp>
        <p:nvSpPr>
          <p:cNvPr id="4" name="Text 0"/>
          <p:cNvSpPr/>
          <p:nvPr>
            <p:ph idx="101" type="title" hasCustomPrompt="1"/>
          </p:nvPr>
        </p:nvSpPr>
        <p:spPr>
          <a:xfrm>
            <a:off x="548640" y="676656"/>
            <a:ext cx="5257800" cy="1188720"/>
          </a:xfrm>
          <a:prstGeom prst="rect">
            <a:avLst/>
          </a:prstGeom>
          <a:noFill/>
          <a:ln/>
        </p:spPr>
        <p:txBody>
          <a:bodyPr wrap="square" lIns="0" tIns="0" rIns="0" bIns="0" rtlCol="0" anchor="t"/>
          <a:lstStyle/>
          <a:p>
            <a:pPr algn="l" indent="0" marL="0">
              <a:buNone/>
            </a:pPr>
            <a:r>
              <a:rPr lang="en-GB" altLang="en-US" sz="3800" dirty="0">
                <a:solidFill>
                  <a:schemeClr val="bg1"/>
                </a:solidFill>
              </a:rPr>
              <a:t>Let us build the 5th edition together</a:t>
            </a:r>
            <a:endParaRPr lang="en-GB" sz="3800" dirty="0"/>
          </a:p>
        </p:txBody>
      </p:sp>
      <p:pic>
        <p:nvPicPr>
          <p:cNvPr id="6" name="Photo poster2026" descr="Mother Africa Festival 2026 poster: Davido, 27 and 28 December, Marcory Zone 4, Abidjan">    </p:cNvPr>
          <p:cNvPicPr>
            <a:picLocks noChangeAspect="1"/>
          </p:cNvPicPr>
          <p:nvPr/>
        </p:nvPicPr>
        <p:blipFill>
          <a:blip r:embed="rId2"/>
          <a:stretch>
            <a:fillRect/>
          </a:stretch>
        </p:blipFill>
        <p:spPr>
          <a:xfrm>
            <a:off x="8641080" y="685800"/>
            <a:ext cx="2998102" cy="4023360"/>
          </a:xfrm>
          <a:prstGeom prst="rect">
            <a:avLst/>
          </a:prstGeom>
        </p:spPr>
      </p:pic>
      <p:sp>
        <p:nvSpPr>
          <p:cNvPr id="7" name="Shape 2"/>
          <p:cNvSpPr/>
          <p:nvPr/>
        </p:nvSpPr>
        <p:spPr>
          <a:xfrm>
            <a:off x="548640" y="2148840"/>
            <a:ext cx="457200" cy="457200"/>
          </a:xfrm>
          <a:prstGeom prst="ellipse">
            <a:avLst/>
          </a:prstGeom>
          <a:solidFill>
            <a:schemeClr val="accent1"/>
          </a:solidFill>
          <a:ln/>
        </p:spPr>
      </p:sp>
      <p:sp>
        <p:nvSpPr>
          <p:cNvPr id="8" name="Text 3"/>
          <p:cNvSpPr txBox="1"/>
          <p:nvPr/>
        </p:nvSpPr>
        <p:spPr>
          <a:xfrm>
            <a:off x="548640" y="214884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1</a:t>
            </a:r>
            <a:endParaRPr lang="en-GB" sz="1400" dirty="0"/>
          </a:p>
        </p:txBody>
      </p:sp>
      <p:sp>
        <p:nvSpPr>
          <p:cNvPr id="9" name="Text 4"/>
          <p:cNvSpPr txBox="1"/>
          <p:nvPr/>
        </p:nvSpPr>
        <p:spPr>
          <a:xfrm>
            <a:off x="1188720" y="2112264"/>
            <a:ext cx="5943600" cy="329184"/>
          </a:xfrm>
          <a:prstGeom prst="rect">
            <a:avLst/>
          </a:prstGeom>
          <a:noFill/>
          <a:ln/>
        </p:spPr>
        <p:txBody>
          <a:bodyPr wrap="square" lIns="0" tIns="0" rIns="0" bIns="0" rtlCol="0" anchor="t"/>
          <a:lstStyle/>
          <a:p>
            <a:pPr indent="0" marL="0">
              <a:buNone/>
            </a:pPr>
            <a:r>
              <a:rPr lang="en-GB" altLang="en-US" sz="2000" dirty="0">
                <a:solidFill>
                  <a:schemeClr val="bg1"/>
                </a:solidFill>
                <a:latin typeface="+mj-lt" pitchFamily="34" charset="0"/>
                <a:ea typeface="+mj-lt" pitchFamily="34" charset="-122"/>
                <a:cs typeface="+mj-lt" pitchFamily="34" charset="-120"/>
              </a:rPr>
              <a:t>Confirm the scope and agree the targets</a:t>
            </a:r>
            <a:endParaRPr lang="en-GB" sz="2000" dirty="0"/>
          </a:p>
        </p:txBody>
      </p:sp>
      <p:sp>
        <p:nvSpPr>
          <p:cNvPr id="10" name="Text 5"/>
          <p:cNvSpPr txBox="1"/>
          <p:nvPr/>
        </p:nvSpPr>
        <p:spPr>
          <a:xfrm>
            <a:off x="1188720" y="2441448"/>
            <a:ext cx="5943600" cy="237744"/>
          </a:xfrm>
          <a:prstGeom prst="rect">
            <a:avLst/>
          </a:prstGeom>
          <a:noFill/>
          <a:ln/>
        </p:spPr>
        <p:txBody>
          <a:bodyPr wrap="square" lIns="0" tIns="0" rIns="0" bIns="0" rtlCol="0" anchor="t"/>
          <a:lstStyle/>
          <a:p>
            <a:pPr indent="0" marL="0">
              <a:buNone/>
            </a:pPr>
            <a:r>
              <a:rPr lang="en-GB" altLang="en-US" sz="1200" dirty="0">
                <a:solidFill>
                  <a:schemeClr val="accent4"/>
                </a:solidFill>
              </a:rPr>
              <a:t>This week</a:t>
            </a:r>
            <a:endParaRPr lang="en-GB" sz="1200" dirty="0"/>
          </a:p>
        </p:txBody>
      </p:sp>
      <p:sp>
        <p:nvSpPr>
          <p:cNvPr id="11" name="Shape 6"/>
          <p:cNvSpPr/>
          <p:nvPr/>
        </p:nvSpPr>
        <p:spPr>
          <a:xfrm>
            <a:off x="548640" y="2880360"/>
            <a:ext cx="457200" cy="457200"/>
          </a:xfrm>
          <a:prstGeom prst="ellipse">
            <a:avLst/>
          </a:prstGeom>
          <a:solidFill>
            <a:schemeClr val="accent1"/>
          </a:solidFill>
          <a:ln/>
        </p:spPr>
      </p:sp>
      <p:sp>
        <p:nvSpPr>
          <p:cNvPr id="12" name="Text 7"/>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2</a:t>
            </a:r>
            <a:endParaRPr lang="en-GB" sz="1400" dirty="0"/>
          </a:p>
        </p:txBody>
      </p:sp>
      <p:sp>
        <p:nvSpPr>
          <p:cNvPr id="13" name="Text 8"/>
          <p:cNvSpPr txBox="1"/>
          <p:nvPr/>
        </p:nvSpPr>
        <p:spPr>
          <a:xfrm>
            <a:off x="1188720" y="2843784"/>
            <a:ext cx="5943600" cy="329184"/>
          </a:xfrm>
          <a:prstGeom prst="rect">
            <a:avLst/>
          </a:prstGeom>
          <a:noFill/>
          <a:ln/>
        </p:spPr>
        <p:txBody>
          <a:bodyPr wrap="square" lIns="0" tIns="0" rIns="0" bIns="0" rtlCol="0" anchor="t"/>
          <a:lstStyle/>
          <a:p>
            <a:pPr indent="0" marL="0">
              <a:buNone/>
            </a:pPr>
            <a:r>
              <a:rPr lang="en-GB" altLang="en-US" sz="2000" dirty="0">
                <a:solidFill>
                  <a:schemeClr val="bg1"/>
                </a:solidFill>
                <a:latin typeface="+mj-lt" pitchFamily="34" charset="0"/>
                <a:ea typeface="+mj-lt" pitchFamily="34" charset="-122"/>
                <a:cs typeface="+mj-lt" pitchFamily="34" charset="-120"/>
              </a:rPr>
              <a:t>Approve the creator shortlist</a:t>
            </a:r>
            <a:endParaRPr lang="en-GB" sz="2000" dirty="0"/>
          </a:p>
        </p:txBody>
      </p:sp>
      <p:sp>
        <p:nvSpPr>
          <p:cNvPr id="14" name="Text 9"/>
          <p:cNvSpPr txBox="1"/>
          <p:nvPr/>
        </p:nvSpPr>
        <p:spPr>
          <a:xfrm>
            <a:off x="1188720" y="3172968"/>
            <a:ext cx="5943600" cy="237744"/>
          </a:xfrm>
          <a:prstGeom prst="rect">
            <a:avLst/>
          </a:prstGeom>
          <a:noFill/>
          <a:ln/>
        </p:spPr>
        <p:txBody>
          <a:bodyPr wrap="square" lIns="0" tIns="0" rIns="0" bIns="0" rtlCol="0" anchor="t"/>
          <a:lstStyle/>
          <a:p>
            <a:pPr indent="0" marL="0">
              <a:buNone/>
            </a:pPr>
            <a:r>
              <a:rPr lang="en-GB" altLang="en-US" sz="1200" dirty="0">
                <a:solidFill>
                  <a:schemeClr val="accent4"/>
                </a:solidFill>
              </a:rPr>
              <a:t>By Friday 13 November</a:t>
            </a:r>
            <a:endParaRPr lang="en-GB" sz="1200" dirty="0"/>
          </a:p>
        </p:txBody>
      </p:sp>
      <p:sp>
        <p:nvSpPr>
          <p:cNvPr id="15" name="Shape 10"/>
          <p:cNvSpPr/>
          <p:nvPr/>
        </p:nvSpPr>
        <p:spPr>
          <a:xfrm>
            <a:off x="548640" y="3611880"/>
            <a:ext cx="457200" cy="457200"/>
          </a:xfrm>
          <a:prstGeom prst="ellipse">
            <a:avLst/>
          </a:prstGeom>
          <a:solidFill>
            <a:schemeClr val="accent1"/>
          </a:solidFill>
          <a:ln/>
        </p:spPr>
      </p:sp>
      <p:sp>
        <p:nvSpPr>
          <p:cNvPr id="16" name="Text 11"/>
          <p:cNvSpPr txBox="1"/>
          <p:nvPr/>
        </p:nvSpPr>
        <p:spPr>
          <a:xfrm>
            <a:off x="548640" y="361188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3</a:t>
            </a:r>
            <a:endParaRPr lang="en-GB" sz="1400" dirty="0"/>
          </a:p>
        </p:txBody>
      </p:sp>
      <p:sp>
        <p:nvSpPr>
          <p:cNvPr id="17" name="Text 12"/>
          <p:cNvSpPr txBox="1"/>
          <p:nvPr/>
        </p:nvSpPr>
        <p:spPr>
          <a:xfrm>
            <a:off x="1188720" y="3575304"/>
            <a:ext cx="5943600" cy="329184"/>
          </a:xfrm>
          <a:prstGeom prst="rect">
            <a:avLst/>
          </a:prstGeom>
          <a:noFill/>
          <a:ln/>
        </p:spPr>
        <p:txBody>
          <a:bodyPr wrap="square" lIns="0" tIns="0" rIns="0" bIns="0" rtlCol="0" anchor="t"/>
          <a:lstStyle/>
          <a:p>
            <a:pPr indent="0" marL="0">
              <a:buNone/>
            </a:pPr>
            <a:r>
              <a:rPr lang="en-GB" altLang="en-US" sz="2000" dirty="0">
                <a:solidFill>
                  <a:schemeClr val="bg1"/>
                </a:solidFill>
                <a:latin typeface="+mj-lt" pitchFamily="34" charset="0"/>
                <a:ea typeface="+mj-lt" pitchFamily="34" charset="-122"/>
                <a:cs typeface="+mj-lt" pitchFamily="34" charset="-120"/>
              </a:rPr>
              <a:t>Creators signed and briefed</a:t>
            </a:r>
            <a:endParaRPr lang="en-GB" sz="2000" dirty="0"/>
          </a:p>
        </p:txBody>
      </p:sp>
      <p:sp>
        <p:nvSpPr>
          <p:cNvPr id="18" name="Text 13"/>
          <p:cNvSpPr txBox="1"/>
          <p:nvPr/>
        </p:nvSpPr>
        <p:spPr>
          <a:xfrm>
            <a:off x="1188720" y="3904488"/>
            <a:ext cx="5943600" cy="237744"/>
          </a:xfrm>
          <a:prstGeom prst="rect">
            <a:avLst/>
          </a:prstGeom>
          <a:noFill/>
          <a:ln/>
        </p:spPr>
        <p:txBody>
          <a:bodyPr wrap="square" lIns="0" tIns="0" rIns="0" bIns="0" rtlCol="0" anchor="t"/>
          <a:lstStyle/>
          <a:p>
            <a:pPr indent="0" marL="0">
              <a:buNone/>
            </a:pPr>
            <a:r>
              <a:rPr lang="en-GB" altLang="en-US" sz="1200" dirty="0">
                <a:solidFill>
                  <a:schemeClr val="accent4"/>
                </a:solidFill>
              </a:rPr>
              <a:t>By Friday 20 November</a:t>
            </a:r>
            <a:endParaRPr lang="en-GB" sz="1200" dirty="0"/>
          </a:p>
        </p:txBody>
      </p:sp>
      <p:sp>
        <p:nvSpPr>
          <p:cNvPr id="19" name="Shape 14"/>
          <p:cNvSpPr/>
          <p:nvPr/>
        </p:nvSpPr>
        <p:spPr>
          <a:xfrm>
            <a:off x="548640" y="4343400"/>
            <a:ext cx="457200" cy="457200"/>
          </a:xfrm>
          <a:prstGeom prst="ellipse">
            <a:avLst/>
          </a:prstGeom>
          <a:solidFill>
            <a:schemeClr val="accent1"/>
          </a:solidFill>
          <a:ln/>
        </p:spPr>
      </p:sp>
      <p:sp>
        <p:nvSpPr>
          <p:cNvPr id="20" name="Text 15"/>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GB" altLang="en-US" sz="1400" b="1" dirty="0">
                <a:solidFill>
                  <a:schemeClr val="tx1"/>
                </a:solidFill>
              </a:rPr>
              <a:t>4</a:t>
            </a:r>
            <a:endParaRPr lang="en-GB" sz="1400" dirty="0"/>
          </a:p>
        </p:txBody>
      </p:sp>
      <p:sp>
        <p:nvSpPr>
          <p:cNvPr id="21" name="Text 16"/>
          <p:cNvSpPr txBox="1"/>
          <p:nvPr/>
        </p:nvSpPr>
        <p:spPr>
          <a:xfrm>
            <a:off x="1188720" y="4306824"/>
            <a:ext cx="5943600" cy="329184"/>
          </a:xfrm>
          <a:prstGeom prst="rect">
            <a:avLst/>
          </a:prstGeom>
          <a:noFill/>
          <a:ln/>
        </p:spPr>
        <p:txBody>
          <a:bodyPr wrap="square" lIns="0" tIns="0" rIns="0" bIns="0" rtlCol="0" anchor="t"/>
          <a:lstStyle/>
          <a:p>
            <a:pPr indent="0" marL="0">
              <a:buNone/>
            </a:pPr>
            <a:r>
              <a:rPr lang="en-GB" altLang="en-US" sz="2000" dirty="0">
                <a:solidFill>
                  <a:schemeClr val="bg1"/>
                </a:solidFill>
                <a:latin typeface="+mj-lt" pitchFamily="34" charset="0"/>
                <a:ea typeface="+mj-lt" pitchFamily="34" charset="-122"/>
                <a:cs typeface="+mj-lt" pitchFamily="34" charset="-120"/>
              </a:rPr>
              <a:t>Build up content goes live</a:t>
            </a:r>
            <a:endParaRPr lang="en-GB" sz="2000" dirty="0"/>
          </a:p>
        </p:txBody>
      </p:sp>
      <p:sp>
        <p:nvSpPr>
          <p:cNvPr id="22" name="Text 17"/>
          <p:cNvSpPr txBox="1"/>
          <p:nvPr/>
        </p:nvSpPr>
        <p:spPr>
          <a:xfrm>
            <a:off x="1188720" y="4636008"/>
            <a:ext cx="5943600" cy="237744"/>
          </a:xfrm>
          <a:prstGeom prst="rect">
            <a:avLst/>
          </a:prstGeom>
          <a:noFill/>
          <a:ln/>
        </p:spPr>
        <p:txBody>
          <a:bodyPr wrap="square" lIns="0" tIns="0" rIns="0" bIns="0" rtlCol="0" anchor="t"/>
          <a:lstStyle/>
          <a:p>
            <a:pPr indent="0" marL="0">
              <a:buNone/>
            </a:pPr>
            <a:r>
              <a:rPr lang="en-GB" altLang="en-US" sz="1200" dirty="0">
                <a:solidFill>
                  <a:schemeClr val="accent4"/>
                </a:solidFill>
              </a:rPr>
              <a:t>From Monday 23 November</a:t>
            </a:r>
            <a:endParaRPr lang="en-GB" sz="1200" dirty="0"/>
          </a:p>
        </p:txBody>
      </p:sp>
      <p:sp>
        <p:nvSpPr>
          <p:cNvPr id="23" name="Shape 18"/>
          <p:cNvSpPr/>
          <p:nvPr/>
        </p:nvSpPr>
        <p:spPr>
          <a:xfrm>
            <a:off x="548640" y="5257800"/>
            <a:ext cx="11094415" cy="0"/>
          </a:xfrm>
          <a:prstGeom prst="line">
            <a:avLst/>
          </a:prstGeom>
          <a:noFill/>
          <a:ln w="12700">
            <a:solidFill>
              <a:schemeClr val="accent1"/>
            </a:solidFill>
            <a:prstDash val="solid"/>
          </a:ln>
        </p:spPr>
      </p:sp>
      <p:sp>
        <p:nvSpPr>
          <p:cNvPr id="24" name="Text 19"/>
          <p:cNvSpPr txBox="1"/>
          <p:nvPr/>
        </p:nvSpPr>
        <p:spPr>
          <a:xfrm>
            <a:off x="548640" y="5440680"/>
            <a:ext cx="2743200"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EMAIL</a:t>
            </a:r>
            <a:endParaRPr lang="en-GB" sz="1100" dirty="0"/>
          </a:p>
        </p:txBody>
      </p:sp>
      <p:sp>
        <p:nvSpPr>
          <p:cNvPr id="25" name="Text 20"/>
          <p:cNvSpPr txBox="1"/>
          <p:nvPr/>
        </p:nvSpPr>
        <p:spPr>
          <a:xfrm>
            <a:off x="548640" y="5715000"/>
            <a:ext cx="3291840" cy="274320"/>
          </a:xfrm>
          <a:prstGeom prst="rect">
            <a:avLst/>
          </a:prstGeom>
          <a:noFill/>
          <a:ln/>
        </p:spPr>
        <p:txBody>
          <a:bodyPr wrap="square" lIns="0" tIns="0" rIns="0" bIns="0" rtlCol="0" anchor="t"/>
          <a:lstStyle/>
          <a:p>
            <a:pPr indent="0" marL="0">
              <a:buNone/>
            </a:pPr>
            <a:r>
              <a:rPr lang="en-GB" altLang="en-US" sz="1300" dirty="0">
                <a:solidFill>
                  <a:schemeClr val="bg1"/>
                </a:solidFill>
              </a:rPr>
              <a:t>baba@atoureconsulting.com</a:t>
            </a:r>
            <a:endParaRPr lang="en-GB" sz="1300" dirty="0"/>
          </a:p>
        </p:txBody>
      </p:sp>
      <p:sp>
        <p:nvSpPr>
          <p:cNvPr id="26" name="Text 21"/>
          <p:cNvSpPr txBox="1"/>
          <p:nvPr/>
        </p:nvSpPr>
        <p:spPr>
          <a:xfrm>
            <a:off x="4114800" y="5440680"/>
            <a:ext cx="2743200"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WHATSAPP</a:t>
            </a:r>
            <a:endParaRPr lang="en-GB" sz="1100" dirty="0"/>
          </a:p>
        </p:txBody>
      </p:sp>
      <p:sp>
        <p:nvSpPr>
          <p:cNvPr id="27" name="Text 22"/>
          <p:cNvSpPr txBox="1"/>
          <p:nvPr/>
        </p:nvSpPr>
        <p:spPr>
          <a:xfrm>
            <a:off x="4114800" y="5715000"/>
            <a:ext cx="3291840" cy="274320"/>
          </a:xfrm>
          <a:prstGeom prst="rect">
            <a:avLst/>
          </a:prstGeom>
          <a:noFill/>
          <a:ln/>
        </p:spPr>
        <p:txBody>
          <a:bodyPr wrap="square" lIns="0" tIns="0" rIns="0" bIns="0" rtlCol="0" anchor="t"/>
          <a:lstStyle/>
          <a:p>
            <a:pPr indent="0" marL="0">
              <a:buNone/>
            </a:pPr>
            <a:r>
              <a:rPr lang="en-GB" altLang="en-US" sz="1300" dirty="0">
                <a:solidFill>
                  <a:schemeClr val="bg1"/>
                </a:solidFill>
              </a:rPr>
              <a:t>+44 7456 728616</a:t>
            </a:r>
            <a:endParaRPr lang="en-GB" sz="1300" dirty="0"/>
          </a:p>
        </p:txBody>
      </p:sp>
      <p:sp>
        <p:nvSpPr>
          <p:cNvPr id="28" name="Text 23"/>
          <p:cNvSpPr txBox="1"/>
          <p:nvPr/>
        </p:nvSpPr>
        <p:spPr>
          <a:xfrm>
            <a:off x="7132320" y="5440680"/>
            <a:ext cx="2743200" cy="256032"/>
          </a:xfrm>
          <a:prstGeom prst="rect">
            <a:avLst/>
          </a:prstGeom>
          <a:noFill/>
          <a:ln/>
        </p:spPr>
        <p:txBody>
          <a:bodyPr wrap="square" lIns="0" tIns="0" rIns="0" bIns="0" rtlCol="0" anchor="t"/>
          <a:lstStyle/>
          <a:p>
            <a:pPr indent="0" marL="0">
              <a:buNone/>
            </a:pPr>
            <a:r>
              <a:rPr lang="en-GB" altLang="en-US" sz="1100" b="1" spc="300" kern="0" dirty="0">
                <a:solidFill>
                  <a:schemeClr val="accent1"/>
                </a:solidFill>
              </a:rPr>
              <a:t>ONLINE</a:t>
            </a:r>
            <a:endParaRPr lang="en-GB" sz="1100" dirty="0"/>
          </a:p>
        </p:txBody>
      </p:sp>
      <p:sp>
        <p:nvSpPr>
          <p:cNvPr id="29" name="Text 24"/>
          <p:cNvSpPr txBox="1"/>
          <p:nvPr/>
        </p:nvSpPr>
        <p:spPr>
          <a:xfrm>
            <a:off x="7132320" y="5715000"/>
            <a:ext cx="5029200" cy="274320"/>
          </a:xfrm>
          <a:prstGeom prst="rect">
            <a:avLst/>
          </a:prstGeom>
          <a:noFill/>
          <a:ln/>
        </p:spPr>
        <p:txBody>
          <a:bodyPr wrap="square" lIns="0" tIns="0" rIns="0" bIns="0" rtlCol="0" anchor="t"/>
          <a:lstStyle/>
          <a:p>
            <a:pPr indent="0" marL="0">
              <a:buNone/>
            </a:pPr>
            <a:r>
              <a:rPr lang="en-GB" altLang="en-US" sz="1300" dirty="0">
                <a:solidFill>
                  <a:schemeClr val="bg1"/>
                </a:solidFill>
              </a:rPr>
              <a:t>atoureconsulting.com  ·  @atoure.management</a:t>
            </a:r>
            <a:endParaRPr lang="en-GB" sz="1300" dirty="0"/>
          </a:p>
        </p:txBody>
      </p:sp>
      <p:sp>
        <p:nvSpPr>
          <p:cNvPr id="30" name="Text 25"/>
          <p:cNvSpPr txBox="1"/>
          <p:nvPr/>
        </p:nvSpPr>
        <p:spPr>
          <a:xfrm>
            <a:off x="548640" y="6263640"/>
            <a:ext cx="7315200" cy="237744"/>
          </a:xfrm>
          <a:prstGeom prst="rect">
            <a:avLst/>
          </a:prstGeom>
          <a:noFill/>
          <a:ln/>
        </p:spPr>
        <p:txBody>
          <a:bodyPr wrap="square" lIns="0" tIns="0" rIns="0" bIns="0" rtlCol="0" anchor="t"/>
          <a:lstStyle/>
          <a:p>
            <a:pPr indent="0" marL="0">
              <a:buNone/>
            </a:pPr>
            <a:r>
              <a:rPr lang="en-GB" altLang="en-US" sz="1100" dirty="0">
                <a:solidFill>
                  <a:schemeClr val="accent5"/>
                </a:solidFill>
              </a:rPr>
              <a:t>Baba Touré, Director. AToure Management &amp; Consulting.</a:t>
            </a:r>
            <a:endParaRPr lang="en-GB" sz="1100" dirty="0"/>
          </a:p>
        </p:txBody>
      </p:sp>
      <p:pic>
        <p:nvPicPr>
          <p:cNvPr id="31" name="Image 2" descr="AToure Management &amp; Consulting">    </p:cNvPr>
          <p:cNvPicPr>
            <a:picLocks noChangeAspect="1"/>
          </p:cNvPicPr>
          <p:nvPr/>
        </p:nvPicPr>
        <p:blipFill>
          <a:blip r:embed="rId3"/>
          <a:stretch>
            <a:fillRect/>
          </a:stretch>
        </p:blipFill>
        <p:spPr>
          <a:xfrm>
            <a:off x="9631375" y="6236208"/>
            <a:ext cx="2011680" cy="32186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256032"/>
          </a:xfrm>
          <a:prstGeom prst="rect">
            <a:avLst/>
          </a:prstGeom>
          <a:noFill/>
          <a:ln/>
        </p:spPr>
        <p:txBody>
          <a:bodyPr wrap="square" lIns="0" tIns="0" rIns="0" bIns="0" rtlCol="0" anchor="t"/>
          <a:lstStyle/>
          <a:p>
            <a:pPr algn="l" indent="0" marL="0">
              <a:buNone/>
            </a:pPr>
            <a:r>
              <a:rPr lang="en-GB" altLang="en-US" sz="1100" b="1" spc="300" kern="0" dirty="0">
                <a:solidFill>
                  <a:schemeClr val="accent3"/>
                </a:solidFill>
              </a:rPr>
              <a:t>APPENDIX  ·  SAMPLE REPORT, PAGE 2</a:t>
            </a:r>
            <a:endParaRPr lang="en-GB" sz="1100" dirty="0"/>
          </a:p>
        </p:txBody>
      </p:sp>
      <p:sp>
        <p:nvSpPr>
          <p:cNvPr id="3" name="Text 0"/>
          <p:cNvSpPr/>
          <p:nvPr>
            <p:ph idx="101" type="title" hasCustomPrompt="1"/>
          </p:nvPr>
        </p:nvSpPr>
        <p:spPr>
          <a:xfrm>
            <a:off x="548640" y="676656"/>
            <a:ext cx="11094415" cy="777240"/>
          </a:xfrm>
          <a:prstGeom prst="rect">
            <a:avLst/>
          </a:prstGeom>
          <a:noFill/>
          <a:ln/>
        </p:spPr>
        <p:txBody>
          <a:bodyPr wrap="square" lIns="0" tIns="0" rIns="0" bIns="0" rtlCol="0" anchor="t"/>
          <a:lstStyle/>
          <a:p>
            <a:pPr algn="l" indent="0" marL="0">
              <a:buNone/>
            </a:pPr>
            <a:r>
              <a:rPr lang="en-GB" altLang="en-US" sz="3800" dirty="0">
                <a:solidFill>
                  <a:schemeClr val="tx1"/>
                </a:solidFill>
              </a:rPr>
              <a:t>Every number breaks down, creator by creator</a:t>
            </a:r>
            <a:endParaRPr lang="en-GB" sz="3800" dirty="0"/>
          </a:p>
        </p:txBody>
      </p:sp>
      <p:pic>
        <p:nvPicPr>
          <p:cNvPr id="5" name="Image 0" descr="AToure Management &amp; Consulting">    </p:cNvPr>
          <p:cNvPicPr>
            <a:picLocks noChangeAspect="1"/>
          </p:cNvPicPr>
          <p:nvPr/>
        </p:nvPicPr>
        <p:blipFill>
          <a:blip r:embed="rId1"/>
          <a:stretch>
            <a:fillRect/>
          </a:stretch>
        </p:blipFill>
        <p:spPr>
          <a:xfrm>
            <a:off x="9098280" y="301752"/>
            <a:ext cx="1417320" cy="226771"/>
          </a:xfrm>
          <a:prstGeom prst="rect">
            <a:avLst/>
          </a:prstGeom>
        </p:spPr>
      </p:pic>
      <p:sp>
        <p:nvSpPr>
          <p:cNvPr id="6" name="Text 2"/>
          <p:cNvSpPr txBox="1"/>
          <p:nvPr/>
        </p:nvSpPr>
        <p:spPr>
          <a:xfrm>
            <a:off x="10570464" y="246888"/>
            <a:ext cx="329184" cy="329184"/>
          </a:xfrm>
          <a:prstGeom prst="rect">
            <a:avLst/>
          </a:prstGeom>
          <a:noFill/>
          <a:ln/>
        </p:spPr>
        <p:txBody>
          <a:bodyPr wrap="square" lIns="0" tIns="0" rIns="0" bIns="0" rtlCol="0" anchor="ctr"/>
          <a:lstStyle/>
          <a:p>
            <a:pPr algn="ctr" indent="0" marL="0">
              <a:buNone/>
            </a:pPr>
            <a:r>
              <a:rPr lang="en-GB" altLang="en-US" sz="1600" dirty="0">
                <a:solidFill>
                  <a:schemeClr val="accent3"/>
                </a:solidFill>
              </a:rPr>
              <a:t>×</a:t>
            </a:r>
            <a:endParaRPr lang="en-GB" sz="1600" dirty="0"/>
          </a:p>
        </p:txBody>
      </p:sp>
      <p:pic>
        <p:nvPicPr>
          <p:cNvPr id="7" name="Image 1" descr="Mother Africa Festival">    </p:cNvPr>
          <p:cNvPicPr>
            <a:picLocks noChangeAspect="1"/>
          </p:cNvPicPr>
          <p:nvPr/>
        </p:nvPicPr>
        <p:blipFill>
          <a:blip r:embed="rId2"/>
          <a:stretch>
            <a:fillRect/>
          </a:stretch>
        </p:blipFill>
        <p:spPr>
          <a:xfrm>
            <a:off x="10984687" y="182880"/>
            <a:ext cx="657231" cy="466344"/>
          </a:xfrm>
          <a:prstGeom prst="rect">
            <a:avLst/>
          </a:prstGeom>
        </p:spPr>
      </p:pic>
      <p:sp>
        <p:nvSpPr>
          <p:cNvPr id="8" name="Shape 3"/>
          <p:cNvSpPr/>
          <p:nvPr/>
        </p:nvSpPr>
        <p:spPr>
          <a:xfrm>
            <a:off x="548640" y="1783080"/>
            <a:ext cx="11094415" cy="4434840"/>
          </a:xfrm>
          <a:prstGeom prst="roundRect">
            <a:avLst>
              <a:gd name="adj" fmla="val 1649"/>
            </a:avLst>
          </a:prstGeom>
          <a:solidFill>
            <a:schemeClr val="bg1"/>
          </a:solidFill>
          <a:ln w="9525">
            <a:solidFill>
              <a:schemeClr val="tx2">
                <a:alpha val="28000"/>
              </a:schemeClr>
            </a:solidFill>
            <a:prstDash val="solid"/>
          </a:ln>
          <a:effectLst>
            <a:outerShdw sx="100000" sy="100000" kx="0" ky="0" algn="bl" rotWithShape="0" blurRad="127000" dist="38100" dir="5400000">
              <a:srgbClr val="133524">
                <a:alpha val="10000"/>
              </a:srgbClr>
            </a:outerShdw>
          </a:effectLst>
        </p:spPr>
      </p:sp>
      <p:sp>
        <p:nvSpPr>
          <p:cNvPr id="9" name="Text 4"/>
          <p:cNvSpPr txBox="1"/>
          <p:nvPr/>
        </p:nvSpPr>
        <p:spPr>
          <a:xfrm>
            <a:off x="822960" y="1984248"/>
            <a:ext cx="3657600" cy="201168"/>
          </a:xfrm>
          <a:prstGeom prst="rect">
            <a:avLst/>
          </a:prstGeom>
          <a:noFill/>
          <a:ln/>
        </p:spPr>
        <p:txBody>
          <a:bodyPr wrap="square" lIns="0" tIns="0" rIns="0" bIns="0" rtlCol="0" anchor="t"/>
          <a:lstStyle/>
          <a:p>
            <a:pPr indent="0" marL="0">
              <a:buNone/>
            </a:pPr>
            <a:r>
              <a:rPr lang="en-GB" altLang="en-US" sz="900" b="1" spc="300" kern="0" dirty="0">
                <a:solidFill>
                  <a:schemeClr val="accent3"/>
                </a:solidFill>
              </a:rPr>
              <a:t>VISIBILITY REPORT  ·  PAGE 2</a:t>
            </a:r>
            <a:endParaRPr lang="en-GB" sz="900" dirty="0"/>
          </a:p>
        </p:txBody>
      </p:sp>
      <p:sp>
        <p:nvSpPr>
          <p:cNvPr id="10" name="Text 5"/>
          <p:cNvSpPr txBox="1"/>
          <p:nvPr/>
        </p:nvSpPr>
        <p:spPr>
          <a:xfrm>
            <a:off x="822960" y="2185416"/>
            <a:ext cx="5486400" cy="365760"/>
          </a:xfrm>
          <a:prstGeom prst="rect">
            <a:avLst/>
          </a:prstGeom>
          <a:noFill/>
          <a:ln/>
        </p:spPr>
        <p:txBody>
          <a:bodyPr wrap="square" lIns="0" tIns="0" rIns="0" bIns="0" rtlCol="0" anchor="t"/>
          <a:lstStyle/>
          <a:p>
            <a:pPr indent="0" marL="0">
              <a:buNone/>
            </a:pPr>
            <a:r>
              <a:rPr lang="en-GB" altLang="en-US" sz="1800" dirty="0">
                <a:solidFill>
                  <a:schemeClr val="tx1"/>
                </a:solidFill>
                <a:latin typeface="+mj-lt" pitchFamily="34" charset="0"/>
                <a:ea typeface="+mj-lt" pitchFamily="34" charset="-122"/>
                <a:cs typeface="+mj-lt" pitchFamily="34" charset="-120"/>
              </a:rPr>
              <a:t>Mother Africa Festival 2026</a:t>
            </a:r>
            <a:endParaRPr lang="en-GB" sz="1800" dirty="0"/>
          </a:p>
        </p:txBody>
      </p:sp>
      <p:pic>
        <p:nvPicPr>
          <p:cNvPr id="11" name="Image 2" descr="Mother Africa Festival">    </p:cNvPr>
          <p:cNvPicPr>
            <a:picLocks noChangeAspect="1"/>
          </p:cNvPicPr>
          <p:nvPr/>
        </p:nvPicPr>
        <p:blipFill>
          <a:blip r:embed="rId3"/>
          <a:stretch>
            <a:fillRect/>
          </a:stretch>
        </p:blipFill>
        <p:spPr>
          <a:xfrm>
            <a:off x="10865815" y="1984248"/>
            <a:ext cx="541249" cy="384048"/>
          </a:xfrm>
          <a:prstGeom prst="rect">
            <a:avLst/>
          </a:prstGeom>
        </p:spPr>
      </p:pic>
      <p:sp>
        <p:nvSpPr>
          <p:cNvPr id="12" name="Shape 6"/>
          <p:cNvSpPr/>
          <p:nvPr/>
        </p:nvSpPr>
        <p:spPr>
          <a:xfrm>
            <a:off x="822960" y="2624328"/>
            <a:ext cx="10545775" cy="0"/>
          </a:xfrm>
          <a:prstGeom prst="line">
            <a:avLst/>
          </a:prstGeom>
          <a:noFill/>
          <a:ln w="12700">
            <a:solidFill>
              <a:schemeClr val="accent1"/>
            </a:solidFill>
            <a:prstDash val="solid"/>
          </a:ln>
        </p:spPr>
      </p:sp>
      <p:sp>
        <p:nvSpPr>
          <p:cNvPr id="13" name="Text 7"/>
          <p:cNvSpPr txBox="1"/>
          <p:nvPr/>
        </p:nvSpPr>
        <p:spPr>
          <a:xfrm>
            <a:off x="822960" y="2770632"/>
            <a:ext cx="36576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BY CREATOR</a:t>
            </a:r>
            <a:endParaRPr lang="en-GB" sz="1100" dirty="0"/>
          </a:p>
        </p:txBody>
      </p:sp>
      <p:graphicFrame>
        <p:nvGraphicFramePr>
          <p:cNvPr id="13" name="Sample table by creator"/>
          <p:cNvGraphicFramePr>
            <a:graphicFrameLocks noGrp="1"/>
          </p:cNvGraphicFramePr>
          <p:nvPr>
            <p:extLst>
              <p:ext uri="{D42A27DB-BD31-4B8C-83A1-F6EECF244321}">
                <p14:modId xmlns:p14="http://schemas.microsoft.com/office/powerpoint/2010/main" val="1579011935"/>
              </p:ext>
            </p:extLst>
          </p:nvPr>
        </p:nvGraphicFramePr>
        <p:xfrm>
          <a:off x="822960" y="3026664"/>
          <a:ext cx="6126480" cy="914400"/>
        </p:xfrm>
        <a:graphic>
          <a:graphicData uri="http://schemas.openxmlformats.org/drawingml/2006/table">
            <a:tbl>
              <a:tblPr/>
              <a:tblGrid>
                <a:gridCol w="1828800"/>
                <a:gridCol w="731520"/>
                <a:gridCol w="1188720"/>
                <a:gridCol w="1188720"/>
                <a:gridCol w="1188720"/>
              </a:tblGrid>
              <a:tr h="274320">
                <a:tc>
                  <a:txBody>
                    <a:bodyPr/>
                    <a:lstStyle/>
                    <a:p>
                      <a:pPr indent="0" marL="0">
                        <a:buNone/>
                      </a:pPr>
                      <a:r>
                        <a:rPr lang="en-US" sz="1000" b="1" dirty="0">
                          <a:solidFill>
                            <a:schemeClr val="bg1"/>
                          </a:solidFill>
                        </a:rPr>
                        <a:t>Creator</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Posts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Views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Interactions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Ticket clicks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r>
              <a:tr h="274320">
                <a:tc>
                  <a:txBody>
                    <a:bodyPr/>
                    <a:lstStyle/>
                    <a:p>
                      <a:pPr indent="0" marL="0">
                        <a:buNone/>
                      </a:pPr>
                      <a:r>
                        <a:rPr lang="en-US" sz="1000" b="1" dirty="0">
                          <a:solidFill>
                            <a:schemeClr val="tx1"/>
                          </a:solidFill>
                        </a:rPr>
                        <a:t>Creator 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820,000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61,000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2,100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Creator B</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5</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610,000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48,500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1,650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Creator C</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455,000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39,200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1,240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Creator D</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380,000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27,800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980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Creator 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290,000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22,100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730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13 other creators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42</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645,000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51,400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2,700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Total</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64</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3,200,000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250,000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9,400</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bl>
          </a:graphicData>
        </a:graphic>
      </p:graphicFrame>
      <p:sp>
        <p:nvSpPr>
          <p:cNvPr id="15" name="Text 8"/>
          <p:cNvSpPr txBox="1"/>
          <p:nvPr/>
        </p:nvSpPr>
        <p:spPr>
          <a:xfrm>
            <a:off x="822960" y="5486400"/>
            <a:ext cx="6309360" cy="384048"/>
          </a:xfrm>
          <a:prstGeom prst="rect">
            <a:avLst/>
          </a:prstGeom>
          <a:noFill/>
          <a:ln/>
        </p:spPr>
        <p:txBody>
          <a:bodyPr wrap="square" lIns="0" tIns="0" rIns="0" bIns="0" rtlCol="0" anchor="t"/>
          <a:lstStyle/>
          <a:p>
            <a:pPr indent="0" marL="0">
              <a:buNone/>
            </a:pPr>
            <a:r>
              <a:rPr lang="en-GB" altLang="en-US" sz="1000" dirty="0">
                <a:solidFill>
                  <a:schemeClr val="tx2"/>
                </a:solidFill>
              </a:rPr>
              <a:t>The full report also lists every post with its link, platform and time, and ends with recommendations. Every figure comes from creator analytics, tracked links or ticketing data; anything modelled is labelled estimated.</a:t>
            </a:r>
            <a:endParaRPr lang="en-GB" sz="1000" dirty="0"/>
          </a:p>
        </p:txBody>
      </p:sp>
      <p:sp>
        <p:nvSpPr>
          <p:cNvPr id="16" name="Text 9"/>
          <p:cNvSpPr txBox="1"/>
          <p:nvPr/>
        </p:nvSpPr>
        <p:spPr>
          <a:xfrm>
            <a:off x="7269480" y="2770632"/>
            <a:ext cx="27432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AUDIENCE</a:t>
            </a:r>
            <a:endParaRPr lang="en-GB" sz="1100" dirty="0"/>
          </a:p>
        </p:txBody>
      </p:sp>
      <p:sp>
        <p:nvSpPr>
          <p:cNvPr id="17" name="Text 10"/>
          <p:cNvSpPr txBox="1"/>
          <p:nvPr/>
        </p:nvSpPr>
        <p:spPr>
          <a:xfrm>
            <a:off x="7269480" y="3063240"/>
            <a:ext cx="1417320" cy="219456"/>
          </a:xfrm>
          <a:prstGeom prst="rect">
            <a:avLst/>
          </a:prstGeom>
          <a:noFill/>
          <a:ln/>
        </p:spPr>
        <p:txBody>
          <a:bodyPr wrap="square" lIns="0" tIns="0" rIns="0" bIns="0" rtlCol="0" anchor="ctr"/>
          <a:lstStyle/>
          <a:p>
            <a:pPr indent="0" marL="0">
              <a:buNone/>
            </a:pPr>
            <a:r>
              <a:rPr lang="en-GB" altLang="en-US" sz="1000" dirty="0">
                <a:solidFill>
                  <a:schemeClr val="tx2"/>
                </a:solidFill>
              </a:rPr>
              <a:t>Côte d’Ivoire</a:t>
            </a:r>
            <a:endParaRPr lang="en-GB" sz="1000" dirty="0"/>
          </a:p>
        </p:txBody>
      </p:sp>
      <p:sp>
        <p:nvSpPr>
          <p:cNvPr id="18" name="Shape 11"/>
          <p:cNvSpPr/>
          <p:nvPr/>
        </p:nvSpPr>
        <p:spPr>
          <a:xfrm>
            <a:off x="8732520" y="3099816"/>
            <a:ext cx="1737360" cy="146304"/>
          </a:xfrm>
          <a:prstGeom prst="roundRect">
            <a:avLst>
              <a:gd name="adj" fmla="val 18750"/>
            </a:avLst>
          </a:prstGeom>
          <a:solidFill>
            <a:schemeClr val="accent2"/>
          </a:solidFill>
          <a:ln/>
        </p:spPr>
      </p:sp>
      <p:sp>
        <p:nvSpPr>
          <p:cNvPr id="19" name="Text 12"/>
          <p:cNvSpPr txBox="1"/>
          <p:nvPr/>
        </p:nvSpPr>
        <p:spPr>
          <a:xfrm>
            <a:off x="10561320" y="3063240"/>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58%</a:t>
            </a:r>
            <a:endParaRPr lang="en-GB" sz="1000" dirty="0"/>
          </a:p>
        </p:txBody>
      </p:sp>
      <p:sp>
        <p:nvSpPr>
          <p:cNvPr id="20" name="Text 13"/>
          <p:cNvSpPr txBox="1"/>
          <p:nvPr/>
        </p:nvSpPr>
        <p:spPr>
          <a:xfrm>
            <a:off x="7269480" y="3374136"/>
            <a:ext cx="1417320" cy="219456"/>
          </a:xfrm>
          <a:prstGeom prst="rect">
            <a:avLst/>
          </a:prstGeom>
          <a:noFill/>
          <a:ln/>
        </p:spPr>
        <p:txBody>
          <a:bodyPr wrap="square" lIns="0" tIns="0" rIns="0" bIns="0" rtlCol="0" anchor="ctr"/>
          <a:lstStyle/>
          <a:p>
            <a:pPr indent="0" marL="0">
              <a:buNone/>
            </a:pPr>
            <a:r>
              <a:rPr lang="en-GB" altLang="en-US" sz="1000" dirty="0">
                <a:solidFill>
                  <a:schemeClr val="tx2"/>
                </a:solidFill>
              </a:rPr>
              <a:t>Diaspora abroad</a:t>
            </a:r>
            <a:endParaRPr lang="en-GB" sz="1000" dirty="0"/>
          </a:p>
        </p:txBody>
      </p:sp>
      <p:sp>
        <p:nvSpPr>
          <p:cNvPr id="21" name="Shape 14"/>
          <p:cNvSpPr/>
          <p:nvPr/>
        </p:nvSpPr>
        <p:spPr>
          <a:xfrm>
            <a:off x="8732520" y="3410712"/>
            <a:ext cx="718908" cy="146304"/>
          </a:xfrm>
          <a:prstGeom prst="roundRect">
            <a:avLst>
              <a:gd name="adj" fmla="val 18750"/>
            </a:avLst>
          </a:prstGeom>
          <a:solidFill>
            <a:schemeClr val="accent1"/>
          </a:solidFill>
          <a:ln/>
        </p:spPr>
      </p:sp>
      <p:sp>
        <p:nvSpPr>
          <p:cNvPr id="22" name="Text 15"/>
          <p:cNvSpPr txBox="1"/>
          <p:nvPr/>
        </p:nvSpPr>
        <p:spPr>
          <a:xfrm>
            <a:off x="9542868" y="3374136"/>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24%</a:t>
            </a:r>
            <a:endParaRPr lang="en-GB" sz="1000" dirty="0"/>
          </a:p>
        </p:txBody>
      </p:sp>
      <p:sp>
        <p:nvSpPr>
          <p:cNvPr id="23" name="Text 16"/>
          <p:cNvSpPr txBox="1"/>
          <p:nvPr/>
        </p:nvSpPr>
        <p:spPr>
          <a:xfrm>
            <a:off x="7269480" y="3685032"/>
            <a:ext cx="1417320" cy="219456"/>
          </a:xfrm>
          <a:prstGeom prst="rect">
            <a:avLst/>
          </a:prstGeom>
          <a:noFill/>
          <a:ln/>
        </p:spPr>
        <p:txBody>
          <a:bodyPr wrap="square" lIns="0" tIns="0" rIns="0" bIns="0" rtlCol="0" anchor="ctr"/>
          <a:lstStyle/>
          <a:p>
            <a:pPr indent="0" marL="0">
              <a:buNone/>
            </a:pPr>
            <a:r>
              <a:rPr lang="en-GB" altLang="en-US" sz="1000" dirty="0">
                <a:solidFill>
                  <a:schemeClr val="tx2"/>
                </a:solidFill>
              </a:rPr>
              <a:t>Rest of Africa</a:t>
            </a:r>
            <a:endParaRPr lang="en-GB" sz="1000" dirty="0"/>
          </a:p>
        </p:txBody>
      </p:sp>
      <p:sp>
        <p:nvSpPr>
          <p:cNvPr id="24" name="Shape 17"/>
          <p:cNvSpPr/>
          <p:nvPr/>
        </p:nvSpPr>
        <p:spPr>
          <a:xfrm>
            <a:off x="8732520" y="3721608"/>
            <a:ext cx="539181" cy="146304"/>
          </a:xfrm>
          <a:prstGeom prst="roundRect">
            <a:avLst>
              <a:gd name="adj" fmla="val 18750"/>
            </a:avLst>
          </a:prstGeom>
          <a:solidFill>
            <a:schemeClr val="accent1"/>
          </a:solidFill>
          <a:ln/>
        </p:spPr>
      </p:sp>
      <p:sp>
        <p:nvSpPr>
          <p:cNvPr id="25" name="Text 18"/>
          <p:cNvSpPr txBox="1"/>
          <p:nvPr/>
        </p:nvSpPr>
        <p:spPr>
          <a:xfrm>
            <a:off x="9363141" y="3685032"/>
            <a:ext cx="548640" cy="219456"/>
          </a:xfrm>
          <a:prstGeom prst="rect">
            <a:avLst/>
          </a:prstGeom>
          <a:noFill/>
          <a:ln/>
        </p:spPr>
        <p:txBody>
          <a:bodyPr wrap="square" lIns="0" tIns="0" rIns="0" bIns="0" rtlCol="0" anchor="ctr"/>
          <a:lstStyle/>
          <a:p>
            <a:pPr indent="0" marL="0">
              <a:buNone/>
            </a:pPr>
            <a:r>
              <a:rPr lang="en-GB" altLang="en-US" sz="1000" b="1" dirty="0">
                <a:solidFill>
                  <a:schemeClr val="tx1"/>
                </a:solidFill>
              </a:rPr>
              <a:t>18%</a:t>
            </a:r>
            <a:endParaRPr lang="en-GB" sz="1000" dirty="0"/>
          </a:p>
        </p:txBody>
      </p:sp>
      <p:sp>
        <p:nvSpPr>
          <p:cNvPr id="26" name="Text 19"/>
          <p:cNvSpPr txBox="1"/>
          <p:nvPr/>
        </p:nvSpPr>
        <p:spPr>
          <a:xfrm>
            <a:off x="7269480" y="4069080"/>
            <a:ext cx="2743200" cy="256032"/>
          </a:xfrm>
          <a:prstGeom prst="rect">
            <a:avLst/>
          </a:prstGeom>
          <a:noFill/>
          <a:ln/>
        </p:spPr>
        <p:txBody>
          <a:bodyPr wrap="square" lIns="0" tIns="0" rIns="0" bIns="0" rtlCol="0" anchor="t"/>
          <a:lstStyle/>
          <a:p>
            <a:pPr indent="0" marL="0">
              <a:buNone/>
            </a:pPr>
            <a:r>
              <a:rPr lang="en-GB" altLang="en-US" sz="1100" b="1" spc="300" kern="0" dirty="0">
                <a:solidFill>
                  <a:schemeClr val="accent3"/>
                </a:solidFill>
              </a:rPr>
              <a:t>SPONSOR VALUE</a:t>
            </a:r>
            <a:endParaRPr lang="en-GB" sz="1100" dirty="0"/>
          </a:p>
        </p:txBody>
      </p:sp>
      <p:graphicFrame>
        <p:nvGraphicFramePr>
          <p:cNvPr id="25" name="Sample table by sponsor"/>
          <p:cNvGraphicFramePr>
            <a:graphicFrameLocks noGrp="1"/>
          </p:cNvGraphicFramePr>
          <p:nvPr>
            <p:extLst>
              <p:ext uri="{D42A27DB-BD31-4B8C-83A1-F6EECF244321}">
                <p14:modId xmlns:p14="http://schemas.microsoft.com/office/powerpoint/2010/main" val="1579011935"/>
              </p:ext>
            </p:extLst>
          </p:nvPr>
        </p:nvGraphicFramePr>
        <p:xfrm>
          <a:off x="7269480" y="4343400"/>
          <a:ext cx="4099255" cy="914400"/>
        </p:xfrm>
        <a:graphic>
          <a:graphicData uri="http://schemas.openxmlformats.org/drawingml/2006/table">
            <a:tbl>
              <a:tblPr/>
              <a:tblGrid>
                <a:gridCol w="960120"/>
                <a:gridCol w="868680"/>
                <a:gridCol w="914400"/>
                <a:gridCol w="1356055"/>
              </a:tblGrid>
              <a:tr h="274320">
                <a:tc>
                  <a:txBody>
                    <a:bodyPr/>
                    <a:lstStyle/>
                    <a:p>
                      <a:pPr indent="0" marL="0">
                        <a:buNone/>
                      </a:pPr>
                      <a:r>
                        <a:rPr lang="en-US" sz="1000" b="1" dirty="0">
                          <a:solidFill>
                            <a:schemeClr val="bg1"/>
                          </a:solidFill>
                        </a:rPr>
                        <a:t>Partner</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Moments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Screen time</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Media value, estimated</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tx1"/>
                    </a:solidFill>
                  </a:tcPr>
                </a:tc>
              </a:tr>
              <a:tr h="274320">
                <a:tc>
                  <a:txBody>
                    <a:bodyPr/>
                    <a:lstStyle/>
                    <a:p>
                      <a:pPr indent="0" marL="0">
                        <a:buNone/>
                      </a:pPr>
                      <a:r>
                        <a:rPr lang="en-US" sz="1000" b="1" dirty="0">
                          <a:solidFill>
                            <a:schemeClr val="tx1"/>
                          </a:solidFill>
                        </a:rPr>
                        <a:t>Partner 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42</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6 min 10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18.5M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Partner B</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31</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4 min 25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12.7M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r h="274320">
                <a:tc>
                  <a:txBody>
                    <a:bodyPr/>
                    <a:lstStyle/>
                    <a:p>
                      <a:pPr indent="0" marL="0">
                        <a:buNone/>
                      </a:pPr>
                      <a:r>
                        <a:rPr lang="en-US" sz="1000" b="1" dirty="0">
                          <a:solidFill>
                            <a:schemeClr val="tx1"/>
                          </a:solidFill>
                        </a:rPr>
                        <a:t>Partner C</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18</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2 min 40 s</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c>
                  <a:txBody>
                    <a:bodyPr/>
                    <a:lstStyle/>
                    <a:p>
                      <a:pPr indent="0" marL="0">
                        <a:buNone/>
                      </a:pPr>
                      <a:r>
                        <a:rPr lang="en-US" sz="1000" dirty="0">
                          <a:solidFill>
                            <a:schemeClr val="tx2"/>
                          </a:solidFill>
                        </a:rPr>
                        <a:t>7.3M FCFA</a:t>
                      </a:r>
                      <a:endParaRPr lang="en-US" sz="1000" dirty="0"/>
                    </a:p>
                  </a:txBody>
                  <a:tcPr marL="128016" marR="128016" marT="54864" marB="54864" anchor="ctr">
                    <a:lnL w="9525" cap="flat" cmpd="sng" algn="ctr">
                      <a:solidFill>
                        <a:srgbClr val="E3EDE6"/>
                      </a:solidFill>
                      <a:prstDash val="solid"/>
                      <a:round/>
                      <a:headEnd type="none" w="med" len="med"/>
                      <a:tailEnd type="none" w="med" len="med"/>
                    </a:lnL>
                    <a:lnR w="9525" cap="flat" cmpd="sng" algn="ctr">
                      <a:solidFill>
                        <a:srgbClr val="E3EDE6"/>
                      </a:solidFill>
                      <a:prstDash val="solid"/>
                      <a:round/>
                      <a:headEnd type="none" w="med" len="med"/>
                      <a:tailEnd type="none" w="med" len="med"/>
                    </a:lnR>
                    <a:lnT w="9525" cap="flat" cmpd="sng" algn="ctr">
                      <a:solidFill>
                        <a:srgbClr val="E3EDE6"/>
                      </a:solidFill>
                      <a:prstDash val="solid"/>
                      <a:round/>
                      <a:headEnd type="none" w="med" len="med"/>
                      <a:tailEnd type="none" w="med" len="med"/>
                    </a:lnT>
                    <a:lnB w="9525" cap="flat" cmpd="sng" algn="ctr">
                      <a:solidFill>
                        <a:srgbClr val="E3EDE6"/>
                      </a:solidFill>
                      <a:prstDash val="solid"/>
                      <a:round/>
                      <a:headEnd type="none" w="med" len="med"/>
                      <a:tailEnd type="none" w="med" len="med"/>
                    </a:lnB>
                    <a:solidFill>
                      <a:schemeClr val="bg1"/>
                    </a:solidFill>
                  </a:tcPr>
                </a:tc>
              </a:tr>
            </a:tbl>
          </a:graphicData>
        </a:graphic>
      </p:graphicFrame>
      <p:sp>
        <p:nvSpPr>
          <p:cNvPr id="28" name="Text 20"/>
          <p:cNvSpPr txBox="1"/>
          <p:nvPr/>
        </p:nvSpPr>
        <p:spPr>
          <a:xfrm>
            <a:off x="822960" y="5925312"/>
            <a:ext cx="3657600" cy="219456"/>
          </a:xfrm>
          <a:prstGeom prst="rect">
            <a:avLst/>
          </a:prstGeom>
          <a:noFill/>
          <a:ln/>
        </p:spPr>
        <p:txBody>
          <a:bodyPr wrap="square" lIns="0" tIns="0" rIns="0" bIns="0" rtlCol="0" anchor="t"/>
          <a:lstStyle/>
          <a:p>
            <a:pPr indent="0" marL="0">
              <a:buNone/>
            </a:pPr>
            <a:r>
              <a:rPr lang="en-GB" altLang="en-US" sz="1000" b="1" i="1" dirty="0">
                <a:solidFill>
                  <a:schemeClr val="accent3"/>
                </a:solidFill>
              </a:rPr>
              <a:t>Sample layout. Figures are illustrative.</a:t>
            </a:r>
            <a:endParaRPr lang="en-GB" sz="1000" dirty="0"/>
          </a:p>
        </p:txBody>
      </p:sp>
      <p:sp>
        <p:nvSpPr>
          <p:cNvPr id="29" name="Text 21"/>
          <p:cNvSpPr txBox="1"/>
          <p:nvPr/>
        </p:nvSpPr>
        <p:spPr>
          <a:xfrm>
            <a:off x="9539935" y="5925312"/>
            <a:ext cx="1828800" cy="219456"/>
          </a:xfrm>
          <a:prstGeom prst="rect">
            <a:avLst/>
          </a:prstGeom>
          <a:noFill/>
          <a:ln/>
        </p:spPr>
        <p:txBody>
          <a:bodyPr wrap="square" lIns="0" tIns="0" rIns="0" bIns="0" rtlCol="0" anchor="t"/>
          <a:lstStyle/>
          <a:p>
            <a:pPr algn="r" indent="0" marL="0">
              <a:buNone/>
            </a:pPr>
            <a:r>
              <a:rPr lang="en-GB" altLang="en-US" sz="1000" b="1" u="sng" dirty="0">
                <a:solidFill>
                  <a:schemeClr val="accent3"/>
                </a:solidFill>
                <a:hlinkClick r:id="rId4" action="ppaction://hlinksldjump" tooltip="Back to the report">
                  <a:extLst>
                    <a:ext uri="{A12FA001-AC4F-418D-AE19-62706E023703}">
                      <ahyp:hlinkClr xmlns:ahyp="http://schemas.microsoft.com/office/drawing/2018/hyperlinkcolor" val="tx"/>
                    </a:ext>
                  </a:extLst>
                </a:hlinkClick>
              </a:rPr>
              <a:t>←  Back to page 1</a:t>
            </a:r>
            <a:endParaRPr lang="en-GB" sz="1000" dirty="0"/>
          </a:p>
        </p:txBody>
      </p:sp>
      <p:sp>
        <p:nvSpPr>
          <p:cNvPr id="25" name="Slide Number Placeholder 0"/>
          <p:cNvSpPr>
            <a:spLocks noGrp="1"/>
          </p:cNvSpPr>
          <p:nvPr>
            <p:ph type="sldNum" sz="quarter" idx="4294967295"/>
          </p:nvPr>
        </p:nvSpPr>
        <p:spPr>
          <a:xfrm>
            <a:off x="11094415" y="6437376"/>
            <a:ext cx="54864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other Africa">
  <a:themeElements>
    <a:clrScheme name="Mother Africa">
      <a:dk1>
        <a:srgbClr val="133524"/>
      </a:dk1>
      <a:lt1>
        <a:srgbClr val="FFFDF8"/>
      </a:lt1>
      <a:dk2>
        <a:srgbClr val="4D5A50"/>
      </a:dk2>
      <a:lt2>
        <a:srgbClr val="F5EEE0"/>
      </a:lt2>
      <a:accent1>
        <a:srgbClr val="C8A951"/>
      </a:accent1>
      <a:accent2>
        <a:srgbClr val="EE7D3A"/>
      </a:accent2>
      <a:accent3>
        <a:srgbClr val="B4471B"/>
      </a:accent3>
      <a:accent4>
        <a:srgbClr val="E0C47A"/>
      </a:accent4>
      <a:accent5>
        <a:srgbClr val="E3EDE6"/>
      </a:accent5>
      <a:accent6>
        <a:srgbClr val="1C4630"/>
      </a:accent6>
      <a:hlink>
        <a:srgbClr val="B4471B"/>
      </a:hlink>
      <a:folHlink>
        <a:srgbClr val="4D5A50"/>
      </a:folHlink>
    </a:clrScheme>
    <a:fontScheme name="Mother Africa">
      <a:majorFont>
        <a:latin typeface="Cormorant Garamond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o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AToure x Mother Africa Festival, 5th Edition Proposal</dc:title>
  <dc:subject>Talent access, creator management on the ground and the visibility report</dc:subject>
  <dc:creator>AToure Management &amp; Consulting</dc:creator>
  <cp:lastModifiedBy>AToure Management &amp; Consulting</cp:lastModifiedBy>
  <cp:revision>1</cp:revision>
  <dcterms:created xsi:type="dcterms:W3CDTF">2026-10-30T12:07:02Z</dcterms:created>
  <dcterms:modified xsi:type="dcterms:W3CDTF">2026-10-30T12:07:02Z</dcterms:modified>
</cp:coreProperties>
</file>