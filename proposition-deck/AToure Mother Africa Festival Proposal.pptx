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d823ba-517e-451a-dec3-ef48890800cf}">
          <p14:sldIdLst>
            <p14:sldId id="256"/>
          </p14:sldIdLst>
        </p14:section>
        <p14:section name="Where we stand" id="{e704da62-8eed-aa05-9858-a35f7291fd8a}">
          <p14:sldIdLst>
            <p14:sldId id="257"/>
            <p14:sldId id="258"/>
          </p14:sldIdLst>
        </p14:section>
        <p14:section name="The AToure answer" id="{ad20d08e-4202-66f1-c3e9-d63233b85155}">
          <p14:sldIdLst>
            <p14:sldId id="259"/>
            <p14:sldId id="260"/>
          </p14:sldIdLst>
        </p14:section>
        <p14:section name="Visibility" id="{ee888e28-299d-c58d-25f5-31079faf35ae}">
          <p14:sldIdLst>
            <p14:sldId id="261"/>
            <p14:sldId id="262"/>
          </p14:sldIdLst>
        </p14:section>
        <p14:section name="The visibility report" id="{254b141b-a8c1-e114-ccdf-8d9e117b551d}">
          <p14:sldIdLst>
            <p14:sldId id="263"/>
            <p14:sldId id="264"/>
          </p14:sldIdLst>
        </p14:section>
        <p14:section name="Proof" id="{b655f4d8-652a-9039-22be-aaea13b93d49}">
          <p14:sldIdLst>
            <p14:sldId id="265"/>
          </p14:sldIdLst>
        </p14:section>
        <p14:section name="The ask" id="{d594762d-027f-7d1a-ab47-c4429139153d}">
          <p14:sldIdLst>
            <p14:sldId id="266"/>
          </p14:sldIdLst>
        </p14:section>
        <p14:section name="Appendix" id="{c8fc9484-ace8-b5d0-fc4e-9e39da93f8ae}">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its figures are illustrative, to show the format, and are not a forecast for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In Morocco it delivered the AFCON mascot reveal with CAF and the Royal Moroccan Football Federation. The Ashton Hall tour covered five countries, managed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of the sample report, to show the depth behind the headline numbers: every creator with posts, views, interactions and ticket clicks, where the audience was, and what each partner received. The figures are illustrative and add up to page 1; they are not a forecast. The full report also lists every post with its link and time, and ends with recommendations for the next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6" Type="http://schemas.openxmlformats.org/officeDocument/2006/relationships/slide" Target="slide12.xml"/><Relationship Id="rId8" Type="http://schemas.openxmlformats.org/officeDocument/2006/relationships/slide" Target="slide12.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7" Type="http://schemas.openxmlformats.org/officeDocument/2006/relationships/image" Target="../media/image-9-2.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slide" Target="slide9.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5486400" cy="1463040"/>
          </a:xfrm>
          <a:prstGeom prst="roundRect">
            <a:avLst>
              <a:gd name="adj" fmla="val 6250"/>
            </a:avLst>
          </a:prstGeom>
          <a:solidFill>
            <a:schemeClr val="tx1"/>
          </a:solidFill>
          <a:ln/>
        </p:spPr>
      </p:sp>
      <p:sp>
        <p:nvSpPr>
          <p:cNvPr id="43" name="Text 38"/>
          <p:cNvSpPr txBox="1"/>
          <p:nvPr/>
        </p:nvSpPr>
        <p:spPr>
          <a:xfrm>
            <a:off x="822960" y="484632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502920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Image 2" descr="preencoded.png">    </p:cNvPr>
          <p:cNvPicPr>
            <a:picLocks noChangeAspect="1"/>
          </p:cNvPicPr>
          <p:nvPr/>
        </p:nvPicPr>
        <p:blipFill>
          <a:blip r:embed="rId3"/>
          <a:stretch>
            <a:fillRect/>
          </a:stretch>
        </p:blipFill>
        <p:spPr>
          <a:xfrm>
            <a:off x="6355080" y="4818888"/>
            <a:ext cx="274320" cy="274320"/>
          </a:xfrm>
          <a:prstGeom prst="rect">
            <a:avLst/>
          </a:prstGeom>
        </p:spPr>
      </p:pic>
      <p:sp>
        <p:nvSpPr>
          <p:cNvPr id="47" name="Text 41"/>
          <p:cNvSpPr txBox="1"/>
          <p:nvPr/>
        </p:nvSpPr>
        <p:spPr>
          <a:xfrm>
            <a:off x="6766560" y="480060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8" name="Image 3" descr="preencoded.png">    </p:cNvPr>
          <p:cNvPicPr>
            <a:picLocks noChangeAspect="1"/>
          </p:cNvPicPr>
          <p:nvPr/>
        </p:nvPicPr>
        <p:blipFill>
          <a:blip r:embed="rId4"/>
          <a:stretch>
            <a:fillRect/>
          </a:stretch>
        </p:blipFill>
        <p:spPr>
          <a:xfrm>
            <a:off x="6355080" y="5294376"/>
            <a:ext cx="274320" cy="274320"/>
          </a:xfrm>
          <a:prstGeom prst="rect">
            <a:avLst/>
          </a:prstGeom>
        </p:spPr>
      </p:pic>
      <p:sp>
        <p:nvSpPr>
          <p:cNvPr id="49" name="Text 42"/>
          <p:cNvSpPr txBox="1"/>
          <p:nvPr/>
        </p:nvSpPr>
        <p:spPr>
          <a:xfrm>
            <a:off x="6766560" y="5276088"/>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50" name="Image 4" descr="preencoded.png">    </p:cNvPr>
          <p:cNvPicPr>
            <a:picLocks noChangeAspect="1"/>
          </p:cNvPicPr>
          <p:nvPr/>
        </p:nvPicPr>
        <p:blipFill>
          <a:blip r:embed="rId5"/>
          <a:stretch>
            <a:fillRect/>
          </a:stretch>
        </p:blipFill>
        <p:spPr>
          <a:xfrm>
            <a:off x="6355080" y="5769864"/>
            <a:ext cx="274320" cy="274320"/>
          </a:xfrm>
          <a:prstGeom prst="rect">
            <a:avLst/>
          </a:prstGeom>
        </p:spPr>
      </p:pic>
      <p:sp>
        <p:nvSpPr>
          <p:cNvPr id="51" name="Text 43"/>
          <p:cNvSpPr txBox="1"/>
          <p:nvPr/>
        </p:nvSpPr>
        <p:spPr>
          <a:xfrm>
            <a:off x="6766560" y="5751576"/>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Reports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06324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05886"/>
            <a:ext cx="309067" cy="309067"/>
          </a:xfrm>
          <a:prstGeom prst="rect">
            <a:avLst/>
          </a:prstGeom>
        </p:spPr>
      </p:pic>
      <p:sp>
        <p:nvSpPr>
          <p:cNvPr id="15" name="Text 8"/>
          <p:cNvSpPr txBox="1"/>
          <p:nvPr/>
        </p:nvSpPr>
        <p:spPr>
          <a:xfrm>
            <a:off x="1371600" y="302666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44728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74904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29768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440326"/>
            <a:ext cx="309067" cy="309067"/>
          </a:xfrm>
          <a:prstGeom prst="rect">
            <a:avLst/>
          </a:prstGeom>
        </p:spPr>
      </p:pic>
      <p:sp>
        <p:nvSpPr>
          <p:cNvPr id="20" name="Text 12"/>
          <p:cNvSpPr txBox="1"/>
          <p:nvPr/>
        </p:nvSpPr>
        <p:spPr>
          <a:xfrm>
            <a:off x="1371600" y="4261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681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4983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and sponsor pages, as a PDF with a web version.</a:t>
            </a:r>
            <a:endParaRPr lang="en-GB" sz="1400" dirty="0"/>
          </a:p>
        </p:txBody>
      </p:sp>
      <p:sp>
        <p:nvSpPr>
          <p:cNvPr id="23" name="Shape 15"/>
          <p:cNvSpPr/>
          <p:nvPr/>
        </p:nvSpPr>
        <p:spPr>
          <a:xfrm>
            <a:off x="1371600" y="5833872"/>
            <a:ext cx="4114800" cy="384048"/>
          </a:xfrm>
          <a:prstGeom prst="roundRect">
            <a:avLst>
              <a:gd name="adj" fmla="val 50000"/>
            </a:avLst>
          </a:prstGeom>
          <a:solidFill>
            <a:schemeClr val="bg1"/>
          </a:solidFill>
          <a:ln w="12700">
            <a:solidFill>
              <a:schemeClr val="accent3"/>
            </a:solidFill>
            <a:prstDash val="solid"/>
          </a:ln>
        </p:spPr>
      </p:sp>
      <p:sp>
        <p:nvSpPr>
          <p:cNvPr id="24" name="Text 16"/>
          <p:cNvSpPr txBox="1"/>
          <p:nvPr/>
        </p:nvSpPr>
        <p:spPr>
          <a:xfrm>
            <a:off x="1371600" y="5833872"/>
            <a:ext cx="4114800" cy="384048"/>
          </a:xfrm>
          <a:prstGeom prst="rect">
            <a:avLst/>
          </a:prstGeom>
          <a:noFill/>
          <a:ln/>
        </p:spPr>
        <p:txBody>
          <a:bodyPr wrap="square" lIns="0" tIns="0" rIns="0" bIns="0" rtlCol="0" anchor="ctr"/>
          <a:lstStyle/>
          <a:p>
            <a:pPr algn="ctr" indent="0" marL="0">
              <a:buNone/>
            </a:pPr>
            <a:r>
              <a:rPr lang="en-GB" altLang="en-US" sz="1200" b="1" u="sng" dirty="0">
                <a:solidFill>
                  <a:schemeClr val="accent3"/>
                </a:solidFill>
                <a:hlinkClick r:id="rId6" action="ppaction://hlinksldjump" tooltip="Sample report, page 2">
                  <a:extLst>
                    <a:ext uri="{A12FA001-AC4F-418D-AE19-62706E023703}">
                      <ahyp:hlinkClr xmlns:ahyp="http://schemas.microsoft.com/office/drawing/2018/hyperlinkcolor" val="tx"/>
                    </a:ext>
                  </a:extLst>
                </a:hlinkClick>
              </a:rPr>
              <a:t>See page 2: the detailed breakdown  →</a:t>
            </a:r>
            <a:endParaRPr lang="en-GB" sz="1200" dirty="0"/>
          </a:p>
        </p:txBody>
      </p:sp>
      <p:sp>
        <p:nvSpPr>
          <p:cNvPr id="25" name="Sample report page 2"/>
          <p:cNvSpPr/>
          <p:nvPr/>
        </p:nvSpPr>
        <p:spPr>
          <a:xfrm>
            <a:off x="6949440" y="1874520"/>
            <a:ext cx="4690872" cy="4343400"/>
          </a:xfrm>
          <a:prstGeom prst="roundRect">
            <a:avLst>
              <a:gd name="adj" fmla="val 1684"/>
            </a:avLst>
          </a:prstGeom>
          <a:solidFill>
            <a:schemeClr val="bg1"/>
          </a:solidFill>
          <a:ln w="9525">
            <a:solidFill>
              <a:schemeClr val="tx2">
                <a:alpha val="40000"/>
              </a:schemeClr>
            </a:solidFill>
            <a:prstDash val="solid"/>
          </a:ln>
        </p:spPr>
      </p:sp>
      <p:sp>
        <p:nvSpPr>
          <p:cNvPr id="26" name="Shape 18"/>
          <p:cNvSpPr/>
          <p:nvPr/>
        </p:nvSpPr>
        <p:spPr>
          <a:xfrm>
            <a:off x="6812280" y="1737360"/>
            <a:ext cx="4690872" cy="4343400"/>
          </a:xfrm>
          <a:prstGeom prst="roundRect">
            <a:avLst>
              <a:gd name="adj" fmla="val 1684"/>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7" name="Text 19"/>
          <p:cNvSpPr txBox="1"/>
          <p:nvPr/>
        </p:nvSpPr>
        <p:spPr>
          <a:xfrm>
            <a:off x="7086600" y="1965960"/>
            <a:ext cx="329184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  ·  PAGE 1</a:t>
            </a:r>
            <a:endParaRPr lang="en-GB" sz="900" dirty="0"/>
          </a:p>
        </p:txBody>
      </p:sp>
      <p:sp>
        <p:nvSpPr>
          <p:cNvPr id="28" name="Text 20"/>
          <p:cNvSpPr txBox="1"/>
          <p:nvPr/>
        </p:nvSpPr>
        <p:spPr>
          <a:xfrm>
            <a:off x="7086600" y="216712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9" name="Image 5" descr="Mother Africa Festival">    </p:cNvPr>
          <p:cNvPicPr>
            <a:picLocks noChangeAspect="1"/>
          </p:cNvPicPr>
          <p:nvPr/>
        </p:nvPicPr>
        <p:blipFill>
          <a:blip r:embed="rId7"/>
          <a:stretch>
            <a:fillRect/>
          </a:stretch>
        </p:blipFill>
        <p:spPr>
          <a:xfrm>
            <a:off x="10725912" y="1965960"/>
            <a:ext cx="541249" cy="384048"/>
          </a:xfrm>
          <a:prstGeom prst="rect">
            <a:avLst/>
          </a:prstGeom>
        </p:spPr>
      </p:pic>
      <p:sp>
        <p:nvSpPr>
          <p:cNvPr id="30" name="Shape 21"/>
          <p:cNvSpPr/>
          <p:nvPr/>
        </p:nvSpPr>
        <p:spPr>
          <a:xfrm>
            <a:off x="7086600" y="2606040"/>
            <a:ext cx="4142232" cy="0"/>
          </a:xfrm>
          <a:prstGeom prst="line">
            <a:avLst/>
          </a:prstGeom>
          <a:noFill/>
          <a:ln w="12700">
            <a:solidFill>
              <a:schemeClr val="accent1"/>
            </a:solidFill>
            <a:prstDash val="solid"/>
          </a:ln>
        </p:spPr>
      </p:sp>
      <p:sp>
        <p:nvSpPr>
          <p:cNvPr id="31" name="Shape 22"/>
          <p:cNvSpPr/>
          <p:nvPr/>
        </p:nvSpPr>
        <p:spPr>
          <a:xfrm>
            <a:off x="7086600" y="2788920"/>
            <a:ext cx="2011680" cy="731520"/>
          </a:xfrm>
          <a:prstGeom prst="roundRect">
            <a:avLst>
              <a:gd name="adj" fmla="val 7500"/>
            </a:avLst>
          </a:prstGeom>
          <a:solidFill>
            <a:schemeClr val="bg2"/>
          </a:solidFill>
          <a:ln/>
        </p:spPr>
      </p:sp>
      <p:sp>
        <p:nvSpPr>
          <p:cNvPr id="32" name="Text 23"/>
          <p:cNvSpPr txBox="1"/>
          <p:nvPr/>
        </p:nvSpPr>
        <p:spPr>
          <a:xfrm>
            <a:off x="7251192" y="28620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3,200,000</a:t>
            </a:r>
            <a:endParaRPr lang="en-GB" sz="1800" dirty="0"/>
          </a:p>
        </p:txBody>
      </p:sp>
      <p:sp>
        <p:nvSpPr>
          <p:cNvPr id="33" name="Text 24"/>
          <p:cNvSpPr txBox="1"/>
          <p:nvPr/>
        </p:nvSpPr>
        <p:spPr>
          <a:xfrm>
            <a:off x="7251192" y="3227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4" name="Shape 25"/>
          <p:cNvSpPr/>
          <p:nvPr/>
        </p:nvSpPr>
        <p:spPr>
          <a:xfrm>
            <a:off x="9208008" y="2788920"/>
            <a:ext cx="2011680" cy="731520"/>
          </a:xfrm>
          <a:prstGeom prst="roundRect">
            <a:avLst>
              <a:gd name="adj" fmla="val 7500"/>
            </a:avLst>
          </a:prstGeom>
          <a:solidFill>
            <a:schemeClr val="bg2"/>
          </a:solidFill>
          <a:ln/>
        </p:spPr>
      </p:sp>
      <p:sp>
        <p:nvSpPr>
          <p:cNvPr id="35" name="Text 26"/>
          <p:cNvSpPr txBox="1"/>
          <p:nvPr/>
        </p:nvSpPr>
        <p:spPr>
          <a:xfrm>
            <a:off x="9372600" y="28620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1,450,000</a:t>
            </a:r>
            <a:endParaRPr lang="en-GB" sz="1800" dirty="0"/>
          </a:p>
        </p:txBody>
      </p:sp>
      <p:sp>
        <p:nvSpPr>
          <p:cNvPr id="36" name="Text 27"/>
          <p:cNvSpPr txBox="1"/>
          <p:nvPr/>
        </p:nvSpPr>
        <p:spPr>
          <a:xfrm>
            <a:off x="9372600" y="3227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7" name="Shape 28"/>
          <p:cNvSpPr/>
          <p:nvPr/>
        </p:nvSpPr>
        <p:spPr>
          <a:xfrm>
            <a:off x="7086600" y="3657600"/>
            <a:ext cx="2011680" cy="731520"/>
          </a:xfrm>
          <a:prstGeom prst="roundRect">
            <a:avLst>
              <a:gd name="adj" fmla="val 7500"/>
            </a:avLst>
          </a:prstGeom>
          <a:solidFill>
            <a:schemeClr val="bg2"/>
          </a:solidFill>
          <a:ln/>
        </p:spPr>
      </p:sp>
      <p:sp>
        <p:nvSpPr>
          <p:cNvPr id="38" name="Text 29"/>
          <p:cNvSpPr txBox="1"/>
          <p:nvPr/>
        </p:nvSpPr>
        <p:spPr>
          <a:xfrm>
            <a:off x="7251192" y="373075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64</a:t>
            </a:r>
            <a:endParaRPr lang="en-GB" sz="1800" dirty="0"/>
          </a:p>
        </p:txBody>
      </p:sp>
      <p:sp>
        <p:nvSpPr>
          <p:cNvPr id="39" name="Text 30"/>
          <p:cNvSpPr txBox="1"/>
          <p:nvPr/>
        </p:nvSpPr>
        <p:spPr>
          <a:xfrm>
            <a:off x="7251192" y="409651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 against the brief</a:t>
            </a:r>
            <a:endParaRPr lang="en-GB" sz="1000" dirty="0"/>
          </a:p>
        </p:txBody>
      </p:sp>
      <p:sp>
        <p:nvSpPr>
          <p:cNvPr id="40" name="Shape 31"/>
          <p:cNvSpPr/>
          <p:nvPr/>
        </p:nvSpPr>
        <p:spPr>
          <a:xfrm>
            <a:off x="9208008" y="3657600"/>
            <a:ext cx="2011680" cy="731520"/>
          </a:xfrm>
          <a:prstGeom prst="roundRect">
            <a:avLst>
              <a:gd name="adj" fmla="val 7500"/>
            </a:avLst>
          </a:prstGeom>
          <a:solidFill>
            <a:schemeClr val="bg2"/>
          </a:solidFill>
          <a:ln/>
        </p:spPr>
      </p:sp>
      <p:sp>
        <p:nvSpPr>
          <p:cNvPr id="41" name="Text 32"/>
          <p:cNvSpPr txBox="1"/>
          <p:nvPr/>
        </p:nvSpPr>
        <p:spPr>
          <a:xfrm>
            <a:off x="9372600" y="373075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18</a:t>
            </a:r>
            <a:endParaRPr lang="en-GB" sz="1800" dirty="0"/>
          </a:p>
        </p:txBody>
      </p:sp>
      <p:sp>
        <p:nvSpPr>
          <p:cNvPr id="42" name="Text 33"/>
          <p:cNvSpPr txBox="1"/>
          <p:nvPr/>
        </p:nvSpPr>
        <p:spPr>
          <a:xfrm>
            <a:off x="9372600" y="409651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3" name="Text 34"/>
          <p:cNvSpPr txBox="1"/>
          <p:nvPr/>
        </p:nvSpPr>
        <p:spPr>
          <a:xfrm>
            <a:off x="7086600" y="457200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4" name="Text 35"/>
          <p:cNvSpPr txBox="1"/>
          <p:nvPr/>
        </p:nvSpPr>
        <p:spPr>
          <a:xfrm>
            <a:off x="7086600" y="486460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5" name="Shape 36"/>
          <p:cNvSpPr/>
          <p:nvPr/>
        </p:nvSpPr>
        <p:spPr>
          <a:xfrm>
            <a:off x="8138160" y="4901184"/>
            <a:ext cx="2468880" cy="146304"/>
          </a:xfrm>
          <a:prstGeom prst="roundRect">
            <a:avLst>
              <a:gd name="adj" fmla="val 18750"/>
            </a:avLst>
          </a:prstGeom>
          <a:solidFill>
            <a:schemeClr val="accent2"/>
          </a:solidFill>
          <a:ln/>
        </p:spPr>
      </p:sp>
      <p:sp>
        <p:nvSpPr>
          <p:cNvPr id="46" name="Text 37"/>
          <p:cNvSpPr txBox="1"/>
          <p:nvPr/>
        </p:nvSpPr>
        <p:spPr>
          <a:xfrm>
            <a:off x="10698480" y="4864608"/>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52%</a:t>
            </a:r>
            <a:endParaRPr lang="en-GB" sz="1000" dirty="0"/>
          </a:p>
        </p:txBody>
      </p:sp>
      <p:sp>
        <p:nvSpPr>
          <p:cNvPr id="47" name="Text 38"/>
          <p:cNvSpPr txBox="1"/>
          <p:nvPr/>
        </p:nvSpPr>
        <p:spPr>
          <a:xfrm>
            <a:off x="7086600" y="519379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8" name="Shape 39"/>
          <p:cNvSpPr/>
          <p:nvPr/>
        </p:nvSpPr>
        <p:spPr>
          <a:xfrm>
            <a:off x="8138160" y="5230368"/>
            <a:ext cx="1804182" cy="146304"/>
          </a:xfrm>
          <a:prstGeom prst="roundRect">
            <a:avLst>
              <a:gd name="adj" fmla="val 18750"/>
            </a:avLst>
          </a:prstGeom>
          <a:solidFill>
            <a:schemeClr val="accent1"/>
          </a:solidFill>
          <a:ln/>
        </p:spPr>
      </p:sp>
      <p:sp>
        <p:nvSpPr>
          <p:cNvPr id="49" name="Text 40"/>
          <p:cNvSpPr txBox="1"/>
          <p:nvPr/>
        </p:nvSpPr>
        <p:spPr>
          <a:xfrm>
            <a:off x="10033782" y="519379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38%</a:t>
            </a:r>
            <a:endParaRPr lang="en-GB" sz="1000" dirty="0"/>
          </a:p>
        </p:txBody>
      </p:sp>
      <p:sp>
        <p:nvSpPr>
          <p:cNvPr id="50" name="Text 41"/>
          <p:cNvSpPr txBox="1"/>
          <p:nvPr/>
        </p:nvSpPr>
        <p:spPr>
          <a:xfrm>
            <a:off x="7086600" y="552297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51" name="Shape 42"/>
          <p:cNvSpPr/>
          <p:nvPr/>
        </p:nvSpPr>
        <p:spPr>
          <a:xfrm>
            <a:off x="8138160" y="5559552"/>
            <a:ext cx="474785" cy="146304"/>
          </a:xfrm>
          <a:prstGeom prst="roundRect">
            <a:avLst>
              <a:gd name="adj" fmla="val 18750"/>
            </a:avLst>
          </a:prstGeom>
          <a:solidFill>
            <a:schemeClr val="accent1"/>
          </a:solidFill>
          <a:ln/>
        </p:spPr>
      </p:sp>
      <p:sp>
        <p:nvSpPr>
          <p:cNvPr id="52" name="Text 43"/>
          <p:cNvSpPr txBox="1"/>
          <p:nvPr/>
        </p:nvSpPr>
        <p:spPr>
          <a:xfrm>
            <a:off x="8704385" y="5522976"/>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10%</a:t>
            </a:r>
            <a:endParaRPr lang="en-GB" sz="1000" dirty="0"/>
          </a:p>
        </p:txBody>
      </p:sp>
      <p:sp>
        <p:nvSpPr>
          <p:cNvPr id="53" name="Text 44"/>
          <p:cNvSpPr txBox="1"/>
          <p:nvPr/>
        </p:nvSpPr>
        <p:spPr>
          <a:xfrm>
            <a:off x="7086600" y="5779008"/>
            <a:ext cx="2926080" cy="201168"/>
          </a:xfrm>
          <a:prstGeom prst="rect">
            <a:avLst/>
          </a:prstGeom>
          <a:noFill/>
          <a:ln/>
        </p:spPr>
        <p:txBody>
          <a:bodyPr wrap="square" lIns="0" tIns="0" rIns="0" bIns="0" rtlCol="0" anchor="t"/>
          <a:lstStyle/>
          <a:p>
            <a:pPr indent="0" marL="0">
              <a:buNone/>
            </a:pPr>
            <a:r>
              <a:rPr lang="en-GB" altLang="en-US" sz="1000" b="1" i="1" dirty="0">
                <a:solidFill>
                  <a:schemeClr val="accent3"/>
                </a:solidFill>
              </a:rPr>
              <a:t>Sample layout. Figures are illustrative.</a:t>
            </a:r>
            <a:endParaRPr lang="en-GB" sz="1000" dirty="0"/>
          </a:p>
        </p:txBody>
      </p:sp>
      <p:sp>
        <p:nvSpPr>
          <p:cNvPr id="54" name="Text 45"/>
          <p:cNvSpPr txBox="1"/>
          <p:nvPr/>
        </p:nvSpPr>
        <p:spPr>
          <a:xfrm>
            <a:off x="10222992" y="5779008"/>
            <a:ext cx="1005840" cy="201168"/>
          </a:xfrm>
          <a:prstGeom prst="rect">
            <a:avLst/>
          </a:prstGeom>
          <a:noFill/>
          <a:ln/>
        </p:spPr>
        <p:txBody>
          <a:bodyPr wrap="square" lIns="0" tIns="0" rIns="0" bIns="0" rtlCol="0" anchor="t"/>
          <a:lstStyle/>
          <a:p>
            <a:pPr algn="r" indent="0" marL="0">
              <a:buNone/>
            </a:pPr>
            <a:r>
              <a:rPr lang="en-GB" altLang="en-US" sz="1000" b="1" u="sng" dirty="0">
                <a:solidFill>
                  <a:schemeClr val="accent3"/>
                </a:solidFill>
                <a:hlinkClick r:id="rId8" action="ppaction://hlinksldjump" tooltip="Sample report, page 2">
                  <a:extLst>
                    <a:ext uri="{A12FA001-AC4F-418D-AE19-62706E023703}">
                      <ahyp:hlinkClr xmlns:ahyp="http://schemas.microsoft.com/office/drawing/2018/hyperlinkcolor" val="tx"/>
                    </a:ext>
                  </a:extLst>
                </a:hlinkClick>
              </a:rPr>
              <a:t>Page 2  →</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4929872" cy="3429000"/>
          </a:xfrm>
          <a:prstGeom prst="rect">
            <a:avLst/>
          </a:prstGeom>
        </p:spPr>
      </p:pic>
      <p:sp>
        <p:nvSpPr>
          <p:cNvPr id="11" name="Shape 4"/>
          <p:cNvSpPr/>
          <p:nvPr/>
        </p:nvSpPr>
        <p:spPr>
          <a:xfrm>
            <a:off x="658368" y="4809744"/>
            <a:ext cx="796442" cy="292608"/>
          </a:xfrm>
          <a:prstGeom prst="roundRect">
            <a:avLst>
              <a:gd name="adj" fmla="val 18750"/>
            </a:avLst>
          </a:prstGeom>
          <a:solidFill>
            <a:schemeClr val="tx1">
              <a:alpha val="70000"/>
            </a:schemeClr>
          </a:solidFill>
          <a:ln/>
        </p:spPr>
      </p:sp>
      <p:sp>
        <p:nvSpPr>
          <p:cNvPr id="12" name="Text 5"/>
          <p:cNvSpPr txBox="1"/>
          <p:nvPr/>
        </p:nvSpPr>
        <p:spPr>
          <a:xfrm>
            <a:off x="658368" y="48097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5321808"/>
            <a:ext cx="4929872" cy="411480"/>
          </a:xfrm>
          <a:prstGeom prst="rect">
            <a:avLst/>
          </a:prstGeom>
          <a:noFill/>
          <a:ln/>
        </p:spPr>
        <p:txBody>
          <a:bodyPr wrap="square" lIns="0" tIns="0" rIns="0" bIns="0" rtlCol="0" anchor="t"/>
          <a:lstStyle/>
          <a:p>
            <a:pPr indent="0" marL="0">
              <a:buNone/>
            </a:pPr>
            <a:r>
              <a:rPr lang="en-GB" altLang="en-US" sz="2600" dirty="0">
                <a:solidFill>
                  <a:schemeClr val="accent4"/>
                </a:solidFill>
              </a:rPr>
              <a:t>55.8M</a:t>
            </a:r>
            <a:endParaRPr lang="en-GB" sz="2600" dirty="0"/>
          </a:p>
        </p:txBody>
      </p:sp>
      <p:sp>
        <p:nvSpPr>
          <p:cNvPr id="14" name="Text 7"/>
          <p:cNvSpPr txBox="1"/>
          <p:nvPr/>
        </p:nvSpPr>
        <p:spPr>
          <a:xfrm>
            <a:off x="548640" y="5733288"/>
            <a:ext cx="4929872" cy="347472"/>
          </a:xfrm>
          <a:prstGeom prst="rect">
            <a:avLst/>
          </a:prstGeom>
          <a:noFill/>
          <a:ln/>
        </p:spPr>
        <p:txBody>
          <a:bodyPr wrap="square" lIns="0" tIns="0" rIns="0" bIns="0" rtlCol="0" anchor="t"/>
          <a:lstStyle/>
          <a:p>
            <a:pPr indent="0" marL="0">
              <a:buNone/>
            </a:pPr>
            <a:r>
              <a:rPr lang="en-GB" altLang="en-US" sz="1050" dirty="0">
                <a:solidFill>
                  <a:schemeClr val="accent5"/>
                </a:solidFill>
              </a:rPr>
              <a:t>Instagram views on one reel. IShowSpeed in Côte d’Ivoire.</a:t>
            </a:r>
            <a:endParaRPr lang="en-GB" sz="1050" dirty="0"/>
          </a:p>
        </p:txBody>
      </p:sp>
      <p:pic>
        <p:nvPicPr>
          <p:cNvPr id="15" name="Photo speed_ma" descr="IShowSpeed in Morocco for the AFCON 2025 Final">    </p:cNvPr>
          <p:cNvPicPr>
            <a:picLocks noChangeAspect="1"/>
          </p:cNvPicPr>
          <p:nvPr/>
        </p:nvPicPr>
        <p:blipFill>
          <a:blip r:embed="rId5"/>
          <a:stretch>
            <a:fillRect/>
          </a:stretch>
        </p:blipFill>
        <p:spPr>
          <a:xfrm>
            <a:off x="6044279" y="1783080"/>
            <a:ext cx="2289810" cy="3429000"/>
          </a:xfrm>
          <a:prstGeom prst="rect">
            <a:avLst/>
          </a:prstGeom>
        </p:spPr>
      </p:pic>
      <p:sp>
        <p:nvSpPr>
          <p:cNvPr id="16" name="Shape 8"/>
          <p:cNvSpPr/>
          <p:nvPr/>
        </p:nvSpPr>
        <p:spPr>
          <a:xfrm>
            <a:off x="6154007" y="4809744"/>
            <a:ext cx="1664208" cy="292608"/>
          </a:xfrm>
          <a:prstGeom prst="roundRect">
            <a:avLst>
              <a:gd name="adj" fmla="val 18750"/>
            </a:avLst>
          </a:prstGeom>
          <a:solidFill>
            <a:schemeClr val="tx1">
              <a:alpha val="70000"/>
            </a:schemeClr>
          </a:solidFill>
          <a:ln/>
        </p:spPr>
      </p:sp>
      <p:sp>
        <p:nvSpPr>
          <p:cNvPr id="17" name="Text 9"/>
          <p:cNvSpPr txBox="1"/>
          <p:nvPr/>
        </p:nvSpPr>
        <p:spPr>
          <a:xfrm>
            <a:off x="6154007" y="4809744"/>
            <a:ext cx="1664208"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 AFCON Final</a:t>
            </a:r>
            <a:endParaRPr lang="en-GB" sz="1000" dirty="0"/>
          </a:p>
        </p:txBody>
      </p:sp>
      <p:sp>
        <p:nvSpPr>
          <p:cNvPr id="18" name="Text 10"/>
          <p:cNvSpPr txBox="1"/>
          <p:nvPr/>
        </p:nvSpPr>
        <p:spPr>
          <a:xfrm>
            <a:off x="6044279" y="5321808"/>
            <a:ext cx="2289810" cy="411480"/>
          </a:xfrm>
          <a:prstGeom prst="rect">
            <a:avLst/>
          </a:prstGeom>
          <a:noFill/>
          <a:ln/>
        </p:spPr>
        <p:txBody>
          <a:bodyPr wrap="square" lIns="0" tIns="0" rIns="0" bIns="0" rtlCol="0" anchor="t"/>
          <a:lstStyle/>
          <a:p>
            <a:pPr indent="0" marL="0">
              <a:buNone/>
            </a:pPr>
            <a:r>
              <a:rPr lang="en-GB" altLang="en-US" sz="2600" dirty="0">
                <a:solidFill>
                  <a:schemeClr val="accent4"/>
                </a:solidFill>
              </a:rPr>
              <a:t>16M</a:t>
            </a:r>
            <a:endParaRPr lang="en-GB" sz="2600" dirty="0"/>
          </a:p>
        </p:txBody>
      </p:sp>
      <p:sp>
        <p:nvSpPr>
          <p:cNvPr id="19" name="Text 11"/>
          <p:cNvSpPr txBox="1"/>
          <p:nvPr/>
        </p:nvSpPr>
        <p:spPr>
          <a:xfrm>
            <a:off x="6044279" y="5733288"/>
            <a:ext cx="2289810" cy="347472"/>
          </a:xfrm>
          <a:prstGeom prst="rect">
            <a:avLst/>
          </a:prstGeom>
          <a:noFill/>
          <a:ln/>
        </p:spPr>
        <p:txBody>
          <a:bodyPr wrap="square" lIns="0" tIns="0" rIns="0" bIns="0" rtlCol="0" anchor="t"/>
          <a:lstStyle/>
          <a:p>
            <a:pPr indent="0" marL="0">
              <a:buNone/>
            </a:pPr>
            <a:r>
              <a:rPr lang="en-GB" altLang="en-US" sz="1050" dirty="0">
                <a:solidFill>
                  <a:schemeClr val="accent5"/>
                </a:solidFill>
              </a:rPr>
              <a:t>Live stream views of the AFCON mascot reveal.</a:t>
            </a:r>
            <a:endParaRPr lang="en-GB" sz="1050" dirty="0"/>
          </a:p>
        </p:txBody>
      </p:sp>
      <p:pic>
        <p:nvPicPr>
          <p:cNvPr id="20" name="Photo ashton" descr="Ashton Hall Africa Tour, Nigeria leg">    </p:cNvPr>
          <p:cNvPicPr>
            <a:picLocks noChangeAspect="1"/>
          </p:cNvPicPr>
          <p:nvPr/>
        </p:nvPicPr>
        <p:blipFill>
          <a:blip r:embed="rId6"/>
          <a:stretch>
            <a:fillRect/>
          </a:stretch>
        </p:blipFill>
        <p:spPr>
          <a:xfrm>
            <a:off x="8899855" y="1783080"/>
            <a:ext cx="2743200" cy="3429000"/>
          </a:xfrm>
          <a:prstGeom prst="rect">
            <a:avLst/>
          </a:prstGeom>
        </p:spPr>
      </p:pic>
      <p:sp>
        <p:nvSpPr>
          <p:cNvPr id="21" name="Shape 12"/>
          <p:cNvSpPr/>
          <p:nvPr/>
        </p:nvSpPr>
        <p:spPr>
          <a:xfrm>
            <a:off x="9009583" y="4809744"/>
            <a:ext cx="662940" cy="292608"/>
          </a:xfrm>
          <a:prstGeom prst="roundRect">
            <a:avLst>
              <a:gd name="adj" fmla="val 18750"/>
            </a:avLst>
          </a:prstGeom>
          <a:solidFill>
            <a:schemeClr val="tx1">
              <a:alpha val="70000"/>
            </a:schemeClr>
          </a:solidFill>
          <a:ln/>
        </p:spPr>
      </p:sp>
      <p:sp>
        <p:nvSpPr>
          <p:cNvPr id="22" name="Text 13"/>
          <p:cNvSpPr txBox="1"/>
          <p:nvPr/>
        </p:nvSpPr>
        <p:spPr>
          <a:xfrm>
            <a:off x="9009583" y="48097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8899855" y="5321808"/>
            <a:ext cx="2743200" cy="411480"/>
          </a:xfrm>
          <a:prstGeom prst="rect">
            <a:avLst/>
          </a:prstGeom>
          <a:noFill/>
          <a:ln/>
        </p:spPr>
        <p:txBody>
          <a:bodyPr wrap="square" lIns="0" tIns="0" rIns="0" bIns="0" rtlCol="0" anchor="t"/>
          <a:lstStyle/>
          <a:p>
            <a:pPr indent="0" marL="0">
              <a:buNone/>
            </a:pPr>
            <a:r>
              <a:rPr lang="en-GB" altLang="en-US" sz="2600" dirty="0">
                <a:solidFill>
                  <a:schemeClr val="accent4"/>
                </a:solidFill>
              </a:rPr>
              <a:t>1.57B</a:t>
            </a:r>
            <a:endParaRPr lang="en-GB" sz="2600" dirty="0"/>
          </a:p>
        </p:txBody>
      </p:sp>
      <p:sp>
        <p:nvSpPr>
          <p:cNvPr id="24" name="Text 15"/>
          <p:cNvSpPr txBox="1"/>
          <p:nvPr/>
        </p:nvSpPr>
        <p:spPr>
          <a:xfrm>
            <a:off x="8899855" y="5733288"/>
            <a:ext cx="2743200" cy="347472"/>
          </a:xfrm>
          <a:prstGeom prst="rect">
            <a:avLst/>
          </a:prstGeom>
          <a:noFill/>
          <a:ln/>
        </p:spPr>
        <p:txBody>
          <a:bodyPr wrap="square" lIns="0" tIns="0" rIns="0" bIns="0" rtlCol="0" anchor="t"/>
          <a:lstStyle/>
          <a:p>
            <a:pPr indent="0" marL="0">
              <a:buNone/>
            </a:pPr>
            <a:r>
              <a:rPr lang="en-GB" altLang="en-US" sz="1050" dirty="0">
                <a:solidFill>
                  <a:schemeClr val="accent5"/>
                </a:solidFill>
              </a:rPr>
              <a:t>Tour views across five countries, managed end to end.</a:t>
            </a:r>
            <a:endParaRPr lang="en-GB" sz="1050" dirty="0"/>
          </a:p>
        </p:txBody>
      </p:sp>
      <p:sp>
        <p:nvSpPr>
          <p:cNvPr id="25" name="Text 16"/>
          <p:cNvSpPr txBox="1"/>
          <p:nvPr/>
        </p:nvSpPr>
        <p:spPr>
          <a:xfrm>
            <a:off x="548640" y="6144768"/>
            <a:ext cx="11094415" cy="201168"/>
          </a:xfrm>
          <a:prstGeom prst="rect">
            <a:avLst/>
          </a:prstGeom>
          <a:noFill/>
          <a:ln/>
        </p:spPr>
        <p:txBody>
          <a:bodyPr wrap="square" lIns="0" tIns="0" rIns="0" bIns="0" rtlCol="0" anchor="t"/>
          <a:lstStyle/>
          <a:p>
            <a:pPr indent="0" marL="0">
              <a:buNone/>
            </a:pPr>
            <a:r>
              <a:rPr lang="en-GB" altLang="en-US" sz="900" dirty="0">
                <a:solidFill>
                  <a:schemeClr val="accent5"/>
                </a:solidFill>
              </a:rPr>
              <a:t>Sources: Instagram and YouTube analytics, tour figures supplied by the client.</a:t>
            </a:r>
            <a:endParaRPr lang="en-GB"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APPENDIX  ·  SAMPLE REPORT, PAGE 2</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The detailed breakdown</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1094415" cy="4434840"/>
          </a:xfrm>
          <a:prstGeom prst="roundRect">
            <a:avLst>
              <a:gd name="adj" fmla="val 1649"/>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Text 4"/>
          <p:cNvSpPr txBox="1"/>
          <p:nvPr/>
        </p:nvSpPr>
        <p:spPr>
          <a:xfrm>
            <a:off x="822960" y="1984248"/>
            <a:ext cx="36576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  ·  PAGE 2</a:t>
            </a:r>
            <a:endParaRPr lang="en-GB" sz="900" dirty="0"/>
          </a:p>
        </p:txBody>
      </p:sp>
      <p:sp>
        <p:nvSpPr>
          <p:cNvPr id="10" name="Text 5"/>
          <p:cNvSpPr txBox="1"/>
          <p:nvPr/>
        </p:nvSpPr>
        <p:spPr>
          <a:xfrm>
            <a:off x="822960" y="2185416"/>
            <a:ext cx="54864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11" name="Image 2" descr="Mother Africa Festival">    </p:cNvPr>
          <p:cNvPicPr>
            <a:picLocks noChangeAspect="1"/>
          </p:cNvPicPr>
          <p:nvPr/>
        </p:nvPicPr>
        <p:blipFill>
          <a:blip r:embed="rId3"/>
          <a:stretch>
            <a:fillRect/>
          </a:stretch>
        </p:blipFill>
        <p:spPr>
          <a:xfrm>
            <a:off x="10865815" y="1984248"/>
            <a:ext cx="541249" cy="384048"/>
          </a:xfrm>
          <a:prstGeom prst="rect">
            <a:avLst/>
          </a:prstGeom>
        </p:spPr>
      </p:pic>
      <p:sp>
        <p:nvSpPr>
          <p:cNvPr id="12" name="Shape 6"/>
          <p:cNvSpPr/>
          <p:nvPr/>
        </p:nvSpPr>
        <p:spPr>
          <a:xfrm>
            <a:off x="822960" y="2624328"/>
            <a:ext cx="10545775" cy="0"/>
          </a:xfrm>
          <a:prstGeom prst="line">
            <a:avLst/>
          </a:prstGeom>
          <a:noFill/>
          <a:ln w="12700">
            <a:solidFill>
              <a:schemeClr val="accent1"/>
            </a:solidFill>
            <a:prstDash val="solid"/>
          </a:ln>
        </p:spPr>
      </p:sp>
      <p:sp>
        <p:nvSpPr>
          <p:cNvPr id="13" name="Text 7"/>
          <p:cNvSpPr txBox="1"/>
          <p:nvPr/>
        </p:nvSpPr>
        <p:spPr>
          <a:xfrm>
            <a:off x="822960" y="27706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CREATOR</a:t>
            </a:r>
            <a:endParaRPr lang="en-GB" sz="1100" dirty="0"/>
          </a:p>
        </p:txBody>
      </p:sp>
      <p:graphicFrame>
        <p:nvGraphicFramePr>
          <p:cNvPr id="13" name="Sample table by creator"/>
          <p:cNvGraphicFramePr>
            <a:graphicFrameLocks noGrp="1"/>
          </p:cNvGraphicFramePr>
          <p:nvPr>
            <p:extLst>
              <p:ext uri="{D42A27DB-BD31-4B8C-83A1-F6EECF244321}">
                <p14:modId xmlns:p14="http://schemas.microsoft.com/office/powerpoint/2010/main" val="1579011935"/>
              </p:ext>
            </p:extLst>
          </p:nvPr>
        </p:nvGraphicFramePr>
        <p:xfrm>
          <a:off x="822960" y="3026664"/>
          <a:ext cx="6126480" cy="914400"/>
        </p:xfrm>
        <a:graphic>
          <a:graphicData uri="http://schemas.openxmlformats.org/drawingml/2006/table">
            <a:tbl>
              <a:tblPr/>
              <a:tblGrid>
                <a:gridCol w="1828800"/>
                <a:gridCol w="731520"/>
                <a:gridCol w="1188720"/>
                <a:gridCol w="1188720"/>
                <a:gridCol w="1188720"/>
              </a:tblGrid>
              <a:tr h="274320">
                <a:tc>
                  <a:txBody>
                    <a:bodyPr/>
                    <a:lstStyle/>
                    <a:p>
                      <a:pPr indent="0" marL="0">
                        <a:buNone/>
                      </a:pPr>
                      <a:r>
                        <a:rPr lang="en-US" sz="1000" b="1" dirty="0">
                          <a:solidFill>
                            <a:schemeClr val="bg1"/>
                          </a:solidFill>
                        </a:rPr>
                        <a:t>Creator</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Posts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Views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Interactions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Ticket clicks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Creator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820,000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48,500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1,650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455,000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39,200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1,240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D</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380,000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27,800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980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290,000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22,100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13 other creators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645,000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51,400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2,700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Total</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3,200,000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250,000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15" name="Text 8"/>
          <p:cNvSpPr txBox="1"/>
          <p:nvPr/>
        </p:nvSpPr>
        <p:spPr>
          <a:xfrm>
            <a:off x="822960" y="5550408"/>
            <a:ext cx="6309360" cy="237744"/>
          </a:xfrm>
          <a:prstGeom prst="rect">
            <a:avLst/>
          </a:prstGeom>
          <a:noFill/>
          <a:ln/>
        </p:spPr>
        <p:txBody>
          <a:bodyPr wrap="square" lIns="0" tIns="0" rIns="0" bIns="0" rtlCol="0" anchor="t"/>
          <a:lstStyle/>
          <a:p>
            <a:pPr indent="0" marL="0">
              <a:buNone/>
            </a:pPr>
            <a:r>
              <a:rPr lang="en-GB" altLang="en-US" sz="1000" dirty="0">
                <a:solidFill>
                  <a:schemeClr val="tx2"/>
                </a:solidFill>
              </a:rPr>
              <a:t>Also in the full report: every post with its link, platform and time, and recommendations for the next edition.</a:t>
            </a:r>
            <a:endParaRPr lang="en-GB" sz="1000" dirty="0"/>
          </a:p>
        </p:txBody>
      </p:sp>
      <p:sp>
        <p:nvSpPr>
          <p:cNvPr id="16" name="Text 9"/>
          <p:cNvSpPr txBox="1"/>
          <p:nvPr/>
        </p:nvSpPr>
        <p:spPr>
          <a:xfrm>
            <a:off x="7269480" y="2770632"/>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AUDIENCE</a:t>
            </a:r>
            <a:endParaRPr lang="en-GB" sz="1100" dirty="0"/>
          </a:p>
        </p:txBody>
      </p:sp>
      <p:sp>
        <p:nvSpPr>
          <p:cNvPr id="17" name="Text 10"/>
          <p:cNvSpPr txBox="1"/>
          <p:nvPr/>
        </p:nvSpPr>
        <p:spPr>
          <a:xfrm>
            <a:off x="7269480" y="3063240"/>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Côte d’Ivoire</a:t>
            </a:r>
            <a:endParaRPr lang="en-GB" sz="1000" dirty="0"/>
          </a:p>
        </p:txBody>
      </p:sp>
      <p:sp>
        <p:nvSpPr>
          <p:cNvPr id="18" name="Shape 11"/>
          <p:cNvSpPr/>
          <p:nvPr/>
        </p:nvSpPr>
        <p:spPr>
          <a:xfrm>
            <a:off x="8732520" y="3099816"/>
            <a:ext cx="1737360" cy="146304"/>
          </a:xfrm>
          <a:prstGeom prst="roundRect">
            <a:avLst>
              <a:gd name="adj" fmla="val 18750"/>
            </a:avLst>
          </a:prstGeom>
          <a:solidFill>
            <a:schemeClr val="accent2"/>
          </a:solidFill>
          <a:ln/>
        </p:spPr>
      </p:sp>
      <p:sp>
        <p:nvSpPr>
          <p:cNvPr id="19" name="Text 12"/>
          <p:cNvSpPr txBox="1"/>
          <p:nvPr/>
        </p:nvSpPr>
        <p:spPr>
          <a:xfrm>
            <a:off x="10561320" y="3063240"/>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58%</a:t>
            </a:r>
            <a:endParaRPr lang="en-GB" sz="1000" dirty="0"/>
          </a:p>
        </p:txBody>
      </p:sp>
      <p:sp>
        <p:nvSpPr>
          <p:cNvPr id="20" name="Text 13"/>
          <p:cNvSpPr txBox="1"/>
          <p:nvPr/>
        </p:nvSpPr>
        <p:spPr>
          <a:xfrm>
            <a:off x="7269480" y="3374136"/>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Diaspora abroad</a:t>
            </a:r>
            <a:endParaRPr lang="en-GB" sz="1000" dirty="0"/>
          </a:p>
        </p:txBody>
      </p:sp>
      <p:sp>
        <p:nvSpPr>
          <p:cNvPr id="21" name="Shape 14"/>
          <p:cNvSpPr/>
          <p:nvPr/>
        </p:nvSpPr>
        <p:spPr>
          <a:xfrm>
            <a:off x="8732520" y="3410712"/>
            <a:ext cx="718908" cy="146304"/>
          </a:xfrm>
          <a:prstGeom prst="roundRect">
            <a:avLst>
              <a:gd name="adj" fmla="val 18750"/>
            </a:avLst>
          </a:prstGeom>
          <a:solidFill>
            <a:schemeClr val="accent1"/>
          </a:solidFill>
          <a:ln/>
        </p:spPr>
      </p:sp>
      <p:sp>
        <p:nvSpPr>
          <p:cNvPr id="22" name="Text 15"/>
          <p:cNvSpPr txBox="1"/>
          <p:nvPr/>
        </p:nvSpPr>
        <p:spPr>
          <a:xfrm>
            <a:off x="9542868" y="3374136"/>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24%</a:t>
            </a:r>
            <a:endParaRPr lang="en-GB" sz="1000" dirty="0"/>
          </a:p>
        </p:txBody>
      </p:sp>
      <p:sp>
        <p:nvSpPr>
          <p:cNvPr id="23" name="Text 16"/>
          <p:cNvSpPr txBox="1"/>
          <p:nvPr/>
        </p:nvSpPr>
        <p:spPr>
          <a:xfrm>
            <a:off x="7269480" y="3685032"/>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Rest of Africa</a:t>
            </a:r>
            <a:endParaRPr lang="en-GB" sz="1000" dirty="0"/>
          </a:p>
        </p:txBody>
      </p:sp>
      <p:sp>
        <p:nvSpPr>
          <p:cNvPr id="24" name="Shape 17"/>
          <p:cNvSpPr/>
          <p:nvPr/>
        </p:nvSpPr>
        <p:spPr>
          <a:xfrm>
            <a:off x="8732520" y="3721608"/>
            <a:ext cx="539181" cy="146304"/>
          </a:xfrm>
          <a:prstGeom prst="roundRect">
            <a:avLst>
              <a:gd name="adj" fmla="val 18750"/>
            </a:avLst>
          </a:prstGeom>
          <a:solidFill>
            <a:schemeClr val="accent1"/>
          </a:solidFill>
          <a:ln/>
        </p:spPr>
      </p:sp>
      <p:sp>
        <p:nvSpPr>
          <p:cNvPr id="25" name="Text 18"/>
          <p:cNvSpPr txBox="1"/>
          <p:nvPr/>
        </p:nvSpPr>
        <p:spPr>
          <a:xfrm>
            <a:off x="9363141" y="368503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18%</a:t>
            </a:r>
            <a:endParaRPr lang="en-GB" sz="1000" dirty="0"/>
          </a:p>
        </p:txBody>
      </p:sp>
      <p:sp>
        <p:nvSpPr>
          <p:cNvPr id="26" name="Text 19"/>
          <p:cNvSpPr txBox="1"/>
          <p:nvPr/>
        </p:nvSpPr>
        <p:spPr>
          <a:xfrm>
            <a:off x="7269480" y="40690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SPONSOR VALUE</a:t>
            </a:r>
            <a:endParaRPr lang="en-GB" sz="1100" dirty="0"/>
          </a:p>
        </p:txBody>
      </p:sp>
      <p:graphicFrame>
        <p:nvGraphicFramePr>
          <p:cNvPr id="25" name="Sample table by sponsor"/>
          <p:cNvGraphicFramePr>
            <a:graphicFrameLocks noGrp="1"/>
          </p:cNvGraphicFramePr>
          <p:nvPr>
            <p:extLst>
              <p:ext uri="{D42A27DB-BD31-4B8C-83A1-F6EECF244321}">
                <p14:modId xmlns:p14="http://schemas.microsoft.com/office/powerpoint/2010/main" val="1579011935"/>
              </p:ext>
            </p:extLst>
          </p:nvPr>
        </p:nvGraphicFramePr>
        <p:xfrm>
          <a:off x="7269480" y="4343400"/>
          <a:ext cx="4099255" cy="914400"/>
        </p:xfrm>
        <a:graphic>
          <a:graphicData uri="http://schemas.openxmlformats.org/drawingml/2006/table">
            <a:tbl>
              <a:tblPr/>
              <a:tblGrid>
                <a:gridCol w="822960"/>
                <a:gridCol w="914400"/>
                <a:gridCol w="914400"/>
                <a:gridCol w="1447495"/>
              </a:tblGrid>
              <a:tr h="274320">
                <a:tc>
                  <a:txBody>
                    <a:bodyPr/>
                    <a:lstStyle/>
                    <a:p>
                      <a:pPr indent="0" marL="0">
                        <a:buNone/>
                      </a:pPr>
                      <a:r>
                        <a:rPr lang="en-US" sz="1000" b="1" dirty="0">
                          <a:solidFill>
                            <a:schemeClr val="bg1"/>
                          </a:solidFill>
                        </a:rPr>
                        <a:t>Partner</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Moments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Screen time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Media value, estimated</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Partner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 min 10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18.5M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Partner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31</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 min 25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12.7M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Partner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 min 40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28" name="Text 20"/>
          <p:cNvSpPr txBox="1"/>
          <p:nvPr/>
        </p:nvSpPr>
        <p:spPr>
          <a:xfrm>
            <a:off x="822960" y="5879592"/>
            <a:ext cx="3657600" cy="219456"/>
          </a:xfrm>
          <a:prstGeom prst="rect">
            <a:avLst/>
          </a:prstGeom>
          <a:noFill/>
          <a:ln/>
        </p:spPr>
        <p:txBody>
          <a:bodyPr wrap="square" lIns="0" tIns="0" rIns="0" bIns="0" rtlCol="0" anchor="t"/>
          <a:lstStyle/>
          <a:p>
            <a:pPr indent="0" marL="0">
              <a:buNone/>
            </a:pPr>
            <a:r>
              <a:rPr lang="en-GB" altLang="en-US" sz="1000" b="1" i="1" dirty="0">
                <a:solidFill>
                  <a:schemeClr val="accent3"/>
                </a:solidFill>
              </a:rPr>
              <a:t>Sample layout. Figures are illustrative.</a:t>
            </a:r>
            <a:endParaRPr lang="en-GB" sz="1000" dirty="0"/>
          </a:p>
        </p:txBody>
      </p:sp>
      <p:sp>
        <p:nvSpPr>
          <p:cNvPr id="29" name="Text 21"/>
          <p:cNvSpPr txBox="1"/>
          <p:nvPr/>
        </p:nvSpPr>
        <p:spPr>
          <a:xfrm>
            <a:off x="9539935" y="5879592"/>
            <a:ext cx="1828800" cy="219456"/>
          </a:xfrm>
          <a:prstGeom prst="rect">
            <a:avLst/>
          </a:prstGeom>
          <a:noFill/>
          <a:ln/>
        </p:spPr>
        <p:txBody>
          <a:bodyPr wrap="square" lIns="0" tIns="0" rIns="0" bIns="0" rtlCol="0" anchor="t"/>
          <a:lstStyle/>
          <a:p>
            <a:pPr algn="r" indent="0" marL="0">
              <a:buNone/>
            </a:pPr>
            <a:r>
              <a:rPr lang="en-GB" altLang="en-US" sz="1000" b="1" u="sng" dirty="0">
                <a:solidFill>
                  <a:schemeClr val="accent3"/>
                </a:solidFill>
                <a:hlinkClick r:id="rId4" action="ppaction://hlinksldjump" tooltip="Reports on fixed dates">
                  <a:extLst>
                    <a:ext uri="{A12FA001-AC4F-418D-AE19-62706E023703}">
                      <ahyp:hlinkClr xmlns:ahyp="http://schemas.microsoft.com/office/drawing/2018/hyperlinkcolor" val="tx"/>
                    </a:ext>
                  </a:extLst>
                </a:hlinkClick>
              </a:rPr>
              <a:t>←  Back to page 1</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2026-10-30T11:49:31Z</dcterms:created>
  <dcterms:modified xsi:type="dcterms:W3CDTF">2026-10-30T11:49:31Z</dcterms:modified>
</cp:coreProperties>
</file>